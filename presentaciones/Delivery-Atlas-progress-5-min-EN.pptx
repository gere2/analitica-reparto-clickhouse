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b441abdfc854cec" /><Relationship Type="http://schemas.openxmlformats.org/officeDocument/2006/relationships/extended-properties" Target="/docProps/app.xml" Id="Re5260812de03429d" /><Relationship Type="http://schemas.openxmlformats.org/officeDocument/2006/relationships/officeDocument" Target="/ppt/presentation.xml" Id="R071b806008704592" /></Relationships>
</file>

<file path=ppt/presentation.xml><?xml version="1.0" encoding="utf-8"?>
<p:presentation xmlns:p="http://schemas.openxmlformats.org/presentationml/2006/main">
  <p:sldMasterIdLst>
    <p:sldMasterId xmlns:r="http://schemas.openxmlformats.org/officeDocument/2006/relationships" id="2147483648" r:id="Rf99bfd41b93b4f6b"/>
  </p:sldMasterIdLst>
  <p:notesMasterIdLst>
    <p:notesMasterId xmlns:r="http://schemas.openxmlformats.org/officeDocument/2006/relationships" r:id="R19ed321b1f924e87"/>
  </p:notesMasterIdLst>
  <p:sldIdLst>
    <p:sldId xmlns:r="http://schemas.openxmlformats.org/officeDocument/2006/relationships" id="256" r:id="Rf8a4d6b97a43474c"/>
    <p:sldId xmlns:r="http://schemas.openxmlformats.org/officeDocument/2006/relationships" id="257" r:id="R33c9cf139ec8468c"/>
    <p:sldId xmlns:r="http://schemas.openxmlformats.org/officeDocument/2006/relationships" id="258" r:id="R036b6ce43dc440c3"/>
    <p:sldId xmlns:r="http://schemas.openxmlformats.org/officeDocument/2006/relationships" id="259" r:id="Rb57293d0789546be"/>
    <p:sldId xmlns:r="http://schemas.openxmlformats.org/officeDocument/2006/relationships" id="260" r:id="R0ac66837e59a4764"/>
    <p:sldId xmlns:r="http://schemas.openxmlformats.org/officeDocument/2006/relationships" id="261" r:id="R14a20d8c87f6412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a3572c9187145a8" /><Relationship Type="http://schemas.openxmlformats.org/officeDocument/2006/relationships/slideMaster" Target="/ppt/slideMasters/slideMaster1.xml" Id="Rf99bfd41b93b4f6b" /><Relationship Type="http://schemas.openxmlformats.org/officeDocument/2006/relationships/notesMaster" Target="/ppt/notesMasters/notesMaster1.xml" Id="R19ed321b1f924e87" /><Relationship Type="http://schemas.openxmlformats.org/officeDocument/2006/relationships/presProps" Target="/ppt/presProps.xml" Id="R03036ae576a44abe" /><Relationship Type="http://schemas.openxmlformats.org/officeDocument/2006/relationships/tableStyles" Target="/ppt/tableStyles.xml" Id="R2d3370644ee745ae" /><Relationship Type="http://schemas.openxmlformats.org/officeDocument/2006/relationships/slide" Target="/ppt/slides/slide1.xml" Id="Rf8a4d6b97a43474c" /><Relationship Type="http://schemas.openxmlformats.org/officeDocument/2006/relationships/slide" Target="/ppt/slides/slide2.xml" Id="R33c9cf139ec8468c" /><Relationship Type="http://schemas.openxmlformats.org/officeDocument/2006/relationships/slide" Target="/ppt/slides/slide3.xml" Id="R036b6ce43dc440c3" /><Relationship Type="http://schemas.openxmlformats.org/officeDocument/2006/relationships/slide" Target="/ppt/slides/slide4.xml" Id="Rb57293d0789546be" /><Relationship Type="http://schemas.openxmlformats.org/officeDocument/2006/relationships/slide" Target="/ppt/slides/slide5.xml" Id="R0ac66837e59a4764" /><Relationship Type="http://schemas.openxmlformats.org/officeDocument/2006/relationships/slide" Target="/ppt/slides/slide6.xml" Id="R14a20d8c87f6412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182e2ddc5c46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8512fbec064cae" /><Relationship Type="http://schemas.openxmlformats.org/officeDocument/2006/relationships/notesMaster" Target="/ppt/notesMasters/notesMaster1.xml" Id="R622a287ed1e04b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1ac3bf789d4adc" /><Relationship Type="http://schemas.openxmlformats.org/officeDocument/2006/relationships/notesMaster" Target="/ppt/notesMasters/notesMaster1.xml" Id="Re0aad3956f4940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70801a0a85014618" /><Relationship Type="http://schemas.openxmlformats.org/officeDocument/2006/relationships/notesMaster" Target="/ppt/notesMasters/notesMaster1.xml" Id="Rab76eb6c44f44a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673d37cd84344dbe" /><Relationship Type="http://schemas.openxmlformats.org/officeDocument/2006/relationships/notesMaster" Target="/ppt/notesMasters/notesMaster1.xml" Id="Rfac1c96be73542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2b6643535a84fb5" /><Relationship Type="http://schemas.openxmlformats.org/officeDocument/2006/relationships/notesMaster" Target="/ppt/notesMasters/notesMaster1.xml" Id="R2aa9180f2dbe42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a70d9a51ab4d89" /><Relationship Type="http://schemas.openxmlformats.org/officeDocument/2006/relationships/notesMaster" Target="/ppt/notesMasters/notesMaster1.xml" Id="R5a4d0a20969242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are building the analytics infrastructure for a fictional food delivery platform. It will store navigation events and display activity in a dashboard. Our current lab contains 628 million public events from OTTO and REES46, representing separate sources. Ele.me adds food recommendation samples, and Glovo provides a catalogue. The delivery mini app and its shared event contract are still pending. The cover is a conceptual illustration generated with AI.</a:t>
            </a:r>
          </a:p>
          <a:p xmlns:a="http://schemas.openxmlformats.org/drawingml/2006/main">
            <a:r>
              <a:t/>
            </a:r>
          </a:p>
          <a:p xmlns:a="http://schemas.openxmlformats.org/drawingml/2006/main">
            <a:r>
              <a:t>Planned time: 30 seconds.</a:t>
            </a:r>
          </a:p>
          <a:p xmlns:a="http://schemas.openxmlformats.org/drawingml/2006/main">
            <a:r>
              <a:t/>
            </a:r>
          </a:p>
          <a:p xmlns:a="http://schemas.openxmlformats.org/drawingml/2006/main">
            <a:r>
              <a:t>Sources:</a:t>
            </a:r>
          </a:p>
          <a:p xmlns:a="http://schemas.openxmlformats.org/drawingml/2006/main">
            <a:r>
              <a:t>docs/PLATAFORMA-FICTICIA.md</a:t>
            </a:r>
          </a:p>
          <a:p xmlns:a="http://schemas.openxmlformats.org/drawingml/2006/main">
            <a:r>
              <a:t>docs/ESTADO-EQUIPO.md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structure follows the frontend, backend and data layers in the course notes. Scripts load batches, and the Python API queries ClickHouse over HTTP. OTTO stores one row per event. Ele.me stores labelled recommendation samples and uses staging to validate complete files before publication. We keep sources separate. A materialized view feeds the OTTO daily rollup. Docker provides persistent storage and a health check. The API currently runs on the host, and the database has one node. Replay preserves the historical timestamp and records when each event enters the demo.</a:t>
            </a:r>
          </a:p>
          <a:p xmlns:a="http://schemas.openxmlformats.org/drawingml/2006/main">
            <a:r>
              <a:t/>
            </a:r>
          </a:p>
          <a:p xmlns:a="http://schemas.openxmlformats.org/drawingml/2006/main">
            <a:r>
              <a:t>Planned time: 45 seconds.</a:t>
            </a:r>
          </a:p>
          <a:p xmlns:a="http://schemas.openxmlformats.org/drawingml/2006/main">
            <a:r>
              <a:t/>
            </a:r>
          </a:p>
          <a:p xmlns:a="http://schemas.openxmlformats.org/drawingml/2006/main">
            <a:r>
              <a:t>Sources:</a:t>
            </a:r>
          </a:p>
          <a:p xmlns:a="http://schemas.openxmlformats.org/drawingml/2006/main">
            <a:r>
              <a:t>recursos/01_1_Components.md</a:t>
            </a:r>
          </a:p>
          <a:p xmlns:a="http://schemas.openxmlformats.org/drawingml/2006/main">
            <a:r>
              <a:t>recursos/01_3_Docker.md</a:t>
            </a:r>
          </a:p>
          <a:p xmlns:a="http://schemas.openxmlformats.org/drawingml/2006/main">
            <a:r>
              <a:t>sql/schema.sql</a:t>
            </a:r>
          </a:p>
          <a:p xmlns:a="http://schemas.openxmlformats.org/drawingml/2006/main">
            <a:r>
              <a:t>sql/eleme.sql</a:t>
            </a:r>
          </a:p>
          <a:p xmlns:a="http://schemas.openxmlformats.org/drawingml/2006/main">
            <a:r>
              <a:t>compose.yaml</a:t>
            </a:r>
          </a:p>
          <a:p xmlns:a="http://schemas.openxmlformats.org/drawingml/2006/main">
            <a:r>
              <a:t>dashboard.py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propose app_events as the central table for the fictional platform. Each event has a stable ID, session, timestamps and context. source_kind distinguishes simulated traffic, new demo actions, historical data and replay. The design follows the access patterns: filtering by source, date, city and action. MergeTree stores columns in data parts. PARTITION BY groups months within the node. ORDER BY sorts the data and supports a sparse primary index, without enforcing uniqueness. A daily rollup will count events by dimension. The proposed sorting key still needs benchmarking. Safe retries require an ingestion protocol in addition to a UUID. The DDL exists, but it is not deployed or connected to the mini app.</a:t>
            </a:r>
          </a:p>
          <a:p xmlns:a="http://schemas.openxmlformats.org/drawingml/2006/main">
            <a:r>
              <a:t/>
            </a:r>
          </a:p>
          <a:p xmlns:a="http://schemas.openxmlformats.org/drawingml/2006/main">
            <a:r>
              <a:t>Planned time: 75 seconds.</a:t>
            </a:r>
          </a:p>
          <a:p xmlns:a="http://schemas.openxmlformats.org/drawingml/2006/main">
            <a:r>
              <a:t/>
            </a:r>
          </a:p>
          <a:p xmlns:a="http://schemas.openxmlformats.org/drawingml/2006/main">
            <a:r>
              <a:t>Sources:</a:t>
            </a:r>
          </a:p>
          <a:p xmlns:a="http://schemas.openxmlformats.org/drawingml/2006/main">
            <a:r>
              <a:t>sql/propuesta_delivery.sql</a:t>
            </a:r>
          </a:p>
          <a:p xmlns:a="http://schemas.openxmlformats.org/drawingml/2006/main">
            <a:r>
              <a:t>docs/ESTRUCTURA-BD.md</a:t>
            </a:r>
          </a:p>
          <a:p xmlns:a="http://schemas.openxmlformats.org/drawingml/2006/main">
            <a:r>
              <a:t>recursos/01_4_Cross_cutting_concerns.md</a:t>
            </a:r>
          </a:p>
          <a:p xmlns:a="http://schemas.openxmlformats.org/drawingml/2006/main">
            <a:r>
              <a:t>https://clickhouse.com/docs/reference/engines/table-engines/mergetree-family/mergetree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demonstrates an advantage for our analytical workload. Grouping the historical OTTO table took 5.8908 seconds. Querying the daily rollup took 0.2113 seconds, a 27.9 times speedup. Both queries returned the same result: 87 combinations of day and event type. These are medians of three local runs with the SQL query cache disabled. A persistent rollup reduces reading and computation. SummingMergeTree can retain partial rows for the same key before merging, so the query uses sum with GROUP BY. This follows the scaling ladder in the course notes: optimize queries before adding nodes. These timings do not compare database engines or establish API capacity or latency percentiles.</a:t>
            </a:r>
          </a:p>
          <a:p xmlns:a="http://schemas.openxmlformats.org/drawingml/2006/main">
            <a:r>
              <a:t/>
            </a:r>
          </a:p>
          <a:p xmlns:a="http://schemas.openxmlformats.org/drawingml/2006/main">
            <a:r>
              <a:t>Planned time: 50 seconds.</a:t>
            </a:r>
          </a:p>
          <a:p xmlns:a="http://schemas.openxmlformats.org/drawingml/2006/main">
            <a:r>
              <a:t/>
            </a:r>
          </a:p>
          <a:p xmlns:a="http://schemas.openxmlformats.org/drawingml/2006/main">
            <a:r>
              <a:t>Sources:</a:t>
            </a:r>
          </a:p>
          <a:p xmlns:a="http://schemas.openxmlformats.org/drawingml/2006/main">
            <a:r>
              <a:t>data/query-benchmark.json</a:t>
            </a:r>
          </a:p>
          <a:p xmlns:a="http://schemas.openxmlformats.org/drawingml/2006/main">
            <a:r>
              <a:t>docs/RESULTADOS.md</a:t>
            </a:r>
          </a:p>
          <a:p xmlns:a="http://schemas.openxmlformats.org/drawingml/2006/main">
            <a:r>
              <a:t>scripts/benchmark.py</a:t>
            </a:r>
          </a:p>
          <a:p xmlns:a="http://schemas.openxmlformats.org/drawingml/2006/main">
            <a:r>
              <a:t>recursos/01_1_Components.md</a:t>
            </a:r>
          </a:p>
          <a:p xmlns:a="http://schemas.openxmlformats.org/drawingml/2006/main">
            <a:r>
              <a:t>https://clickhouse.com/docs/reference/engines/table-engines/mergetree-family/summingmergetree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course theory helps us state what we have demonstrated. A persistent volume preserves data when a container is recreated, but it does not provide high availability. Date partitions do not distribute data across machines. We currently have one node without replicas. A future replicated setup must explain its configuration and replica lag, rather than assign a single CP or AP label to ClickHouse. The click API generates IDs on the server, so a repeated POST can insert two rows. We need idempotent ingestion before counting events in the materialized view. Our benchmarks measure queries. We still need request latency, events per second and dashboard lag under load.</a:t>
            </a:r>
          </a:p>
          <a:p xmlns:a="http://schemas.openxmlformats.org/drawingml/2006/main">
            <a:r>
              <a:t/>
            </a:r>
          </a:p>
          <a:p xmlns:a="http://schemas.openxmlformats.org/drawingml/2006/main">
            <a:r>
              <a:t>Planned time: 55 seconds.</a:t>
            </a:r>
          </a:p>
          <a:p xmlns:a="http://schemas.openxmlformats.org/drawingml/2006/main">
            <a:r>
              <a:t/>
            </a:r>
          </a:p>
          <a:p xmlns:a="http://schemas.openxmlformats.org/drawingml/2006/main">
            <a:r>
              <a:t>Sources:</a:t>
            </a:r>
          </a:p>
          <a:p xmlns:a="http://schemas.openxmlformats.org/drawingml/2006/main">
            <a:r>
              <a:t>docs/REVISION-TEORIA.md</a:t>
            </a:r>
          </a:p>
          <a:p xmlns:a="http://schemas.openxmlformats.org/drawingml/2006/main">
            <a:r>
              <a:t>recursos/01_2_Concepts.md</a:t>
            </a:r>
          </a:p>
          <a:p xmlns:a="http://schemas.openxmlformats.org/drawingml/2006/main">
            <a:r>
              <a:t>recursos/01_4_Cross_cutting_concerns.md</a:t>
            </a:r>
          </a:p>
          <a:p xmlns:a="http://schemas.openxmlformats.org/drawingml/2006/main">
            <a:r>
              <a:t>dashboard.py</a:t>
            </a:r>
          </a:p>
          <a:p xmlns:a="http://schemas.openxmlformats.org/drawingml/2006/main">
            <a:r>
              <a:t>https://clickhouse.com/docs/reference/engines/table-engines/mergetree-family/replication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milestone is to connect the minimal app journey and a reproducible traffic generator to the proposed contract. Acceptance means navigating the app, ingesting its events, retrying a submission without double counting, and seeing the daily rollup in the dashboard. We will also measure lag and errors and reproduce the environment on another machine. The current lab already provides enough data volume. We will prioritize these guarantees before adding more datasets, Kafka or microservices. The dashboard is available if the lecturer would like to see the current implementation after this update.</a:t>
            </a:r>
          </a:p>
          <a:p xmlns:a="http://schemas.openxmlformats.org/drawingml/2006/main">
            <a:r>
              <a:t/>
            </a:r>
          </a:p>
          <a:p xmlns:a="http://schemas.openxmlformats.org/drawingml/2006/main">
            <a:r>
              <a:t>Planned time: 45 seconds.</a:t>
            </a:r>
          </a:p>
          <a:p xmlns:a="http://schemas.openxmlformats.org/drawingml/2006/main">
            <a:r>
              <a:t/>
            </a:r>
          </a:p>
          <a:p xmlns:a="http://schemas.openxmlformats.org/drawingml/2006/main">
            <a:r>
              <a:t>Sources:</a:t>
            </a:r>
          </a:p>
          <a:p xmlns:a="http://schemas.openxmlformats.org/drawingml/2006/main">
            <a:r>
              <a:t>docs/REVISION-TEORIA.md</a:t>
            </a:r>
          </a:p>
          <a:p xmlns:a="http://schemas.openxmlformats.org/drawingml/2006/main">
            <a:r>
              <a:t>docs/PLATAFORMA-FICTICIA.md</a:t>
            </a:r>
          </a:p>
          <a:p xmlns:a="http://schemas.openxmlformats.org/drawingml/2006/main">
            <a:r>
              <a:t>recursos/guia_bbdda.pdf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f2438c8feb04a9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6f2656bc7b545db" /><Relationship Type="http://schemas.openxmlformats.org/officeDocument/2006/relationships/slideLayout" Target="/ppt/slideLayouts/slideLayout1.xml" Id="R6b760d27e5264a1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b760d27e5264a1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2d35ac4d13c4bec" /><Relationship Type="http://schemas.openxmlformats.org/officeDocument/2006/relationships/image" Target="/ppt/media/image.png" Id="Ra2253c6040064ba4" /><Relationship Type="http://schemas.openxmlformats.org/officeDocument/2006/relationships/notesSlide" Target="/ppt/notesSlides/notesSlide1.xml" Id="Rc456dec6b53e42d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7504d97e8884a3e" /><Relationship Type="http://schemas.openxmlformats.org/officeDocument/2006/relationships/notesSlide" Target="/ppt/notesSlides/notesSlide2.xml" Id="R1c2b0f6ade054d4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83e0bdf02034a15" /><Relationship Type="http://schemas.openxmlformats.org/officeDocument/2006/relationships/notesSlide" Target="/ppt/notesSlides/notesSlide3.xml" Id="R4f94d0ec8c0a431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188be16ba3e4615" /><Relationship Type="http://schemas.openxmlformats.org/officeDocument/2006/relationships/chart" Target="/ppt/slides/charts/chart1.xml" Id="Re37a128126fd41c7" /><Relationship Type="http://schemas.openxmlformats.org/officeDocument/2006/relationships/notesSlide" Target="/ppt/notesSlides/notesSlide4.xml" Id="R28525ae660ab4fb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ff3f6e5f20b482b" /><Relationship Type="http://schemas.openxmlformats.org/officeDocument/2006/relationships/notesSlide" Target="/ppt/notesSlides/notesSlide5.xml" Id="Rd9708db723874fa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0efece396244af3" /><Relationship Type="http://schemas.openxmlformats.org/officeDocument/2006/relationships/notesSlide" Target="/ppt/notesSlides/notesSlide6.xml" Id="R05390cf50666464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55695F"/>
                </a:solidFill>
                <a:latin typeface="Helvetica Neue"/>
                <a:ea typeface="Helvetica Neue"/>
                <a:cs typeface="Helvetica Neue"/>
              </a:rPr>
              <a:t>Query time (seconds)</a:t>
            </a:r>
          </a:p>
        </c:rich>
      </c:tx>
      <c:overlay val="0"/>
      <c:txPr>
        <a:bodyPr xmlns:a="http://schemas.openxmlformats.org/drawingml/2006/main" anchorCtr="1"/>
        <a:lstStyle xmlns:a="http://schemas.openxmlformats.org/drawingml/2006/main"/>
        <a:p xmlns:a="http://schemas.openxmlformats.org/drawingml/2006/main">
          <a:pPr>
            <a:defRPr sz="1800">
              <a:solidFill>
                <a:srgbClr val="55695F"/>
              </a:solidFill>
              <a:latin typeface="Helvetica Neue"/>
              <a:ea typeface="Helvetica Neue"/>
              <a:cs typeface="Helvetica Neue"/>
            </a:defRPr>
          </a:pPr>
        </a:p>
      </c:txPr>
    </c:title>
    <c:plotArea>
      <c:barChart>
        <c:barDir val="bar"/>
        <c:grouping val="clustered"/>
        <c:varyColors val="0"/>
        <c:ser>
          <c:idx val="0"/>
          <c:order val="0"/>
          <c:tx>
            <c:v>Seconds</c:v>
          </c:tx>
          <c:spPr>
            <a:solidFill xmlns:a="http://schemas.openxmlformats.org/drawingml/2006/main">
              <a:srgbClr val="4C7D5E"/>
            </a:solidFill>
          </c:spPr>
          <c:cat>
            <c:strRef>
              <c:f>'Chart Data'!$A$2:$A$3</c:f>
              <c:strCache>
                <c:ptCount val="2"/>
                <c:pt idx="0">
                  <c:v>Historical</c:v>
                </c:pt>
                <c:pt idx="1">
                  <c:v>Rollup</c:v>
                </c:pt>
              </c:strCache>
            </c:strRef>
          </c:cat>
          <c:val>
            <c:numRef>
              <c:f>'Chart Data'!$B$2:$B$3</c:f>
              <c:numCache>
                <c:formatCode>0.00</c:formatCode>
                <c:ptCount val="2"/>
                <c:pt idx="0">
                  <c:v>5.8908</c:v>
                </c:pt>
                <c:pt idx="1">
                  <c:v>0.2113</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83D32"/>
                  </a:solidFill>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83D32"/>
                </a:solidFill>
                <a:latin typeface="Helvetica Neue"/>
                <a:ea typeface="Helvetica Neue"/>
                <a:cs typeface="Helvetica Neue"/>
              </a:defRPr>
            </a:pPr>
          </a:p>
        </c:txPr>
        <c:crossAx val="48672768"/>
      </c:catAx>
      <c:valAx>
        <c:axId val="48672768"/>
        <c:scaling>
          <c:orientation val="minMax"/>
          <c:max val="6.5"/>
          <c:min val="0"/>
        </c:scaling>
        <c:delete val="0"/>
        <c:axPos val="b"/>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5695F"/>
                </a:solidFill>
                <a:latin typeface="Helvetica Neue"/>
                <a:ea typeface="Helvetica Neue"/>
                <a:cs typeface="Helvetica Neue"/>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29CF728-C9F5-4BA4-A0D7-C7EEC330FE2F}"/>
              </a:ext>
            </a:extLst>
          </p:cNvPr>
          <p:cNvSpPr>
            <a:spLocks xmlns:a="http://schemas.openxmlformats.org/drawingml/2006/main" noGrp="1"/>
          </p:cNvSpPr>
          <p:nvPr/>
        </p:nvSpPr>
        <p:spPr>
          <a:xfrm xmlns:a="http://schemas.openxmlformats.org/drawingml/2006/main">
            <a:off x="685800" y="1285875"/>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183D32"/>
                </a:solidFill>
                <a:latin typeface="Helvetica Neue"/>
                <a:ea typeface="Helvetica Neue"/>
                <a:cs typeface="Helvetica Neue"/>
              </a:defRPr>
            </a:pPr>
            <a:r>
              <a:rPr sz="5100" b="1">
                <a:solidFill>
                  <a:srgbClr val="183D32"/>
                </a:solidFill>
                <a:latin typeface="Helvetica Neue"/>
                <a:ea typeface="Helvetica Neue"/>
                <a:cs typeface="Helvetica Neue"/>
              </a:rPr>
              <a:t>Delivery Atlas</a:t>
            </a:r>
          </a:p>
        </p:txBody>
      </p:sp>
      <p:sp>
        <p:nvSpPr>
          <p:cNvPr id="2" name="">
            <a:extLst xmlns:a="http://schemas.openxmlformats.org/drawingml/2006/main">
              <a:ext uri="{FF2B5EF4-FFF2-40B4-BE49-F238E27FC236}">
                <a16:creationId xmlns:a16="http://schemas.microsoft.com/office/drawing/2014/main" id="{1DEE765A-345F-4170-9D78-618B566C7408}"/>
              </a:ext>
            </a:extLst>
          </p:cNvPr>
          <p:cNvSpPr>
            <a:spLocks xmlns:a="http://schemas.openxmlformats.org/drawingml/2006/main" noGrp="1"/>
          </p:cNvSpPr>
          <p:nvPr/>
        </p:nvSpPr>
        <p:spPr>
          <a:xfrm xmlns:a="http://schemas.openxmlformats.org/drawingml/2006/main">
            <a:off x="685800" y="2667000"/>
            <a:ext cx="6286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183D32"/>
                </a:solidFill>
                <a:latin typeface="Helvetica Neue"/>
                <a:ea typeface="Helvetica Neue"/>
                <a:cs typeface="Helvetica Neue"/>
              </a:defRPr>
            </a:pPr>
            <a:r>
              <a:rPr sz="3225" b="0">
                <a:solidFill>
                  <a:srgbClr val="183D32"/>
                </a:solidFill>
                <a:latin typeface="Helvetica Neue"/>
                <a:ea typeface="Helvetica Neue"/>
                <a:cs typeface="Helvetica Neue"/>
              </a:rPr>
              <a:t>ClickHouse event analytics</a:t>
            </a:r>
          </a:p>
          <a:p xmlns:a="http://schemas.openxmlformats.org/drawingml/2006/main">
            <a:pPr>
              <a:defRPr sz="3225" b="0">
                <a:solidFill>
                  <a:srgbClr val="183D32"/>
                </a:solidFill>
                <a:latin typeface="Helvetica Neue"/>
                <a:ea typeface="Helvetica Neue"/>
                <a:cs typeface="Helvetica Neue"/>
              </a:defRPr>
            </a:pPr>
            <a:r>
              <a:rPr sz="3225" b="0">
                <a:solidFill>
                  <a:srgbClr val="183D32"/>
                </a:solidFill>
                <a:latin typeface="Helvetica Neue"/>
                <a:ea typeface="Helvetica Neue"/>
                <a:cs typeface="Helvetica Neue"/>
              </a:rPr>
              <a:t>for a food delivery app</a:t>
            </a:r>
          </a:p>
        </p:txBody>
      </p:sp>
      <p:sp>
        <p:nvSpPr>
          <p:cNvPr id="3" name="">
            <a:extLst xmlns:a="http://schemas.openxmlformats.org/drawingml/2006/main">
              <a:ext uri="{FF2B5EF4-FFF2-40B4-BE49-F238E27FC236}">
                <a16:creationId xmlns:a16="http://schemas.microsoft.com/office/drawing/2014/main" id="{064F9904-82C6-4FA4-B984-B2258F95DC49}"/>
              </a:ext>
            </a:extLst>
          </p:cNvPr>
          <p:cNvSpPr>
            <a:spLocks xmlns:a="http://schemas.openxmlformats.org/drawingml/2006/main" noGrp="1"/>
          </p:cNvSpPr>
          <p:nvPr/>
        </p:nvSpPr>
        <p:spPr>
          <a:xfrm xmlns:a="http://schemas.openxmlformats.org/drawingml/2006/main">
            <a:off x="685800" y="5429250"/>
            <a:ext cx="647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695F"/>
                </a:solidFill>
                <a:latin typeface="Helvetica Neue"/>
                <a:ea typeface="Helvetica Neue"/>
                <a:cs typeface="Helvetica Neue"/>
              </a:defRPr>
            </a:pPr>
            <a:r>
              <a:rPr sz="1650" b="0">
                <a:solidFill>
                  <a:srgbClr val="55695F"/>
                </a:solidFill>
                <a:latin typeface="Helvetica Neue"/>
                <a:ea typeface="Helvetica Neue"/>
                <a:cs typeface="Helvetica Neue"/>
              </a:rPr>
              <a:t>BD2 · Five-minute progress update · 5 October 2026</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2253c6040064ba4"/>
          <a:stretch xmlns:a="http://schemas.openxmlformats.org/drawingml/2006/main"/>
        </p:blipFill>
        <p:spPr>
          <a:xfrm xmlns:a="http://schemas.openxmlformats.org/drawingml/2006/main">
            <a:off x="7124700" y="1095375"/>
            <a:ext cx="4619625" cy="4619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023F578-4B43-4C84-B88D-4F1D938108C5}"/>
              </a:ext>
            </a:extLst>
          </p:cNvPr>
          <p:cNvSpPr>
            <a:spLocks xmlns:a="http://schemas.openxmlformats.org/drawingml/2006/main" noGrp="1"/>
          </p:cNvSpPr>
          <p:nvPr/>
        </p:nvSpPr>
        <p:spPr>
          <a:xfrm xmlns:a="http://schemas.openxmlformats.org/drawingml/2006/main">
            <a:off x="114776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695F"/>
                </a:solidFill>
                <a:latin typeface="Helvetica Neue"/>
                <a:ea typeface="Helvetica Neue"/>
                <a:cs typeface="Helvetica Neue"/>
              </a:defRPr>
            </a:pPr>
            <a:r>
              <a:rPr sz="1350" b="0">
                <a:solidFill>
                  <a:srgbClr val="55695F"/>
                </a:solidFill>
                <a:latin typeface="Helvetica Neue"/>
                <a:ea typeface="Helvetica Neue"/>
                <a:cs typeface="Helvetica Neue"/>
              </a:rPr>
              <a:t>1</a:t>
            </a:r>
          </a:p>
        </p:txBody>
      </p:sp>
    </p:spTree>
    <p:extLst>
      <p:ext uri="{BB962C8B-B14F-4D97-AF65-F5344CB8AC3E}">
        <p14:creationId xmlns:p14="http://schemas.microsoft.com/office/powerpoint/2010/main" val="1348839638"/>
      </p:ext>
    </p:extLst>
  </p:cSld>
</p:sld>
</file>

<file path=ppt/slides/slide2.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3CEFF1B-6813-45D6-BE7C-692A3FEDEAB3}"/>
              </a:ext>
            </a:extLst>
          </p:cNvPr>
          <p:cNvSpPr>
            <a:spLocks xmlns:a="http://schemas.openxmlformats.org/drawingml/2006/main" noGrp="1"/>
          </p:cNvSpPr>
          <p:nvPr/>
        </p:nvSpPr>
        <p:spPr>
          <a:xfrm xmlns:a="http://schemas.openxmlformats.org/drawingml/2006/main">
            <a:off x="685800" y="4572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83D32"/>
                </a:solidFill>
                <a:latin typeface="Helvetica Neue"/>
                <a:ea typeface="Helvetica Neue"/>
                <a:cs typeface="Helvetica Neue"/>
              </a:defRPr>
            </a:pPr>
            <a:r>
              <a:rPr sz="3375" b="1">
                <a:solidFill>
                  <a:srgbClr val="183D32"/>
                </a:solidFill>
                <a:latin typeface="Helvetica Neue"/>
                <a:ea typeface="Helvetica Neue"/>
                <a:cs typeface="Helvetica Neue"/>
              </a:rPr>
              <a:t>Current architecture and tables</a:t>
            </a:r>
          </a:p>
        </p:txBody>
      </p:sp>
      <p:sp>
        <p:nvSpPr>
          <p:cNvPr id="2" name="">
            <a:extLst xmlns:a="http://schemas.openxmlformats.org/drawingml/2006/main">
              <a:ext uri="{FF2B5EF4-FFF2-40B4-BE49-F238E27FC236}">
                <a16:creationId xmlns:a16="http://schemas.microsoft.com/office/drawing/2014/main" id="{E07BC41C-16A0-492E-BD5F-5FBCEA5F8E12}"/>
              </a:ext>
            </a:extLst>
          </p:cNvPr>
          <p:cNvSpPr>
            <a:spLocks xmlns:a="http://schemas.openxmlformats.org/drawingml/2006/main" noGrp="1"/>
          </p:cNvSpPr>
          <p:nvPr/>
        </p:nvSpPr>
        <p:spPr>
          <a:xfrm xmlns:a="http://schemas.openxmlformats.org/drawingml/2006/main">
            <a:off x="685800" y="12858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695F"/>
                </a:solidFill>
                <a:latin typeface="Helvetica Neue"/>
                <a:ea typeface="Helvetica Neue"/>
                <a:cs typeface="Helvetica Neue"/>
              </a:defRPr>
            </a:pPr>
            <a:r>
              <a:rPr sz="1875" b="0">
                <a:solidFill>
                  <a:srgbClr val="55695F"/>
                </a:solidFill>
                <a:latin typeface="Helvetica Neue"/>
                <a:ea typeface="Helvetica Neue"/>
                <a:cs typeface="Helvetica Neue"/>
              </a:rPr>
              <a:t>Python API and one ClickHouse 25.8 node with persistent storage</a:t>
            </a:r>
          </a:p>
        </p:txBody>
      </p:sp>
      <p:graphicFrame>
        <p:nvGraphicFramePr>
          <p:cNvPr id="8" name=""/>
          <p:cNvGraphicFramePr/>
          <p:nvPr/>
        </p:nvGraphicFramePr>
        <p:xfrm>
          <a:off xmlns:a="http://schemas.openxmlformats.org/drawingml/2006/main" x="685800" y="2047875"/>
          <a:ext xmlns:a="http://schemas.openxmlformats.org/drawingml/2006/main" cx="10668000" cy="3571875"/>
        </p:xfrm>
        <a:graphic xmlns:a="http://schemas.openxmlformats.org/drawingml/2006/main">
          <a:graphicData uri="http://schemas.openxmlformats.org/drawingml/2006/table">
            <a:tbl>
              <a:tblPr firstRow="0" bandRow="0"/>
              <a:tblGrid>
                <a:gridCol w="2143125"/>
                <a:gridCol w="4619625"/>
                <a:gridCol w="3905250"/>
              </a:tblGrid>
              <a:tr h="714375">
                <a:tc>
                  <a:txBody>
                    <a:bodyPr>
                      <a:noAutofit/>
                    </a:bodyPr>
                    <a:lstStyle/>
                    <a:p>
                      <a:r>
                        <a:rPr sz="1800" b="1">
                          <a:solidFill>
                            <a:srgbClr val="FFFFFF"/>
                          </a:solidFill>
                          <a:latin typeface="Helvetica Neue"/>
                          <a:ea typeface="Helvetica Neue"/>
                          <a:cs typeface="Helvetica Neue"/>
                        </a:rPr>
                        <a:t>Layer</a:t>
                      </a:r>
                    </a:p>
                  </a:txBody>
                  <a:tcPr marL="123825" marR="123825" marT="85725" marB="85725">
                    <a:solidFill>
                      <a:srgbClr val="183D32"/>
                    </a:solidFill>
                  </a:tcPr>
                </a:tc>
                <a:tc>
                  <a:txBody>
                    <a:bodyPr>
                      <a:noAutofit/>
                    </a:bodyPr>
                    <a:lstStyle/>
                    <a:p>
                      <a:r>
                        <a:rPr sz="1800" b="1">
                          <a:solidFill>
                            <a:srgbClr val="FFFFFF"/>
                          </a:solidFill>
                          <a:latin typeface="Helvetica Neue"/>
                          <a:ea typeface="Helvetica Neue"/>
                          <a:cs typeface="Helvetica Neue"/>
                        </a:rPr>
                        <a:t>Current components</a:t>
                      </a:r>
                    </a:p>
                  </a:txBody>
                  <a:tcPr marL="123825" marR="123825" marT="85725" marB="85725">
                    <a:solidFill>
                      <a:srgbClr val="183D32"/>
                    </a:solidFill>
                  </a:tcPr>
                </a:tc>
                <a:tc>
                  <a:txBody>
                    <a:bodyPr>
                      <a:noAutofit/>
                    </a:bodyPr>
                    <a:lstStyle/>
                    <a:p>
                      <a:r>
                        <a:rPr sz="1800" b="1">
                          <a:solidFill>
                            <a:srgbClr val="FFFFFF"/>
                          </a:solidFill>
                          <a:latin typeface="Helvetica Neue"/>
                          <a:ea typeface="Helvetica Neue"/>
                          <a:cs typeface="Helvetica Neue"/>
                        </a:rPr>
                        <a:t>Responsibility</a:t>
                      </a:r>
                    </a:p>
                  </a:txBody>
                  <a:tcPr marL="123825" marR="123825" marT="85725" marB="85725">
                    <a:solidFill>
                      <a:srgbClr val="183D32"/>
                    </a:solidFill>
                  </a:tcPr>
                </a:tc>
              </a:tr>
              <a:tr h="714375">
                <a:tc>
                  <a:txBody>
                    <a:bodyPr>
                      <a:noAutofit/>
                    </a:bodyPr>
                    <a:lstStyle/>
                    <a:p>
                      <a:r>
                        <a:rPr sz="1800" b="0">
                          <a:solidFill>
                            <a:srgbClr val="183D32"/>
                          </a:solidFill>
                          <a:latin typeface="Helvetica Neue"/>
                          <a:ea typeface="Helvetica Neue"/>
                          <a:cs typeface="Helvetica Neue"/>
                        </a:rPr>
                        <a:t>Input</a:t>
                      </a:r>
                    </a:p>
                  </a:txBody>
                  <a:tcPr marL="123825" marR="123825" marT="85725" marB="85725">
                    <a:solidFill>
                      <a:srgbClr val="FFFFFF"/>
                    </a:solidFill>
                  </a:tcPr>
                </a:tc>
                <a:tc>
                  <a:txBody>
                    <a:bodyPr>
                      <a:noAutofit/>
                    </a:bodyPr>
                    <a:lstStyle/>
                    <a:p>
                      <a:r>
                        <a:rPr sz="1800" b="0">
                          <a:solidFill>
                            <a:srgbClr val="183D32"/>
                          </a:solidFill>
                          <a:latin typeface="Helvetica Neue"/>
                          <a:ea typeface="Helvetica Neue"/>
                          <a:cs typeface="Helvetica Neue"/>
                        </a:rPr>
                        <a:t>Source files and web buttons</a:t>
                      </a:r>
                    </a:p>
                  </a:txBody>
                  <a:tcPr marL="123825" marR="123825" marT="85725" marB="85725">
                    <a:solidFill>
                      <a:srgbClr val="FFFFFF"/>
                    </a:solidFill>
                  </a:tcPr>
                </a:tc>
                <a:tc>
                  <a:txBody>
                    <a:bodyPr>
                      <a:noAutofit/>
                    </a:bodyPr>
                    <a:lstStyle/>
                    <a:p>
                      <a:r>
                        <a:rPr sz="1800" b="0">
                          <a:solidFill>
                            <a:srgbClr val="183D32"/>
                          </a:solidFill>
                          <a:latin typeface="Helvetica Neue"/>
                          <a:ea typeface="Helvetica Neue"/>
                          <a:cs typeface="Helvetica Neue"/>
                        </a:rPr>
                        <a:t>Historical data and new actions</a:t>
                      </a:r>
                    </a:p>
                  </a:txBody>
                  <a:tcPr marL="123825" marR="123825" marT="85725" marB="85725">
                    <a:solidFill>
                      <a:srgbClr val="FFFFFF"/>
                    </a:solidFill>
                  </a:tcPr>
                </a:tc>
              </a:tr>
              <a:tr h="714375">
                <a:tc>
                  <a:txBody>
                    <a:bodyPr>
                      <a:noAutofit/>
                    </a:bodyPr>
                    <a:lstStyle/>
                    <a:p>
                      <a:r>
                        <a:rPr sz="1800" b="0">
                          <a:solidFill>
                            <a:srgbClr val="183D32"/>
                          </a:solidFill>
                          <a:latin typeface="Helvetica Neue"/>
                          <a:ea typeface="Helvetica Neue"/>
                          <a:cs typeface="Helvetica Neue"/>
                        </a:rPr>
                        <a:t>API and ingestion</a:t>
                      </a:r>
                    </a:p>
                  </a:txBody>
                  <a:tcPr marL="123825" marR="123825" marT="85725" marB="85725">
                    <a:solidFill>
                      <a:srgbClr val="E6EBDD"/>
                    </a:solidFill>
                  </a:tcPr>
                </a:tc>
                <a:tc>
                  <a:txBody>
                    <a:bodyPr>
                      <a:noAutofit/>
                    </a:bodyPr>
                    <a:lstStyle/>
                    <a:p>
                      <a:r>
                        <a:rPr sz="1800" b="0">
                          <a:solidFill>
                            <a:srgbClr val="183D32"/>
                          </a:solidFill>
                          <a:latin typeface="Helvetica Neue"/>
                          <a:ea typeface="Helvetica Neue"/>
                          <a:cs typeface="Helvetica Neue"/>
                        </a:rPr>
                        <a:t>dashboard.py and scripts</a:t>
                      </a:r>
                    </a:p>
                  </a:txBody>
                  <a:tcPr marL="123825" marR="123825" marT="85725" marB="85725">
                    <a:solidFill>
                      <a:srgbClr val="E6EBDD"/>
                    </a:solidFill>
                  </a:tcPr>
                </a:tc>
                <a:tc>
                  <a:txBody>
                    <a:bodyPr>
                      <a:noAutofit/>
                    </a:bodyPr>
                    <a:lstStyle/>
                    <a:p>
                      <a:r>
                        <a:rPr sz="1800" b="0">
                          <a:solidFill>
                            <a:srgbClr val="183D32"/>
                          </a:solidFill>
                          <a:latin typeface="Helvetica Neue"/>
                          <a:ea typeface="Helvetica Neue"/>
                          <a:cs typeface="Helvetica Neue"/>
                        </a:rPr>
                        <a:t>Validation and HTTP batches</a:t>
                      </a:r>
                    </a:p>
                  </a:txBody>
                  <a:tcPr marL="123825" marR="123825" marT="85725" marB="85725">
                    <a:solidFill>
                      <a:srgbClr val="E6EBDD"/>
                    </a:solidFill>
                  </a:tcPr>
                </a:tc>
              </a:tr>
              <a:tr h="714375">
                <a:tc>
                  <a:txBody>
                    <a:bodyPr>
                      <a:noAutofit/>
                    </a:bodyPr>
                    <a:lstStyle/>
                    <a:p>
                      <a:r>
                        <a:rPr sz="1800" b="0">
                          <a:solidFill>
                            <a:srgbClr val="183D32"/>
                          </a:solidFill>
                          <a:latin typeface="Helvetica Neue"/>
                          <a:ea typeface="Helvetica Neue"/>
                          <a:cs typeface="Helvetica Neue"/>
                        </a:rPr>
                        <a:t>Detailed data</a:t>
                      </a:r>
                    </a:p>
                  </a:txBody>
                  <a:tcPr marL="123825" marR="123825" marT="85725" marB="85725">
                    <a:solidFill>
                      <a:srgbClr val="FFFFFF"/>
                    </a:solidFill>
                  </a:tcPr>
                </a:tc>
                <a:tc>
                  <a:txBody>
                    <a:bodyPr>
                      <a:noAutofit/>
                    </a:bodyPr>
                    <a:lstStyle/>
                    <a:p>
                      <a:r>
                        <a:rPr sz="1800" b="0">
                          <a:solidFill>
                            <a:srgbClr val="183D32"/>
                          </a:solidFill>
                          <a:latin typeface="Helvetica Neue"/>
                          <a:ea typeface="Helvetica Neue"/>
                          <a:cs typeface="Helvetica Neue"/>
                        </a:rPr>
                        <a:t>otto_archive / eleme_samples</a:t>
                      </a:r>
                    </a:p>
                  </a:txBody>
                  <a:tcPr marL="123825" marR="123825" marT="85725" marB="85725">
                    <a:solidFill>
                      <a:srgbClr val="FFFFFF"/>
                    </a:solidFill>
                  </a:tcPr>
                </a:tc>
                <a:tc>
                  <a:txBody>
                    <a:bodyPr>
                      <a:noAutofit/>
                    </a:bodyPr>
                    <a:lstStyle/>
                    <a:p>
                      <a:r>
                        <a:rPr sz="1800" b="0">
                          <a:solidFill>
                            <a:srgbClr val="183D32"/>
                          </a:solidFill>
                          <a:latin typeface="Helvetica Neue"/>
                          <a:ea typeface="Helvetica Neue"/>
                          <a:cs typeface="Helvetica Neue"/>
                        </a:rPr>
                        <a:t>Separate events and samples</a:t>
                      </a:r>
                    </a:p>
                  </a:txBody>
                  <a:tcPr marL="123825" marR="123825" marT="85725" marB="85725">
                    <a:solidFill>
                      <a:srgbClr val="FFFFFF"/>
                    </a:solidFill>
                  </a:tcPr>
                </a:tc>
              </a:tr>
              <a:tr h="714375">
                <a:tc>
                  <a:txBody>
                    <a:bodyPr>
                      <a:noAutofit/>
                    </a:bodyPr>
                    <a:lstStyle/>
                    <a:p>
                      <a:r>
                        <a:rPr sz="1800" b="0">
                          <a:solidFill>
                            <a:srgbClr val="183D32"/>
                          </a:solidFill>
                          <a:latin typeface="Helvetica Neue"/>
                          <a:ea typeface="Helvetica Neue"/>
                          <a:cs typeface="Helvetica Neue"/>
                        </a:rPr>
                        <a:t>Daily rollup</a:t>
                      </a:r>
                    </a:p>
                  </a:txBody>
                  <a:tcPr marL="123825" marR="123825" marT="85725" marB="85725">
                    <a:solidFill>
                      <a:srgbClr val="E6EBDD"/>
                    </a:solidFill>
                  </a:tcPr>
                </a:tc>
                <a:tc>
                  <a:txBody>
                    <a:bodyPr>
                      <a:noAutofit/>
                    </a:bodyPr>
                    <a:lstStyle/>
                    <a:p>
                      <a:r>
                        <a:rPr sz="1800" b="0">
                          <a:solidFill>
                            <a:srgbClr val="183D32"/>
                          </a:solidFill>
                          <a:latin typeface="Helvetica Neue"/>
                          <a:ea typeface="Helvetica Neue"/>
                          <a:cs typeface="Helvetica Neue"/>
                        </a:rPr>
                        <a:t>otto_daily_rollup</a:t>
                      </a:r>
                    </a:p>
                  </a:txBody>
                  <a:tcPr marL="123825" marR="123825" marT="85725" marB="85725">
                    <a:solidFill>
                      <a:srgbClr val="E6EBDD"/>
                    </a:solidFill>
                  </a:tcPr>
                </a:tc>
                <a:tc>
                  <a:txBody>
                    <a:bodyPr>
                      <a:noAutofit/>
                    </a:bodyPr>
                    <a:lstStyle/>
                    <a:p>
                      <a:r>
                        <a:rPr sz="1800" b="0">
                          <a:solidFill>
                            <a:srgbClr val="183D32"/>
                          </a:solidFill>
                          <a:latin typeface="Helvetica Neue"/>
                          <a:ea typeface="Helvetica Neue"/>
                          <a:cs typeface="Helvetica Neue"/>
                        </a:rPr>
                        <a:t>Counts by day and event type</a:t>
                      </a:r>
                    </a:p>
                  </a:txBody>
                  <a:tcPr marL="123825" marR="123825" marT="85725" marB="85725">
                    <a:solidFill>
                      <a:srgbClr val="E6EBDD"/>
                    </a:solidFill>
                  </a:tcPr>
                </a:tc>
              </a:tr>
            </a:tbl>
          </a:graphicData>
        </a:graphic>
      </p:graphicFrame>
      <p:sp>
        <p:nvSpPr>
          <p:cNvPr id="4" name="">
            <a:extLst xmlns:a="http://schemas.openxmlformats.org/drawingml/2006/main">
              <a:ext uri="{FF2B5EF4-FFF2-40B4-BE49-F238E27FC236}">
                <a16:creationId xmlns:a16="http://schemas.microsoft.com/office/drawing/2014/main" id="{53BF8510-1C2A-41D1-B23F-664F7E2D063A}"/>
              </a:ext>
            </a:extLst>
          </p:cNvPr>
          <p:cNvSpPr>
            <a:spLocks xmlns:a="http://schemas.openxmlformats.org/drawingml/2006/main" noGrp="1"/>
          </p:cNvSpPr>
          <p:nvPr/>
        </p:nvSpPr>
        <p:spPr>
          <a:xfrm xmlns:a="http://schemas.openxmlformats.org/drawingml/2006/main">
            <a:off x="685800" y="61531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695F"/>
                </a:solidFill>
                <a:latin typeface="Helvetica Neue"/>
                <a:ea typeface="Helvetica Neue"/>
                <a:cs typeface="Helvetica Neue"/>
              </a:defRPr>
            </a:pPr>
            <a:r>
              <a:rPr sz="1575" b="0">
                <a:solidFill>
                  <a:srgbClr val="55695F"/>
                </a:solidFill>
                <a:latin typeface="Helvetica Neue"/>
                <a:ea typeface="Helvetica Neue"/>
                <a:cs typeface="Helvetica Neue"/>
              </a:rPr>
              <a:t>Replay preserves event time and records ingestion time. The API returns JSON.</a:t>
            </a:r>
          </a:p>
        </p:txBody>
      </p:sp>
      <p:sp>
        <p:nvSpPr>
          <p:cNvPr id="5" name="">
            <a:extLst xmlns:a="http://schemas.openxmlformats.org/drawingml/2006/main">
              <a:ext uri="{FF2B5EF4-FFF2-40B4-BE49-F238E27FC236}">
                <a16:creationId xmlns:a16="http://schemas.microsoft.com/office/drawing/2014/main" id="{7B463292-6478-44BD-8EAB-7B2A63DC4060}"/>
              </a:ext>
            </a:extLst>
          </p:cNvPr>
          <p:cNvSpPr>
            <a:spLocks xmlns:a="http://schemas.openxmlformats.org/drawingml/2006/main" noGrp="1"/>
          </p:cNvSpPr>
          <p:nvPr/>
        </p:nvSpPr>
        <p:spPr>
          <a:xfrm xmlns:a="http://schemas.openxmlformats.org/drawingml/2006/main">
            <a:off x="114776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695F"/>
                </a:solidFill>
                <a:latin typeface="Helvetica Neue"/>
                <a:ea typeface="Helvetica Neue"/>
                <a:cs typeface="Helvetica Neue"/>
              </a:defRPr>
            </a:pPr>
            <a:r>
              <a:rPr sz="1350" b="0">
                <a:solidFill>
                  <a:srgbClr val="55695F"/>
                </a:solidFill>
                <a:latin typeface="Helvetica Neue"/>
                <a:ea typeface="Helvetica Neue"/>
                <a:cs typeface="Helvetica Neue"/>
              </a:rPr>
              <a:t>2</a:t>
            </a:r>
          </a:p>
        </p:txBody>
      </p:sp>
    </p:spTree>
    <p:extLst>
      <p:ext uri="{BB962C8B-B14F-4D97-AF65-F5344CB8AC3E}">
        <p14:creationId xmlns:p14="http://schemas.microsoft.com/office/powerpoint/2010/main" val="1353536284"/>
      </p:ext>
    </p:extLst>
  </p:cSld>
</p:sld>
</file>

<file path=ppt/slides/slide3.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B921FEE-8389-4039-B8E9-99E0A85B874F}"/>
              </a:ext>
            </a:extLst>
          </p:cNvPr>
          <p:cNvSpPr>
            <a:spLocks xmlns:a="http://schemas.openxmlformats.org/drawingml/2006/main" noGrp="1"/>
          </p:cNvSpPr>
          <p:nvPr/>
        </p:nvSpPr>
        <p:spPr>
          <a:xfrm xmlns:a="http://schemas.openxmlformats.org/drawingml/2006/main">
            <a:off x="685800" y="4572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83D32"/>
                </a:solidFill>
                <a:latin typeface="Helvetica Neue"/>
                <a:ea typeface="Helvetica Neue"/>
                <a:cs typeface="Helvetica Neue"/>
              </a:defRPr>
            </a:pPr>
            <a:r>
              <a:rPr sz="3375" b="1">
                <a:solidFill>
                  <a:srgbClr val="183D32"/>
                </a:solidFill>
                <a:latin typeface="Helvetica Neue"/>
                <a:ea typeface="Helvetica Neue"/>
                <a:cs typeface="Helvetica Neue"/>
              </a:rPr>
              <a:t>Proposed platform event model</a:t>
            </a:r>
          </a:p>
        </p:txBody>
      </p:sp>
      <p:sp>
        <p:nvSpPr>
          <p:cNvPr id="2" name="">
            <a:extLst xmlns:a="http://schemas.openxmlformats.org/drawingml/2006/main">
              <a:ext uri="{FF2B5EF4-FFF2-40B4-BE49-F238E27FC236}">
                <a16:creationId xmlns:a16="http://schemas.microsoft.com/office/drawing/2014/main" id="{955738F8-8230-4740-95BC-60AFD1921587}"/>
              </a:ext>
            </a:extLst>
          </p:cNvPr>
          <p:cNvSpPr>
            <a:spLocks xmlns:a="http://schemas.openxmlformats.org/drawingml/2006/main" noGrp="1"/>
          </p:cNvSpPr>
          <p:nvPr/>
        </p:nvSpPr>
        <p:spPr>
          <a:xfrm xmlns:a="http://schemas.openxmlformats.org/drawingml/2006/main">
            <a:off x="685800" y="12858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695F"/>
                </a:solidFill>
                <a:latin typeface="Helvetica Neue"/>
                <a:ea typeface="Helvetica Neue"/>
                <a:cs typeface="Helvetica Neue"/>
              </a:defRPr>
            </a:pPr>
            <a:r>
              <a:rPr sz="1875" b="0">
                <a:solidFill>
                  <a:srgbClr val="55695F"/>
                </a:solidFill>
                <a:latin typeface="Helvetica Neue"/>
                <a:ea typeface="Helvetica Neue"/>
                <a:cs typeface="Helvetica Neue"/>
              </a:rPr>
              <a:t>Not yet connected. Each row represents one app event.</a:t>
            </a:r>
          </a:p>
        </p:txBody>
      </p:sp>
      <p:graphicFrame>
        <p:nvGraphicFramePr>
          <p:cNvPr id="8" name=""/>
          <p:cNvGraphicFramePr/>
          <p:nvPr/>
        </p:nvGraphicFramePr>
        <p:xfrm>
          <a:off xmlns:a="http://schemas.openxmlformats.org/drawingml/2006/main" x="685800" y="1905000"/>
          <a:ext xmlns:a="http://schemas.openxmlformats.org/drawingml/2006/main" cx="10668000" cy="2857500"/>
        </p:xfrm>
        <a:graphic xmlns:a="http://schemas.openxmlformats.org/drawingml/2006/main">
          <a:graphicData uri="http://schemas.openxmlformats.org/drawingml/2006/table">
            <a:tbl>
              <a:tblPr firstRow="0" bandRow="0"/>
              <a:tblGrid>
                <a:gridCol w="1952625"/>
                <a:gridCol w="5286375"/>
                <a:gridCol w="3429000"/>
              </a:tblGrid>
              <a:tr h="476250">
                <a:tc>
                  <a:txBody>
                    <a:bodyPr>
                      <a:noAutofit/>
                    </a:bodyPr>
                    <a:lstStyle/>
                    <a:p>
                      <a:r>
                        <a:rPr sz="1725" b="1">
                          <a:solidFill>
                            <a:srgbClr val="FFFFFF"/>
                          </a:solidFill>
                          <a:latin typeface="Helvetica Neue"/>
                          <a:ea typeface="Helvetica Neue"/>
                          <a:cs typeface="Helvetica Neue"/>
                        </a:rPr>
                        <a:t>Group</a:t>
                      </a:r>
                    </a:p>
                  </a:txBody>
                  <a:tcPr marL="123825" marR="123825" marT="85725" marB="85725">
                    <a:solidFill>
                      <a:srgbClr val="183D32"/>
                    </a:solidFill>
                  </a:tcPr>
                </a:tc>
                <a:tc>
                  <a:txBody>
                    <a:bodyPr>
                      <a:noAutofit/>
                    </a:bodyPr>
                    <a:lstStyle/>
                    <a:p>
                      <a:r>
                        <a:rPr sz="1725" b="1">
                          <a:solidFill>
                            <a:srgbClr val="FFFFFF"/>
                          </a:solidFill>
                          <a:latin typeface="Helvetica Neue"/>
                          <a:ea typeface="Helvetica Neue"/>
                          <a:cs typeface="Helvetica Neue"/>
                        </a:rPr>
                        <a:t>Main fields</a:t>
                      </a:r>
                    </a:p>
                  </a:txBody>
                  <a:tcPr marL="123825" marR="123825" marT="85725" marB="85725">
                    <a:solidFill>
                      <a:srgbClr val="183D32"/>
                    </a:solidFill>
                  </a:tcPr>
                </a:tc>
                <a:tc>
                  <a:txBody>
                    <a:bodyPr>
                      <a:noAutofit/>
                    </a:bodyPr>
                    <a:lstStyle/>
                    <a:p>
                      <a:r>
                        <a:rPr sz="1725" b="1">
                          <a:solidFill>
                            <a:srgbClr val="FFFFFF"/>
                          </a:solidFill>
                          <a:latin typeface="Helvetica Neue"/>
                          <a:ea typeface="Helvetica Neue"/>
                          <a:cs typeface="Helvetica Neue"/>
                        </a:rPr>
                        <a:t>Purpose</a:t>
                      </a:r>
                    </a:p>
                  </a:txBody>
                  <a:tcPr marL="123825" marR="123825" marT="85725" marB="85725">
                    <a:solidFill>
                      <a:srgbClr val="183D32"/>
                    </a:solidFill>
                  </a:tcPr>
                </a:tc>
              </a:tr>
              <a:tr h="476250">
                <a:tc>
                  <a:txBody>
                    <a:bodyPr>
                      <a:noAutofit/>
                    </a:bodyPr>
                    <a:lstStyle/>
                    <a:p>
                      <a:r>
                        <a:rPr sz="1725" b="0">
                          <a:solidFill>
                            <a:srgbClr val="183D32"/>
                          </a:solidFill>
                          <a:latin typeface="Helvetica Neue"/>
                          <a:ea typeface="Helvetica Neue"/>
                          <a:cs typeface="Helvetica Neue"/>
                        </a:rPr>
                        <a:t>Identity</a:t>
                      </a:r>
                    </a:p>
                  </a:txBody>
                  <a:tcPr marL="123825" marR="123825" marT="85725" marB="85725">
                    <a:solidFill>
                      <a:srgbClr val="FFFFFF"/>
                    </a:solidFill>
                  </a:tcPr>
                </a:tc>
                <a:tc>
                  <a:txBody>
                    <a:bodyPr>
                      <a:noAutofit/>
                    </a:bodyPr>
                    <a:lstStyle/>
                    <a:p>
                      <a:r>
                        <a:rPr sz="1725" b="0">
                          <a:solidFill>
                            <a:srgbClr val="183D32"/>
                          </a:solidFill>
                          <a:latin typeface="Helvetica Neue"/>
                          <a:ea typeface="Helvetica Neue"/>
                          <a:cs typeface="Helvetica Neue"/>
                        </a:rPr>
                        <a:t>event_id, session_id</a:t>
                      </a:r>
                    </a:p>
                  </a:txBody>
                  <a:tcPr marL="123825" marR="123825" marT="85725" marB="85725">
                    <a:solidFill>
                      <a:srgbClr val="FFFFFF"/>
                    </a:solidFill>
                  </a:tcPr>
                </a:tc>
                <a:tc>
                  <a:txBody>
                    <a:bodyPr>
                      <a:noAutofit/>
                    </a:bodyPr>
                    <a:lstStyle/>
                    <a:p>
                      <a:r>
                        <a:rPr sz="1725" b="0">
                          <a:solidFill>
                            <a:srgbClr val="183D32"/>
                          </a:solidFill>
                          <a:latin typeface="Helvetica Neue"/>
                          <a:ea typeface="Helvetica Neue"/>
                          <a:cs typeface="Helvetica Neue"/>
                        </a:rPr>
                        <a:t>Identify event and session</a:t>
                      </a:r>
                    </a:p>
                  </a:txBody>
                  <a:tcPr marL="123825" marR="123825" marT="85725" marB="85725">
                    <a:solidFill>
                      <a:srgbClr val="FFFFFF"/>
                    </a:solidFill>
                  </a:tcPr>
                </a:tc>
              </a:tr>
              <a:tr h="476250">
                <a:tc>
                  <a:txBody>
                    <a:bodyPr>
                      <a:noAutofit/>
                    </a:bodyPr>
                    <a:lstStyle/>
                    <a:p>
                      <a:r>
                        <a:rPr sz="1725" b="0">
                          <a:solidFill>
                            <a:srgbClr val="183D32"/>
                          </a:solidFill>
                          <a:latin typeface="Helvetica Neue"/>
                          <a:ea typeface="Helvetica Neue"/>
                          <a:cs typeface="Helvetica Neue"/>
                        </a:rPr>
                        <a:t>Time</a:t>
                      </a:r>
                    </a:p>
                  </a:txBody>
                  <a:tcPr marL="123825" marR="123825" marT="85725" marB="85725">
                    <a:solidFill>
                      <a:srgbClr val="E6EBDD"/>
                    </a:solidFill>
                  </a:tcPr>
                </a:tc>
                <a:tc>
                  <a:txBody>
                    <a:bodyPr>
                      <a:noAutofit/>
                    </a:bodyPr>
                    <a:lstStyle/>
                    <a:p>
                      <a:r>
                        <a:rPr sz="1725" b="0">
                          <a:solidFill>
                            <a:srgbClr val="183D32"/>
                          </a:solidFill>
                          <a:latin typeface="Helvetica Neue"/>
                          <a:ea typeface="Helvetica Neue"/>
                          <a:cs typeface="Helvetica Neue"/>
                        </a:rPr>
                        <a:t>event_time, ingested_at</a:t>
                      </a:r>
                    </a:p>
                  </a:txBody>
                  <a:tcPr marL="123825" marR="123825" marT="85725" marB="85725">
                    <a:solidFill>
                      <a:srgbClr val="E6EBDD"/>
                    </a:solidFill>
                  </a:tcPr>
                </a:tc>
                <a:tc>
                  <a:txBody>
                    <a:bodyPr>
                      <a:noAutofit/>
                    </a:bodyPr>
                    <a:lstStyle/>
                    <a:p>
                      <a:r>
                        <a:rPr sz="1725" b="0">
                          <a:solidFill>
                            <a:srgbClr val="183D32"/>
                          </a:solidFill>
                          <a:latin typeface="Helvetica Neue"/>
                          <a:ea typeface="Helvetica Neue"/>
                          <a:cs typeface="Helvetica Neue"/>
                        </a:rPr>
                        <a:t>Event time and arrival time</a:t>
                      </a:r>
                    </a:p>
                  </a:txBody>
                  <a:tcPr marL="123825" marR="123825" marT="85725" marB="85725">
                    <a:solidFill>
                      <a:srgbClr val="E6EBDD"/>
                    </a:solidFill>
                  </a:tcPr>
                </a:tc>
              </a:tr>
              <a:tr h="476250">
                <a:tc>
                  <a:txBody>
                    <a:bodyPr>
                      <a:noAutofit/>
                    </a:bodyPr>
                    <a:lstStyle/>
                    <a:p>
                      <a:r>
                        <a:rPr sz="1725" b="0">
                          <a:solidFill>
                            <a:srgbClr val="183D32"/>
                          </a:solidFill>
                          <a:latin typeface="Helvetica Neue"/>
                          <a:ea typeface="Helvetica Neue"/>
                          <a:cs typeface="Helvetica Neue"/>
                        </a:rPr>
                        <a:t>Action</a:t>
                      </a:r>
                    </a:p>
                  </a:txBody>
                  <a:tcPr marL="123825" marR="123825" marT="85725" marB="85725">
                    <a:solidFill>
                      <a:srgbClr val="FFFFFF"/>
                    </a:solidFill>
                  </a:tcPr>
                </a:tc>
                <a:tc>
                  <a:txBody>
                    <a:bodyPr>
                      <a:noAutofit/>
                    </a:bodyPr>
                    <a:lstStyle/>
                    <a:p>
                      <a:r>
                        <a:rPr sz="1725" b="0">
                          <a:solidFill>
                            <a:srgbClr val="183D32"/>
                          </a:solidFill>
                          <a:latin typeface="Helvetica Neue"/>
                          <a:ea typeface="Helvetica Neue"/>
                          <a:cs typeface="Helvetica Neue"/>
                        </a:rPr>
                        <a:t>event_type, section</a:t>
                      </a:r>
                    </a:p>
                  </a:txBody>
                  <a:tcPr marL="123825" marR="123825" marT="85725" marB="85725">
                    <a:solidFill>
                      <a:srgbClr val="FFFFFF"/>
                    </a:solidFill>
                  </a:tcPr>
                </a:tc>
                <a:tc>
                  <a:txBody>
                    <a:bodyPr>
                      <a:noAutofit/>
                    </a:bodyPr>
                    <a:lstStyle/>
                    <a:p>
                      <a:r>
                        <a:rPr sz="1725" b="0">
                          <a:solidFill>
                            <a:srgbClr val="183D32"/>
                          </a:solidFill>
                          <a:latin typeface="Helvetica Neue"/>
                          <a:ea typeface="Helvetica Neue"/>
                          <a:cs typeface="Helvetica Neue"/>
                        </a:rPr>
                        <a:t>Action and area of the app</a:t>
                      </a:r>
                    </a:p>
                  </a:txBody>
                  <a:tcPr marL="123825" marR="123825" marT="85725" marB="85725">
                    <a:solidFill>
                      <a:srgbClr val="FFFFFF"/>
                    </a:solidFill>
                  </a:tcPr>
                </a:tc>
              </a:tr>
              <a:tr h="476250">
                <a:tc>
                  <a:txBody>
                    <a:bodyPr>
                      <a:noAutofit/>
                    </a:bodyPr>
                    <a:lstStyle/>
                    <a:p>
                      <a:r>
                        <a:rPr sz="1725" b="0">
                          <a:solidFill>
                            <a:srgbClr val="183D32"/>
                          </a:solidFill>
                          <a:latin typeface="Helvetica Neue"/>
                          <a:ea typeface="Helvetica Neue"/>
                          <a:cs typeface="Helvetica Neue"/>
                        </a:rPr>
                        <a:t>Context</a:t>
                      </a:r>
                    </a:p>
                  </a:txBody>
                  <a:tcPr marL="123825" marR="123825" marT="85725" marB="85725">
                    <a:solidFill>
                      <a:srgbClr val="E6EBDD"/>
                    </a:solidFill>
                  </a:tcPr>
                </a:tc>
                <a:tc>
                  <a:txBody>
                    <a:bodyPr>
                      <a:noAutofit/>
                    </a:bodyPr>
                    <a:lstStyle/>
                    <a:p>
                      <a:r>
                        <a:rPr sz="1725" b="0">
                          <a:solidFill>
                            <a:srgbClr val="183D32"/>
                          </a:solidFill>
                          <a:latin typeface="Helvetica Neue"/>
                          <a:ea typeface="Helvetica Neue"/>
                          <a:cs typeface="Helvetica Neue"/>
                        </a:rPr>
                        <a:t>city_id, restaurant_id, product_id</a:t>
                      </a:r>
                    </a:p>
                  </a:txBody>
                  <a:tcPr marL="123825" marR="123825" marT="85725" marB="85725">
                    <a:solidFill>
                      <a:srgbClr val="E6EBDD"/>
                    </a:solidFill>
                  </a:tcPr>
                </a:tc>
                <a:tc>
                  <a:txBody>
                    <a:bodyPr>
                      <a:noAutofit/>
                    </a:bodyPr>
                    <a:lstStyle/>
                    <a:p>
                      <a:r>
                        <a:rPr sz="1725" b="0">
                          <a:solidFill>
                            <a:srgbClr val="183D32"/>
                          </a:solidFill>
                          <a:latin typeface="Helvetica Neue"/>
                          <a:ea typeface="Helvetica Neue"/>
                          <a:cs typeface="Helvetica Neue"/>
                        </a:rPr>
                        <a:t>Dashboard filters</a:t>
                      </a:r>
                    </a:p>
                  </a:txBody>
                  <a:tcPr marL="123825" marR="123825" marT="85725" marB="85725">
                    <a:solidFill>
                      <a:srgbClr val="E6EBDD"/>
                    </a:solidFill>
                  </a:tcPr>
                </a:tc>
              </a:tr>
              <a:tr h="476250">
                <a:tc>
                  <a:txBody>
                    <a:bodyPr>
                      <a:noAutofit/>
                    </a:bodyPr>
                    <a:lstStyle/>
                    <a:p>
                      <a:r>
                        <a:rPr sz="1725" b="0">
                          <a:solidFill>
                            <a:srgbClr val="183D32"/>
                          </a:solidFill>
                          <a:latin typeface="Helvetica Neue"/>
                          <a:ea typeface="Helvetica Neue"/>
                          <a:cs typeface="Helvetica Neue"/>
                        </a:rPr>
                        <a:t>Provenance</a:t>
                      </a:r>
                    </a:p>
                  </a:txBody>
                  <a:tcPr marL="123825" marR="123825" marT="85725" marB="85725">
                    <a:solidFill>
                      <a:srgbClr val="FFFFFF"/>
                    </a:solidFill>
                  </a:tcPr>
                </a:tc>
                <a:tc>
                  <a:txBody>
                    <a:bodyPr>
                      <a:noAutofit/>
                    </a:bodyPr>
                    <a:lstStyle/>
                    <a:p>
                      <a:r>
                        <a:rPr sz="1725" b="0">
                          <a:solidFill>
                            <a:srgbClr val="183D32"/>
                          </a:solidFill>
                          <a:latin typeface="Helvetica Neue"/>
                          <a:ea typeface="Helvetica Neue"/>
                          <a:cs typeface="Helvetica Neue"/>
                        </a:rPr>
                        <a:t>source_kind, simulation_run_id</a:t>
                      </a:r>
                    </a:p>
                  </a:txBody>
                  <a:tcPr marL="123825" marR="123825" marT="85725" marB="85725">
                    <a:solidFill>
                      <a:srgbClr val="FFFFFF"/>
                    </a:solidFill>
                  </a:tcPr>
                </a:tc>
                <a:tc>
                  <a:txBody>
                    <a:bodyPr>
                      <a:noAutofit/>
                    </a:bodyPr>
                    <a:lstStyle/>
                    <a:p>
                      <a:r>
                        <a:rPr sz="1725" b="0">
                          <a:solidFill>
                            <a:srgbClr val="183D32"/>
                          </a:solidFill>
                          <a:latin typeface="Helvetica Neue"/>
                          <a:ea typeface="Helvetica Neue"/>
                          <a:cs typeface="Helvetica Neue"/>
                        </a:rPr>
                        <a:t>Source and simulation run</a:t>
                      </a:r>
                    </a:p>
                  </a:txBody>
                  <a:tcPr marL="123825" marR="123825" marT="85725" marB="85725">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F776960-39B2-4968-99DF-A08377373E33}"/>
              </a:ext>
            </a:extLst>
          </p:cNvPr>
          <p:cNvSpPr>
            <a:spLocks xmlns:a="http://schemas.openxmlformats.org/drawingml/2006/main" noGrp="1"/>
          </p:cNvSpPr>
          <p:nvPr/>
        </p:nvSpPr>
        <p:spPr>
          <a:xfrm xmlns:a="http://schemas.openxmlformats.org/drawingml/2006/main">
            <a:off x="685800" y="5095875"/>
            <a:ext cx="10763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D32"/>
                </a:solidFill>
                <a:latin typeface="Helvetica Neue"/>
                <a:ea typeface="Helvetica Neue"/>
                <a:cs typeface="Helvetica Neue"/>
              </a:defRPr>
            </a:pPr>
            <a:r>
              <a:rPr sz="1875" b="0">
                <a:solidFill>
                  <a:srgbClr val="183D32"/>
                </a:solidFill>
                <a:latin typeface="Helvetica Neue"/>
                <a:ea typeface="Helvetica Neue"/>
                <a:cs typeface="Helvetica Neue"/>
              </a:rPr>
              <a:t>ENGINE = MergeTree   PARTITION BY toYYYYMM(event_date)</a:t>
            </a:r>
          </a:p>
          <a:p xmlns:a="http://schemas.openxmlformats.org/drawingml/2006/main">
            <a:pPr>
              <a:defRPr sz="1875" b="0">
                <a:solidFill>
                  <a:srgbClr val="183D32"/>
                </a:solidFill>
                <a:latin typeface="Helvetica Neue"/>
                <a:ea typeface="Helvetica Neue"/>
                <a:cs typeface="Helvetica Neue"/>
              </a:defRPr>
            </a:pPr>
            <a:r>
              <a:rPr sz="1875" b="0">
                <a:solidFill>
                  <a:srgbClr val="183D32"/>
                </a:solidFill>
                <a:latin typeface="Helvetica Neue"/>
                <a:ea typeface="Helvetica Neue"/>
                <a:cs typeface="Helvetica Neue"/>
              </a:rPr>
              <a:t>ORDER BY (source_kind, event_date, city_id, event_type,</a:t>
            </a:r>
          </a:p>
          <a:p xmlns:a="http://schemas.openxmlformats.org/drawingml/2006/main">
            <a:pPr>
              <a:defRPr sz="1875" b="0">
                <a:solidFill>
                  <a:srgbClr val="183D32"/>
                </a:solidFill>
                <a:latin typeface="Helvetica Neue"/>
                <a:ea typeface="Helvetica Neue"/>
                <a:cs typeface="Helvetica Neue"/>
              </a:defRPr>
            </a:pPr>
            <a:r>
              <a:rPr sz="1875" b="0">
                <a:solidFill>
                  <a:srgbClr val="183D32"/>
                </a:solidFill>
                <a:latin typeface="Helvetica Neue"/>
                <a:ea typeface="Helvetica Neue"/>
                <a:cs typeface="Helvetica Neue"/>
              </a:rPr>
              <a:t>          event_time, session_id)</a:t>
            </a:r>
          </a:p>
        </p:txBody>
      </p:sp>
      <p:sp>
        <p:nvSpPr>
          <p:cNvPr id="5" name="">
            <a:extLst xmlns:a="http://schemas.openxmlformats.org/drawingml/2006/main">
              <a:ext uri="{FF2B5EF4-FFF2-40B4-BE49-F238E27FC236}">
                <a16:creationId xmlns:a16="http://schemas.microsoft.com/office/drawing/2014/main" id="{D82311CC-38C0-49E3-81D2-6836FF200E82}"/>
              </a:ext>
            </a:extLst>
          </p:cNvPr>
          <p:cNvSpPr>
            <a:spLocks xmlns:a="http://schemas.openxmlformats.org/drawingml/2006/main" noGrp="1"/>
          </p:cNvSpPr>
          <p:nvPr/>
        </p:nvSpPr>
        <p:spPr>
          <a:xfrm xmlns:a="http://schemas.openxmlformats.org/drawingml/2006/main">
            <a:off x="114776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695F"/>
                </a:solidFill>
                <a:latin typeface="Helvetica Neue"/>
                <a:ea typeface="Helvetica Neue"/>
                <a:cs typeface="Helvetica Neue"/>
              </a:defRPr>
            </a:pPr>
            <a:r>
              <a:rPr sz="1350" b="0">
                <a:solidFill>
                  <a:srgbClr val="55695F"/>
                </a:solidFill>
                <a:latin typeface="Helvetica Neue"/>
                <a:ea typeface="Helvetica Neue"/>
                <a:cs typeface="Helvetica Neue"/>
              </a:rPr>
              <a:t>3</a:t>
            </a:r>
          </a:p>
        </p:txBody>
      </p:sp>
    </p:spTree>
    <p:extLst>
      <p:ext uri="{BB962C8B-B14F-4D97-AF65-F5344CB8AC3E}">
        <p14:creationId xmlns:p14="http://schemas.microsoft.com/office/powerpoint/2010/main" val="959505523"/>
      </p:ext>
    </p:extLst>
  </p:cSld>
</p:sld>
</file>

<file path=ppt/slides/slide4.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F9C1C60-CF01-43AD-9333-931774CF1CB4}"/>
              </a:ext>
            </a:extLst>
          </p:cNvPr>
          <p:cNvSpPr>
            <a:spLocks xmlns:a="http://schemas.openxmlformats.org/drawingml/2006/main" noGrp="1"/>
          </p:cNvSpPr>
          <p:nvPr/>
        </p:nvSpPr>
        <p:spPr>
          <a:xfrm xmlns:a="http://schemas.openxmlformats.org/drawingml/2006/main">
            <a:off x="685800" y="4572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83D32"/>
                </a:solidFill>
                <a:latin typeface="Helvetica Neue"/>
                <a:ea typeface="Helvetica Neue"/>
                <a:cs typeface="Helvetica Neue"/>
              </a:defRPr>
            </a:pPr>
            <a:r>
              <a:rPr sz="3375" b="1">
                <a:solidFill>
                  <a:srgbClr val="183D32"/>
                </a:solidFill>
                <a:latin typeface="Helvetica Neue"/>
                <a:ea typeface="Helvetica Neue"/>
                <a:cs typeface="Helvetica Neue"/>
              </a:rPr>
              <a:t>Historical data vs daily rollup</a:t>
            </a:r>
          </a:p>
        </p:txBody>
      </p:sp>
      <p:sp>
        <p:nvSpPr>
          <p:cNvPr id="2" name="">
            <a:extLst xmlns:a="http://schemas.openxmlformats.org/drawingml/2006/main">
              <a:ext uri="{FF2B5EF4-FFF2-40B4-BE49-F238E27FC236}">
                <a16:creationId xmlns:a16="http://schemas.microsoft.com/office/drawing/2014/main" id="{904F7693-75ED-4C0E-AE8A-D81BB1A52B03}"/>
              </a:ext>
            </a:extLst>
          </p:cNvPr>
          <p:cNvSpPr>
            <a:spLocks xmlns:a="http://schemas.openxmlformats.org/drawingml/2006/main" noGrp="1"/>
          </p:cNvSpPr>
          <p:nvPr/>
        </p:nvSpPr>
        <p:spPr>
          <a:xfrm xmlns:a="http://schemas.openxmlformats.org/drawingml/2006/main">
            <a:off x="685800" y="12858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695F"/>
                </a:solidFill>
                <a:latin typeface="Helvetica Neue"/>
                <a:ea typeface="Helvetica Neue"/>
                <a:cs typeface="Helvetica Neue"/>
              </a:defRPr>
            </a:pPr>
            <a:r>
              <a:rPr sz="1875" b="0">
                <a:solidFill>
                  <a:srgbClr val="55695F"/>
                </a:solidFill>
                <a:latin typeface="Helvetica Neue"/>
                <a:ea typeface="Helvetica Neue"/>
                <a:cs typeface="Helvetica Neue"/>
              </a:rPr>
              <a:t>OTTO: 216,716,096 events reduced to 87 day/type groups with the same result</a:t>
            </a:r>
          </a:p>
        </p:txBody>
      </p:sp>
      <p:sp>
        <p:nvSpPr>
          <p:cNvPr id="3" name="">
            <a:extLst xmlns:a="http://schemas.openxmlformats.org/drawingml/2006/main">
              <a:ext uri="{FF2B5EF4-FFF2-40B4-BE49-F238E27FC236}">
                <a16:creationId xmlns:a16="http://schemas.microsoft.com/office/drawing/2014/main" id="{B8CEB976-B7BD-4AEE-B150-CB770D6D635A}"/>
              </a:ext>
            </a:extLst>
          </p:cNvPr>
          <p:cNvSpPr>
            <a:spLocks xmlns:a="http://schemas.openxmlformats.org/drawingml/2006/main" noGrp="1"/>
          </p:cNvSpPr>
          <p:nvPr/>
        </p:nvSpPr>
        <p:spPr>
          <a:xfrm xmlns:a="http://schemas.openxmlformats.org/drawingml/2006/main">
            <a:off x="685800" y="2238375"/>
            <a:ext cx="5619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D32"/>
                </a:solidFill>
                <a:latin typeface="Helvetica Neue"/>
                <a:ea typeface="Helvetica Neue"/>
                <a:cs typeface="Helvetica Neue"/>
              </a:defRPr>
            </a:pPr>
            <a:r>
              <a:rPr sz="1950" b="0">
                <a:solidFill>
                  <a:srgbClr val="183D32"/>
                </a:solidFill>
                <a:latin typeface="Helvetica Neue"/>
                <a:ea typeface="Helvetica Neue"/>
                <a:cs typeface="Helvetica Neue"/>
              </a:rPr>
              <a:t>SELECT event_date, event_type,</a:t>
            </a:r>
          </a:p>
          <a:p xmlns:a="http://schemas.openxmlformats.org/drawingml/2006/main">
            <a:pPr>
              <a:defRPr sz="1950" b="0">
                <a:solidFill>
                  <a:srgbClr val="183D32"/>
                </a:solidFill>
                <a:latin typeface="Helvetica Neue"/>
                <a:ea typeface="Helvetica Neue"/>
                <a:cs typeface="Helvetica Neue"/>
              </a:defRPr>
            </a:pPr>
            <a:r>
              <a:rPr sz="1950" b="0">
                <a:solidFill>
                  <a:srgbClr val="183D32"/>
                </a:solidFill>
                <a:latin typeface="Helvetica Neue"/>
                <a:ea typeface="Helvetica Neue"/>
                <a:cs typeface="Helvetica Neue"/>
              </a:rPr>
              <a:t>       sum(events)</a:t>
            </a:r>
          </a:p>
          <a:p xmlns:a="http://schemas.openxmlformats.org/drawingml/2006/main">
            <a:pPr>
              <a:defRPr sz="1950" b="0">
                <a:solidFill>
                  <a:srgbClr val="183D32"/>
                </a:solidFill>
                <a:latin typeface="Helvetica Neue"/>
                <a:ea typeface="Helvetica Neue"/>
                <a:cs typeface="Helvetica Neue"/>
              </a:defRPr>
            </a:pPr>
            <a:r>
              <a:rPr sz="1950" b="0">
                <a:solidFill>
                  <a:srgbClr val="183D32"/>
                </a:solidFill>
                <a:latin typeface="Helvetica Neue"/>
                <a:ea typeface="Helvetica Neue"/>
                <a:cs typeface="Helvetica Neue"/>
              </a:rPr>
              <a:t>FROM delivery.otto_daily_rollup</a:t>
            </a:r>
          </a:p>
          <a:p xmlns:a="http://schemas.openxmlformats.org/drawingml/2006/main">
            <a:pPr>
              <a:defRPr sz="1950" b="0">
                <a:solidFill>
                  <a:srgbClr val="183D32"/>
                </a:solidFill>
                <a:latin typeface="Helvetica Neue"/>
                <a:ea typeface="Helvetica Neue"/>
                <a:cs typeface="Helvetica Neue"/>
              </a:defRPr>
            </a:pPr>
            <a:r>
              <a:rPr sz="1950" b="0">
                <a:solidFill>
                  <a:srgbClr val="183D32"/>
                </a:solidFill>
                <a:latin typeface="Helvetica Neue"/>
                <a:ea typeface="Helvetica Neue"/>
                <a:cs typeface="Helvetica Neue"/>
              </a:rPr>
              <a:t>GROUP BY event_date, event_type</a:t>
            </a:r>
          </a:p>
        </p:txBody>
      </p:sp>
      <p:sp>
        <p:nvSpPr>
          <p:cNvPr id="4" name="">
            <a:extLst xmlns:a="http://schemas.openxmlformats.org/drawingml/2006/main">
              <a:ext uri="{FF2B5EF4-FFF2-40B4-BE49-F238E27FC236}">
                <a16:creationId xmlns:a16="http://schemas.microsoft.com/office/drawing/2014/main" id="{670A03A5-E471-4F7D-8D28-B2C3002A581F}"/>
              </a:ext>
            </a:extLst>
          </p:cNvPr>
          <p:cNvSpPr>
            <a:spLocks xmlns:a="http://schemas.openxmlformats.org/drawingml/2006/main" noGrp="1"/>
          </p:cNvSpPr>
          <p:nvPr/>
        </p:nvSpPr>
        <p:spPr>
          <a:xfrm xmlns:a="http://schemas.openxmlformats.org/drawingml/2006/main">
            <a:off x="685800" y="4667250"/>
            <a:ext cx="5810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183D32"/>
                </a:solidFill>
                <a:latin typeface="Helvetica Neue"/>
                <a:ea typeface="Helvetica Neue"/>
                <a:cs typeface="Helvetica Neue"/>
              </a:defRPr>
            </a:pPr>
            <a:r>
              <a:rPr sz="3675" b="1">
                <a:solidFill>
                  <a:srgbClr val="183D32"/>
                </a:solidFill>
                <a:latin typeface="Helvetica Neue"/>
                <a:ea typeface="Helvetica Neue"/>
                <a:cs typeface="Helvetica Neue"/>
              </a:rPr>
              <a:t>27.9× speedup</a:t>
            </a:r>
          </a:p>
        </p:txBody>
      </p:sp>
      <p:sp>
        <p:nvSpPr>
          <p:cNvPr id="5" name="">
            <a:extLst xmlns:a="http://schemas.openxmlformats.org/drawingml/2006/main">
              <a:ext uri="{FF2B5EF4-FFF2-40B4-BE49-F238E27FC236}">
                <a16:creationId xmlns:a16="http://schemas.microsoft.com/office/drawing/2014/main" id="{339EB6E0-563D-4D9E-B77B-DD0EA019AEB5}"/>
              </a:ext>
            </a:extLst>
          </p:cNvPr>
          <p:cNvSpPr>
            <a:spLocks xmlns:a="http://schemas.openxmlformats.org/drawingml/2006/main" noGrp="1"/>
          </p:cNvSpPr>
          <p:nvPr/>
        </p:nvSpPr>
        <p:spPr>
          <a:xfrm xmlns:a="http://schemas.openxmlformats.org/drawingml/2006/main">
            <a:off x="685800" y="5476875"/>
            <a:ext cx="581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5695F"/>
                </a:solidFill>
                <a:latin typeface="Helvetica Neue"/>
                <a:ea typeface="Helvetica Neue"/>
                <a:cs typeface="Helvetica Neue"/>
              </a:defRPr>
            </a:pPr>
            <a:r>
              <a:rPr sz="1800" b="0">
                <a:solidFill>
                  <a:srgbClr val="55695F"/>
                </a:solidFill>
                <a:latin typeface="Helvetica Neue"/>
                <a:ea typeface="Helvetica Neue"/>
                <a:cs typeface="Helvetica Neue"/>
              </a:rPr>
              <a:t>Median of 3 local runs</a:t>
            </a:r>
          </a:p>
          <a:p xmlns:a="http://schemas.openxmlformats.org/drawingml/2006/main">
            <a:pPr>
              <a:defRPr sz="1800" b="0">
                <a:solidFill>
                  <a:srgbClr val="55695F"/>
                </a:solidFill>
                <a:latin typeface="Helvetica Neue"/>
                <a:ea typeface="Helvetica Neue"/>
                <a:cs typeface="Helvetica Neue"/>
              </a:defRPr>
            </a:pPr>
            <a:r>
              <a:rPr sz="1800" b="0">
                <a:solidFill>
                  <a:srgbClr val="55695F"/>
                </a:solidFill>
                <a:latin typeface="Helvetica Neue"/>
                <a:ea typeface="Helvetica Neue"/>
                <a:cs typeface="Helvetica Neue"/>
              </a:rPr>
              <a:t>SQL query cache disabled</a:t>
            </a:r>
          </a:p>
        </p:txBody>
      </p:sp>
      <p:graphicFrame>
        <p:nvGraphicFramePr>
          <p:cNvPr id="14" name="Chart"/>
          <p:cNvGraphicFramePr/>
          <p:nvPr/>
        </p:nvGraphicFramePr>
        <p:xfrm>
          <a:off xmlns:a="http://schemas.openxmlformats.org/drawingml/2006/main" x="6953250" y="2095500"/>
          <a:ext xmlns:a="http://schemas.openxmlformats.org/drawingml/2006/main" cx="4381500" cy="3333750"/>
        </p:xfrm>
        <a:graphic xmlns:a="http://schemas.openxmlformats.org/drawingml/2006/main">
          <a:graphicData uri="http://schemas.openxmlformats.org/drawingml/2006/chart">
            <c:chart xmlns:r="http://schemas.openxmlformats.org/officeDocument/2006/relationships" xmlns:c="http://schemas.openxmlformats.org/drawingml/2006/chart" r:id="Re37a128126fd41c7"/>
          </a:graphicData>
        </a:graphic>
      </p:graphicFrame>
      <p:sp>
        <p:nvSpPr>
          <p:cNvPr id="7" name="">
            <a:extLst xmlns:a="http://schemas.openxmlformats.org/drawingml/2006/main">
              <a:ext uri="{FF2B5EF4-FFF2-40B4-BE49-F238E27FC236}">
                <a16:creationId xmlns:a16="http://schemas.microsoft.com/office/drawing/2014/main" id="{CBBBE745-8A2E-46B2-B7E7-11384626DC9E}"/>
              </a:ext>
            </a:extLst>
          </p:cNvPr>
          <p:cNvSpPr>
            <a:spLocks xmlns:a="http://schemas.openxmlformats.org/drawingml/2006/main" noGrp="1"/>
          </p:cNvSpPr>
          <p:nvPr/>
        </p:nvSpPr>
        <p:spPr>
          <a:xfrm xmlns:a="http://schemas.openxmlformats.org/drawingml/2006/main">
            <a:off x="685800" y="61531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695F"/>
                </a:solidFill>
                <a:latin typeface="Helvetica Neue"/>
                <a:ea typeface="Helvetica Neue"/>
                <a:cs typeface="Helvetica Neue"/>
              </a:defRPr>
            </a:pPr>
            <a:r>
              <a:rPr sz="1575" b="0">
                <a:solidFill>
                  <a:srgbClr val="55695F"/>
                </a:solidFill>
                <a:latin typeface="Helvetica Neue"/>
                <a:ea typeface="Helvetica Neue"/>
                <a:cs typeface="Helvetica Neue"/>
              </a:rPr>
              <a:t>Same query result in the same engine. These runs do not measure p99.</a:t>
            </a:r>
          </a:p>
        </p:txBody>
      </p:sp>
      <p:sp>
        <p:nvSpPr>
          <p:cNvPr id="8" name="">
            <a:extLst xmlns:a="http://schemas.openxmlformats.org/drawingml/2006/main">
              <a:ext uri="{FF2B5EF4-FFF2-40B4-BE49-F238E27FC236}">
                <a16:creationId xmlns:a16="http://schemas.microsoft.com/office/drawing/2014/main" id="{30418F10-62F1-499B-A577-B44EA18FA7AC}"/>
              </a:ext>
            </a:extLst>
          </p:cNvPr>
          <p:cNvSpPr>
            <a:spLocks xmlns:a="http://schemas.openxmlformats.org/drawingml/2006/main" noGrp="1"/>
          </p:cNvSpPr>
          <p:nvPr/>
        </p:nvSpPr>
        <p:spPr>
          <a:xfrm xmlns:a="http://schemas.openxmlformats.org/drawingml/2006/main">
            <a:off x="114776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695F"/>
                </a:solidFill>
                <a:latin typeface="Helvetica Neue"/>
                <a:ea typeface="Helvetica Neue"/>
                <a:cs typeface="Helvetica Neue"/>
              </a:defRPr>
            </a:pPr>
            <a:r>
              <a:rPr sz="1350" b="0">
                <a:solidFill>
                  <a:srgbClr val="55695F"/>
                </a:solidFill>
                <a:latin typeface="Helvetica Neue"/>
                <a:ea typeface="Helvetica Neue"/>
                <a:cs typeface="Helvetica Neue"/>
              </a:rPr>
              <a:t>4</a:t>
            </a:r>
          </a:p>
        </p:txBody>
      </p:sp>
    </p:spTree>
    <p:extLst>
      <p:ext uri="{BB962C8B-B14F-4D97-AF65-F5344CB8AC3E}">
        <p14:creationId xmlns:p14="http://schemas.microsoft.com/office/powerpoint/2010/main" val="1771516415"/>
      </p:ext>
    </p:extLst>
  </p:cSld>
</p:sld>
</file>

<file path=ppt/slides/slide5.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040CD88-D477-4BDF-82AD-B1F2D1CEDFE7}"/>
              </a:ext>
            </a:extLst>
          </p:cNvPr>
          <p:cNvSpPr>
            <a:spLocks xmlns:a="http://schemas.openxmlformats.org/drawingml/2006/main" noGrp="1"/>
          </p:cNvSpPr>
          <p:nvPr/>
        </p:nvSpPr>
        <p:spPr>
          <a:xfrm xmlns:a="http://schemas.openxmlformats.org/drawingml/2006/main">
            <a:off x="685800" y="4572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83D32"/>
                </a:solidFill>
                <a:latin typeface="Helvetica Neue"/>
                <a:ea typeface="Helvetica Neue"/>
                <a:cs typeface="Helvetica Neue"/>
              </a:defRPr>
            </a:pPr>
            <a:r>
              <a:rPr sz="3375" b="1">
                <a:solidFill>
                  <a:srgbClr val="183D32"/>
                </a:solidFill>
                <a:latin typeface="Helvetica Neue"/>
                <a:ea typeface="Helvetica Neue"/>
                <a:cs typeface="Helvetica Neue"/>
              </a:rPr>
              <a:t>Current guarantees and limitations</a:t>
            </a:r>
          </a:p>
        </p:txBody>
      </p:sp>
      <p:sp>
        <p:nvSpPr>
          <p:cNvPr id="2" name="">
            <a:extLst xmlns:a="http://schemas.openxmlformats.org/drawingml/2006/main">
              <a:ext uri="{FF2B5EF4-FFF2-40B4-BE49-F238E27FC236}">
                <a16:creationId xmlns:a16="http://schemas.microsoft.com/office/drawing/2014/main" id="{7EB63500-0E33-4651-A05A-76E0BD46B5CF}"/>
              </a:ext>
            </a:extLst>
          </p:cNvPr>
          <p:cNvSpPr>
            <a:spLocks xmlns:a="http://schemas.openxmlformats.org/drawingml/2006/main" noGrp="1"/>
          </p:cNvSpPr>
          <p:nvPr/>
        </p:nvSpPr>
        <p:spPr>
          <a:xfrm xmlns:a="http://schemas.openxmlformats.org/drawingml/2006/main">
            <a:off x="685800" y="12858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695F"/>
                </a:solidFill>
                <a:latin typeface="Helvetica Neue"/>
                <a:ea typeface="Helvetica Neue"/>
                <a:cs typeface="Helvetica Neue"/>
              </a:defRPr>
            </a:pPr>
            <a:r>
              <a:rPr sz="1875" b="0">
                <a:solidFill>
                  <a:srgbClr val="55695F"/>
                </a:solidFill>
                <a:latin typeface="Helvetica Neue"/>
                <a:ea typeface="Helvetica Neue"/>
                <a:cs typeface="Helvetica Neue"/>
              </a:rPr>
              <a:t>The course distinguishes performance, consistency and availability</a:t>
            </a:r>
          </a:p>
        </p:txBody>
      </p:sp>
      <p:graphicFrame>
        <p:nvGraphicFramePr>
          <p:cNvPr id="8" name=""/>
          <p:cNvGraphicFramePr/>
          <p:nvPr/>
        </p:nvGraphicFramePr>
        <p:xfrm>
          <a:off xmlns:a="http://schemas.openxmlformats.org/drawingml/2006/main" x="685800" y="2047875"/>
          <a:ext xmlns:a="http://schemas.openxmlformats.org/drawingml/2006/main" cx="10668000" cy="3571875"/>
        </p:xfrm>
        <a:graphic xmlns:a="http://schemas.openxmlformats.org/drawingml/2006/main">
          <a:graphicData uri="http://schemas.openxmlformats.org/drawingml/2006/table">
            <a:tbl>
              <a:tblPr firstRow="0" bandRow="0"/>
              <a:tblGrid>
                <a:gridCol w="2286000"/>
                <a:gridCol w="4095750"/>
                <a:gridCol w="4286250"/>
              </a:tblGrid>
              <a:tr h="714375">
                <a:tc>
                  <a:txBody>
                    <a:bodyPr>
                      <a:noAutofit/>
                    </a:bodyPr>
                    <a:lstStyle/>
                    <a:p>
                      <a:r>
                        <a:rPr sz="1800" b="1">
                          <a:solidFill>
                            <a:srgbClr val="FFFFFF"/>
                          </a:solidFill>
                          <a:latin typeface="Helvetica Neue"/>
                          <a:ea typeface="Helvetica Neue"/>
                          <a:cs typeface="Helvetica Neue"/>
                        </a:rPr>
                        <a:t>Concept</a:t>
                      </a:r>
                    </a:p>
                  </a:txBody>
                  <a:tcPr marL="123825" marR="123825" marT="85725" marB="85725">
                    <a:solidFill>
                      <a:srgbClr val="183D32"/>
                    </a:solidFill>
                  </a:tcPr>
                </a:tc>
                <a:tc>
                  <a:txBody>
                    <a:bodyPr>
                      <a:noAutofit/>
                    </a:bodyPr>
                    <a:lstStyle/>
                    <a:p>
                      <a:r>
                        <a:rPr sz="1800" b="1">
                          <a:solidFill>
                            <a:srgbClr val="FFFFFF"/>
                          </a:solidFill>
                          <a:latin typeface="Helvetica Neue"/>
                          <a:ea typeface="Helvetica Neue"/>
                          <a:cs typeface="Helvetica Neue"/>
                        </a:rPr>
                        <a:t>Current state</a:t>
                      </a:r>
                    </a:p>
                  </a:txBody>
                  <a:tcPr marL="123825" marR="123825" marT="85725" marB="85725">
                    <a:solidFill>
                      <a:srgbClr val="183D32"/>
                    </a:solidFill>
                  </a:tcPr>
                </a:tc>
                <a:tc>
                  <a:txBody>
                    <a:bodyPr>
                      <a:noAutofit/>
                    </a:bodyPr>
                    <a:lstStyle/>
                    <a:p>
                      <a:r>
                        <a:rPr sz="1800" b="1">
                          <a:solidFill>
                            <a:srgbClr val="FFFFFF"/>
                          </a:solidFill>
                          <a:latin typeface="Helvetica Neue"/>
                          <a:ea typeface="Helvetica Neue"/>
                          <a:cs typeface="Helvetica Neue"/>
                        </a:rPr>
                        <a:t>Required next step</a:t>
                      </a:r>
                    </a:p>
                  </a:txBody>
                  <a:tcPr marL="123825" marR="123825" marT="85725" marB="85725">
                    <a:solidFill>
                      <a:srgbClr val="183D32"/>
                    </a:solidFill>
                  </a:tcPr>
                </a:tc>
              </a:tr>
              <a:tr h="714375">
                <a:tc>
                  <a:txBody>
                    <a:bodyPr>
                      <a:noAutofit/>
                    </a:bodyPr>
                    <a:lstStyle/>
                    <a:p>
                      <a:r>
                        <a:rPr sz="1800" b="0">
                          <a:solidFill>
                            <a:srgbClr val="183D32"/>
                          </a:solidFill>
                          <a:latin typeface="Helvetica Neue"/>
                          <a:ea typeface="Helvetica Neue"/>
                          <a:cs typeface="Helvetica Neue"/>
                        </a:rPr>
                        <a:t>Availability</a:t>
                      </a:r>
                    </a:p>
                  </a:txBody>
                  <a:tcPr marL="123825" marR="123825" marT="85725" marB="85725">
                    <a:solidFill>
                      <a:srgbClr val="FFFFFF"/>
                    </a:solidFill>
                  </a:tcPr>
                </a:tc>
                <a:tc>
                  <a:txBody>
                    <a:bodyPr>
                      <a:noAutofit/>
                    </a:bodyPr>
                    <a:lstStyle/>
                    <a:p>
                      <a:r>
                        <a:rPr sz="1800" b="0">
                          <a:solidFill>
                            <a:srgbClr val="183D32"/>
                          </a:solidFill>
                          <a:latin typeface="Helvetica Neue"/>
                          <a:ea typeface="Helvetica Neue"/>
                          <a:cs typeface="Helvetica Neue"/>
                        </a:rPr>
                        <a:t>One node, persistent storage</a:t>
                      </a:r>
                    </a:p>
                  </a:txBody>
                  <a:tcPr marL="123825" marR="123825" marT="85725" marB="85725">
                    <a:solidFill>
                      <a:srgbClr val="FFFFFF"/>
                    </a:solidFill>
                  </a:tcPr>
                </a:tc>
                <a:tc>
                  <a:txBody>
                    <a:bodyPr>
                      <a:noAutofit/>
                    </a:bodyPr>
                    <a:lstStyle/>
                    <a:p>
                      <a:r>
                        <a:rPr sz="1800" b="0">
                          <a:solidFill>
                            <a:srgbClr val="183D32"/>
                          </a:solidFill>
                          <a:latin typeface="Helvetica Neue"/>
                          <a:ea typeface="Helvetica Neue"/>
                          <a:cs typeface="Helvetica Neue"/>
                        </a:rPr>
                        <a:t>Test failure and recovery</a:t>
                      </a:r>
                    </a:p>
                  </a:txBody>
                  <a:tcPr marL="123825" marR="123825" marT="85725" marB="85725">
                    <a:solidFill>
                      <a:srgbClr val="FFFFFF"/>
                    </a:solidFill>
                  </a:tcPr>
                </a:tc>
              </a:tr>
              <a:tr h="714375">
                <a:tc>
                  <a:txBody>
                    <a:bodyPr>
                      <a:noAutofit/>
                    </a:bodyPr>
                    <a:lstStyle/>
                    <a:p>
                      <a:r>
                        <a:rPr sz="1800" b="0">
                          <a:solidFill>
                            <a:srgbClr val="183D32"/>
                          </a:solidFill>
                          <a:latin typeface="Helvetica Neue"/>
                          <a:ea typeface="Helvetica Neue"/>
                          <a:cs typeface="Helvetica Neue"/>
                        </a:rPr>
                        <a:t>Scalability</a:t>
                      </a:r>
                    </a:p>
                  </a:txBody>
                  <a:tcPr marL="123825" marR="123825" marT="85725" marB="85725">
                    <a:solidFill>
                      <a:srgbClr val="E6EBDD"/>
                    </a:solidFill>
                  </a:tcPr>
                </a:tc>
                <a:tc>
                  <a:txBody>
                    <a:bodyPr>
                      <a:noAutofit/>
                    </a:bodyPr>
                    <a:lstStyle/>
                    <a:p>
                      <a:r>
                        <a:rPr sz="1800" b="0">
                          <a:solidFill>
                            <a:srgbClr val="183D32"/>
                          </a:solidFill>
                          <a:latin typeface="Helvetica Neue"/>
                          <a:ea typeface="Helvetica Neue"/>
                          <a:cs typeface="Helvetica Neue"/>
                        </a:rPr>
                        <a:t>Local partitions by date</a:t>
                      </a:r>
                    </a:p>
                  </a:txBody>
                  <a:tcPr marL="123825" marR="123825" marT="85725" marB="85725">
                    <a:solidFill>
                      <a:srgbClr val="E6EBDD"/>
                    </a:solidFill>
                  </a:tcPr>
                </a:tc>
                <a:tc>
                  <a:txBody>
                    <a:bodyPr>
                      <a:noAutofit/>
                    </a:bodyPr>
                    <a:lstStyle/>
                    <a:p>
                      <a:r>
                        <a:rPr sz="1800" b="0">
                          <a:solidFill>
                            <a:srgbClr val="183D32"/>
                          </a:solidFill>
                          <a:latin typeface="Helvetica Neue"/>
                          <a:ea typeface="Helvetica Neue"/>
                          <a:cs typeface="Helvetica Neue"/>
                        </a:rPr>
                        <a:t>Explain sharding and replication</a:t>
                      </a:r>
                    </a:p>
                  </a:txBody>
                  <a:tcPr marL="123825" marR="123825" marT="85725" marB="85725">
                    <a:solidFill>
                      <a:srgbClr val="E6EBDD"/>
                    </a:solidFill>
                  </a:tcPr>
                </a:tc>
              </a:tr>
              <a:tr h="714375">
                <a:tc>
                  <a:txBody>
                    <a:bodyPr>
                      <a:noAutofit/>
                    </a:bodyPr>
                    <a:lstStyle/>
                    <a:p>
                      <a:r>
                        <a:rPr sz="1800" b="0">
                          <a:solidFill>
                            <a:srgbClr val="183D32"/>
                          </a:solidFill>
                          <a:latin typeface="Helvetica Neue"/>
                          <a:ea typeface="Helvetica Neue"/>
                          <a:cs typeface="Helvetica Neue"/>
                        </a:rPr>
                        <a:t>Event delivery</a:t>
                      </a:r>
                    </a:p>
                  </a:txBody>
                  <a:tcPr marL="123825" marR="123825" marT="85725" marB="85725">
                    <a:solidFill>
                      <a:srgbClr val="FFFFFF"/>
                    </a:solidFill>
                  </a:tcPr>
                </a:tc>
                <a:tc>
                  <a:txBody>
                    <a:bodyPr>
                      <a:noAutofit/>
                    </a:bodyPr>
                    <a:lstStyle/>
                    <a:p>
                      <a:r>
                        <a:rPr sz="1800" b="0">
                          <a:solidFill>
                            <a:srgbClr val="183D32"/>
                          </a:solidFill>
                          <a:latin typeface="Helvetica Neue"/>
                          <a:ea typeface="Helvetica Neue"/>
                          <a:cs typeface="Helvetica Neue"/>
                        </a:rPr>
                        <a:t>POST without stable deduplication</a:t>
                      </a:r>
                    </a:p>
                  </a:txBody>
                  <a:tcPr marL="123825" marR="123825" marT="85725" marB="85725">
                    <a:solidFill>
                      <a:srgbClr val="FFFFFF"/>
                    </a:solidFill>
                  </a:tcPr>
                </a:tc>
                <a:tc>
                  <a:txBody>
                    <a:bodyPr>
                      <a:noAutofit/>
                    </a:bodyPr>
                    <a:lstStyle/>
                    <a:p>
                      <a:r>
                        <a:rPr sz="1800" b="0">
                          <a:solidFill>
                            <a:srgbClr val="183D32"/>
                          </a:solidFill>
                          <a:latin typeface="Helvetica Neue"/>
                          <a:ea typeface="Helvetica Neue"/>
                          <a:cs typeface="Helvetica Neue"/>
                        </a:rPr>
                        <a:t>Test retries with the same ID</a:t>
                      </a:r>
                    </a:p>
                  </a:txBody>
                  <a:tcPr marL="123825" marR="123825" marT="85725" marB="85725">
                    <a:solidFill>
                      <a:srgbClr val="FFFFFF"/>
                    </a:solidFill>
                  </a:tcPr>
                </a:tc>
              </a:tr>
              <a:tr h="714375">
                <a:tc>
                  <a:txBody>
                    <a:bodyPr>
                      <a:noAutofit/>
                    </a:bodyPr>
                    <a:lstStyle/>
                    <a:p>
                      <a:r>
                        <a:rPr sz="1800" b="0">
                          <a:solidFill>
                            <a:srgbClr val="183D32"/>
                          </a:solidFill>
                          <a:latin typeface="Helvetica Neue"/>
                          <a:ea typeface="Helvetica Neue"/>
                          <a:cs typeface="Helvetica Neue"/>
                        </a:rPr>
                        <a:t>Measurement</a:t>
                      </a:r>
                    </a:p>
                  </a:txBody>
                  <a:tcPr marL="123825" marR="123825" marT="85725" marB="85725">
                    <a:solidFill>
                      <a:srgbClr val="E6EBDD"/>
                    </a:solidFill>
                  </a:tcPr>
                </a:tc>
                <a:tc>
                  <a:txBody>
                    <a:bodyPr>
                      <a:noAutofit/>
                    </a:bodyPr>
                    <a:lstStyle/>
                    <a:p>
                      <a:r>
                        <a:rPr sz="1800" b="0">
                          <a:solidFill>
                            <a:srgbClr val="183D32"/>
                          </a:solidFill>
                          <a:latin typeface="Helvetica Neue"/>
                          <a:ea typeface="Helvetica Neue"/>
                          <a:cs typeface="Helvetica Neue"/>
                        </a:rPr>
                        <a:t>Query timings and API caching</a:t>
                      </a:r>
                    </a:p>
                  </a:txBody>
                  <a:tcPr marL="123825" marR="123825" marT="85725" marB="85725">
                    <a:solidFill>
                      <a:srgbClr val="E6EBDD"/>
                    </a:solidFill>
                  </a:tcPr>
                </a:tc>
                <a:tc>
                  <a:txBody>
                    <a:bodyPr>
                      <a:noAutofit/>
                    </a:bodyPr>
                    <a:lstStyle/>
                    <a:p>
                      <a:r>
                        <a:rPr sz="1800" b="0">
                          <a:solidFill>
                            <a:srgbClr val="183D32"/>
                          </a:solidFill>
                          <a:latin typeface="Helvetica Neue"/>
                          <a:ea typeface="Helvetica Neue"/>
                          <a:cs typeface="Helvetica Neue"/>
                        </a:rPr>
                        <a:t>Measure ingestion, lag and p95/p99</a:t>
                      </a:r>
                    </a:p>
                  </a:txBody>
                  <a:tcPr marL="123825" marR="123825" marT="85725" marB="85725">
                    <a:solidFill>
                      <a:srgbClr val="E6EBDD"/>
                    </a:solidFill>
                  </a:tcPr>
                </a:tc>
              </a:tr>
            </a:tbl>
          </a:graphicData>
        </a:graphic>
      </p:graphicFrame>
      <p:sp>
        <p:nvSpPr>
          <p:cNvPr id="4" name="">
            <a:extLst xmlns:a="http://schemas.openxmlformats.org/drawingml/2006/main">
              <a:ext uri="{FF2B5EF4-FFF2-40B4-BE49-F238E27FC236}">
                <a16:creationId xmlns:a16="http://schemas.microsoft.com/office/drawing/2014/main" id="{69BD38AA-80BE-4D40-B335-565F9BEEFADC}"/>
              </a:ext>
            </a:extLst>
          </p:cNvPr>
          <p:cNvSpPr>
            <a:spLocks xmlns:a="http://schemas.openxmlformats.org/drawingml/2006/main" noGrp="1"/>
          </p:cNvSpPr>
          <p:nvPr/>
        </p:nvSpPr>
        <p:spPr>
          <a:xfrm xmlns:a="http://schemas.openxmlformats.org/drawingml/2006/main">
            <a:off x="685800" y="61531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695F"/>
                </a:solidFill>
                <a:latin typeface="Helvetica Neue"/>
                <a:ea typeface="Helvetica Neue"/>
                <a:cs typeface="Helvetica Neue"/>
              </a:defRPr>
            </a:pPr>
            <a:r>
              <a:rPr sz="1575" b="0">
                <a:solidFill>
                  <a:srgbClr val="55695F"/>
                </a:solidFill>
                <a:latin typeface="Helvetica Neue"/>
                <a:ea typeface="Helvetica Neue"/>
                <a:cs typeface="Helvetica Neue"/>
              </a:rPr>
              <a:t>Columnar OLAP with SQL. CAP behaviour depends on topology and configuration.</a:t>
            </a:r>
          </a:p>
        </p:txBody>
      </p:sp>
      <p:sp>
        <p:nvSpPr>
          <p:cNvPr id="5" name="">
            <a:extLst xmlns:a="http://schemas.openxmlformats.org/drawingml/2006/main">
              <a:ext uri="{FF2B5EF4-FFF2-40B4-BE49-F238E27FC236}">
                <a16:creationId xmlns:a16="http://schemas.microsoft.com/office/drawing/2014/main" id="{F487732D-79A2-4E53-BF99-8FE52833A998}"/>
              </a:ext>
            </a:extLst>
          </p:cNvPr>
          <p:cNvSpPr>
            <a:spLocks xmlns:a="http://schemas.openxmlformats.org/drawingml/2006/main" noGrp="1"/>
          </p:cNvSpPr>
          <p:nvPr/>
        </p:nvSpPr>
        <p:spPr>
          <a:xfrm xmlns:a="http://schemas.openxmlformats.org/drawingml/2006/main">
            <a:off x="114776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695F"/>
                </a:solidFill>
                <a:latin typeface="Helvetica Neue"/>
                <a:ea typeface="Helvetica Neue"/>
                <a:cs typeface="Helvetica Neue"/>
              </a:defRPr>
            </a:pPr>
            <a:r>
              <a:rPr sz="1350" b="0">
                <a:solidFill>
                  <a:srgbClr val="55695F"/>
                </a:solidFill>
                <a:latin typeface="Helvetica Neue"/>
                <a:ea typeface="Helvetica Neue"/>
                <a:cs typeface="Helvetica Neue"/>
              </a:rPr>
              <a:t>5</a:t>
            </a:r>
          </a:p>
        </p:txBody>
      </p:sp>
    </p:spTree>
    <p:extLst>
      <p:ext uri="{BB962C8B-B14F-4D97-AF65-F5344CB8AC3E}">
        <p14:creationId xmlns:p14="http://schemas.microsoft.com/office/powerpoint/2010/main" val="297908354"/>
      </p:ext>
    </p:extLst>
  </p:cSld>
</p:sld>
</file>

<file path=ppt/slides/slide6.xml><?xml version="1.0" encoding="utf-8"?>
<p:sld xmlns:p="http://schemas.openxmlformats.org/presentationml/2006/main">
  <p:cSld>
    <p:bg>
      <p:bgPr>
        <a:solidFill xmlns:a="http://schemas.openxmlformats.org/drawingml/2006/main">
          <a:srgbClr val="183D3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A93F67F-CA0A-42ED-942C-9D9CC1AA4EBB}"/>
              </a:ext>
            </a:extLst>
          </p:cNvPr>
          <p:cNvSpPr>
            <a:spLocks xmlns:a="http://schemas.openxmlformats.org/drawingml/2006/main" noGrp="1"/>
          </p:cNvSpPr>
          <p:nvPr/>
        </p:nvSpPr>
        <p:spPr>
          <a:xfrm xmlns:a="http://schemas.openxmlformats.org/drawingml/2006/main">
            <a:off x="685800" y="4572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Next milestone</a:t>
            </a:r>
          </a:p>
        </p:txBody>
      </p:sp>
      <p:sp>
        <p:nvSpPr>
          <p:cNvPr id="2" name="">
            <a:extLst xmlns:a="http://schemas.openxmlformats.org/drawingml/2006/main">
              <a:ext uri="{FF2B5EF4-FFF2-40B4-BE49-F238E27FC236}">
                <a16:creationId xmlns:a16="http://schemas.microsoft.com/office/drawing/2014/main" id="{74F8C488-9E6C-48DA-862F-8ADF987092CD}"/>
              </a:ext>
            </a:extLst>
          </p:cNvPr>
          <p:cNvSpPr>
            <a:spLocks xmlns:a="http://schemas.openxmlformats.org/drawingml/2006/main" noGrp="1"/>
          </p:cNvSpPr>
          <p:nvPr/>
        </p:nvSpPr>
        <p:spPr>
          <a:xfrm xmlns:a="http://schemas.openxmlformats.org/drawingml/2006/main">
            <a:off x="685800" y="190500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Connect the mini app and traffic generator to app_events</a:t>
            </a:r>
          </a:p>
        </p:txBody>
      </p:sp>
      <p:sp>
        <p:nvSpPr>
          <p:cNvPr id="3" name="">
            <a:extLst xmlns:a="http://schemas.openxmlformats.org/drawingml/2006/main">
              <a:ext uri="{FF2B5EF4-FFF2-40B4-BE49-F238E27FC236}">
                <a16:creationId xmlns:a16="http://schemas.microsoft.com/office/drawing/2014/main" id="{3039CBE9-5BA9-4167-85A0-A2180CDECD9D}"/>
              </a:ext>
            </a:extLst>
          </p:cNvPr>
          <p:cNvSpPr>
            <a:spLocks xmlns:a="http://schemas.openxmlformats.org/drawingml/2006/main" noGrp="1"/>
          </p:cNvSpPr>
          <p:nvPr/>
        </p:nvSpPr>
        <p:spPr>
          <a:xfrm xmlns:a="http://schemas.openxmlformats.org/drawingml/2006/main">
            <a:off x="685800" y="277177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Retry a submission without duplicating its event or rollup count</a:t>
            </a:r>
          </a:p>
        </p:txBody>
      </p:sp>
      <p:sp>
        <p:nvSpPr>
          <p:cNvPr id="4" name="">
            <a:extLst xmlns:a="http://schemas.openxmlformats.org/drawingml/2006/main">
              <a:ext uri="{FF2B5EF4-FFF2-40B4-BE49-F238E27FC236}">
                <a16:creationId xmlns:a16="http://schemas.microsoft.com/office/drawing/2014/main" id="{E679CB02-09B1-437A-B775-E3716F4994AB}"/>
              </a:ext>
            </a:extLst>
          </p:cNvPr>
          <p:cNvSpPr>
            <a:spLocks xmlns:a="http://schemas.openxmlformats.org/drawingml/2006/main" noGrp="1"/>
          </p:cNvSpPr>
          <p:nvPr/>
        </p:nvSpPr>
        <p:spPr>
          <a:xfrm xmlns:a="http://schemas.openxmlformats.org/drawingml/2006/main">
            <a:off x="685800" y="363855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Measure the workload and reproduce the setup on another machine</a:t>
            </a:r>
          </a:p>
        </p:txBody>
      </p:sp>
      <p:sp>
        <p:nvSpPr>
          <p:cNvPr id="5" name="">
            <a:extLst xmlns:a="http://schemas.openxmlformats.org/drawingml/2006/main">
              <a:ext uri="{FF2B5EF4-FFF2-40B4-BE49-F238E27FC236}">
                <a16:creationId xmlns:a16="http://schemas.microsoft.com/office/drawing/2014/main" id="{069FC72B-9D63-4238-8D9A-23DD87289AD0}"/>
              </a:ext>
            </a:extLst>
          </p:cNvPr>
          <p:cNvSpPr>
            <a:spLocks xmlns:a="http://schemas.openxmlformats.org/drawingml/2006/main" noGrp="1"/>
          </p:cNvSpPr>
          <p:nvPr/>
        </p:nvSpPr>
        <p:spPr>
          <a:xfrm xmlns:a="http://schemas.openxmlformats.org/drawingml/2006/main">
            <a:off x="685800" y="61531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DDE8DB"/>
                </a:solidFill>
                <a:latin typeface="Helvetica Neue"/>
                <a:ea typeface="Helvetica Neue"/>
                <a:cs typeface="Helvetica Neue"/>
              </a:defRPr>
            </a:pPr>
            <a:r>
              <a:rPr sz="1575" b="0">
                <a:solidFill>
                  <a:srgbClr val="DDE8DB"/>
                </a:solidFill>
                <a:latin typeface="Helvetica Neue"/>
                <a:ea typeface="Helvetica Neue"/>
                <a:cs typeface="Helvetica Neue"/>
              </a:rPr>
              <a:t>The data lab works. The integrated fictional platform is our next milestone.</a:t>
            </a:r>
          </a:p>
        </p:txBody>
      </p:sp>
      <p:sp>
        <p:nvSpPr>
          <p:cNvPr id="6" name="">
            <a:extLst xmlns:a="http://schemas.openxmlformats.org/drawingml/2006/main">
              <a:ext uri="{FF2B5EF4-FFF2-40B4-BE49-F238E27FC236}">
                <a16:creationId xmlns:a16="http://schemas.microsoft.com/office/drawing/2014/main" id="{E021AC0C-F0A9-4C93-9DF0-DAE4869CEE08}"/>
              </a:ext>
            </a:extLst>
          </p:cNvPr>
          <p:cNvSpPr>
            <a:spLocks xmlns:a="http://schemas.openxmlformats.org/drawingml/2006/main" noGrp="1"/>
          </p:cNvSpPr>
          <p:nvPr/>
        </p:nvSpPr>
        <p:spPr>
          <a:xfrm xmlns:a="http://schemas.openxmlformats.org/drawingml/2006/main">
            <a:off x="114776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DE8DB"/>
                </a:solidFill>
                <a:latin typeface="Helvetica Neue"/>
                <a:ea typeface="Helvetica Neue"/>
                <a:cs typeface="Helvetica Neue"/>
              </a:defRPr>
            </a:pPr>
            <a:r>
              <a:rPr sz="1350" b="0">
                <a:solidFill>
                  <a:srgbClr val="DDE8DB"/>
                </a:solidFill>
                <a:latin typeface="Helvetica Neue"/>
                <a:ea typeface="Helvetica Neue"/>
                <a:cs typeface="Helvetica Neue"/>
              </a:rPr>
              <a:t>6</a:t>
            </a:r>
          </a:p>
        </p:txBody>
      </p:sp>
    </p:spTree>
    <p:extLst>
      <p:ext uri="{BB962C8B-B14F-4D97-AF65-F5344CB8AC3E}">
        <p14:creationId xmlns:p14="http://schemas.microsoft.com/office/powerpoint/2010/main" val="3290229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2026-10-05T14:25:47.7870000Z</dcterms:created>
  <dcterms:modified xsi:type="dcterms:W3CDTF">2026-10-05T14:25:47.7870000Z</dcterms:modified>
</coreProperties>
</file>