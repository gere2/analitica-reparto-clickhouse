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c9625cac3b04e33" /><Relationship Type="http://schemas.openxmlformats.org/officeDocument/2006/relationships/extended-properties" Target="/docProps/app.xml" Id="Rd4436cb6efad4a1a" /><Relationship Type="http://schemas.openxmlformats.org/officeDocument/2006/relationships/officeDocument" Target="/ppt/presentation.xml" Id="R0fd8fe5c4f674eb0" /></Relationships>
</file>

<file path=ppt/presentation.xml><?xml version="1.0" encoding="utf-8"?>
<p:presentation xmlns:p="http://schemas.openxmlformats.org/presentationml/2006/main">
  <p:sldMasterIdLst>
    <p:sldMasterId xmlns:r="http://schemas.openxmlformats.org/officeDocument/2006/relationships" id="2147483648" r:id="R0d1ef3f06b354bf1"/>
  </p:sldMasterIdLst>
  <p:notesMasterIdLst>
    <p:notesMasterId xmlns:r="http://schemas.openxmlformats.org/officeDocument/2006/relationships" r:id="R7f634c1fc23e4eff"/>
  </p:notesMasterIdLst>
  <p:sldIdLst>
    <p:sldId xmlns:r="http://schemas.openxmlformats.org/officeDocument/2006/relationships" id="256" r:id="R60422db534934c74"/>
    <p:sldId xmlns:r="http://schemas.openxmlformats.org/officeDocument/2006/relationships" id="257" r:id="R0a4575f9619549b9"/>
    <p:sldId xmlns:r="http://schemas.openxmlformats.org/officeDocument/2006/relationships" id="258" r:id="R29a020096d734fd6"/>
    <p:sldId xmlns:r="http://schemas.openxmlformats.org/officeDocument/2006/relationships" id="259" r:id="R97bd3daa374f45c8"/>
    <p:sldId xmlns:r="http://schemas.openxmlformats.org/officeDocument/2006/relationships" id="260" r:id="R533870ea5e3747dc"/>
    <p:sldId xmlns:r="http://schemas.openxmlformats.org/officeDocument/2006/relationships" id="261" r:id="R1f342cfab0e3493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4cee76c01af4d09" /><Relationship Type="http://schemas.openxmlformats.org/officeDocument/2006/relationships/slideMaster" Target="/ppt/slideMasters/slideMaster1.xml" Id="R0d1ef3f06b354bf1" /><Relationship Type="http://schemas.openxmlformats.org/officeDocument/2006/relationships/notesMaster" Target="/ppt/notesMasters/notesMaster1.xml" Id="R7f634c1fc23e4eff" /><Relationship Type="http://schemas.openxmlformats.org/officeDocument/2006/relationships/presProps" Target="/ppt/presProps.xml" Id="Rdd2f84f00d5c4254" /><Relationship Type="http://schemas.openxmlformats.org/officeDocument/2006/relationships/tableStyles" Target="/ppt/tableStyles.xml" Id="Red263dccc5ae4c6c" /><Relationship Type="http://schemas.openxmlformats.org/officeDocument/2006/relationships/slide" Target="/ppt/slides/slide1.xml" Id="R60422db534934c74" /><Relationship Type="http://schemas.openxmlformats.org/officeDocument/2006/relationships/slide" Target="/ppt/slides/slide2.xml" Id="R0a4575f9619549b9" /><Relationship Type="http://schemas.openxmlformats.org/officeDocument/2006/relationships/slide" Target="/ppt/slides/slide3.xml" Id="R29a020096d734fd6" /><Relationship Type="http://schemas.openxmlformats.org/officeDocument/2006/relationships/slide" Target="/ppt/slides/slide4.xml" Id="R97bd3daa374f45c8" /><Relationship Type="http://schemas.openxmlformats.org/officeDocument/2006/relationships/slide" Target="/ppt/slides/slide5.xml" Id="R533870ea5e3747dc" /><Relationship Type="http://schemas.openxmlformats.org/officeDocument/2006/relationships/slide" Target="/ppt/slides/slide6.xml" Id="R1f342cfab0e3493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40257d48f940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e38cd2cb7314622" /><Relationship Type="http://schemas.openxmlformats.org/officeDocument/2006/relationships/notesMaster" Target="/ppt/notesMasters/notesMaster1.xml" Id="R0c3eeb42d2584fe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516ad7e85743eb" /><Relationship Type="http://schemas.openxmlformats.org/officeDocument/2006/relationships/notesMaster" Target="/ppt/notesMasters/notesMaster1.xml" Id="Ra9bcb063d3fa4c33" /></Relationships>
</file>

<file path=ppt/notesSlides/_rels/notesSlide3.xml.rels>&#65279;<?xml version="1.0" encoding="utf-8"?><Relationships xmlns="http://schemas.openxmlformats.org/package/2006/relationships"><Relationship Type="http://schemas.openxmlformats.org/officeDocument/2006/relationships/slide" Target="/ppt/slides/slide3.xml" Id="Re9b989db6e724b07" /><Relationship Type="http://schemas.openxmlformats.org/officeDocument/2006/relationships/notesMaster" Target="/ppt/notesMasters/notesMaster1.xml" Id="Rf5d28df4761746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50f83a3fcd024d42" /><Relationship Type="http://schemas.openxmlformats.org/officeDocument/2006/relationships/notesMaster" Target="/ppt/notesMasters/notesMaster1.xml" Id="Rf44511cf84fa47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5c1dc621ae43e1" /><Relationship Type="http://schemas.openxmlformats.org/officeDocument/2006/relationships/notesMaster" Target="/ppt/notesMasters/notesMaster1.xml" Id="R15d84d3755394b29" /></Relationships>
</file>

<file path=ppt/notesSlides/_rels/notesSlide6.xml.rels>&#65279;<?xml version="1.0" encoding="utf-8"?><Relationships xmlns="http://schemas.openxmlformats.org/package/2006/relationships"><Relationship Type="http://schemas.openxmlformats.org/officeDocument/2006/relationships/slide" Target="/ppt/slides/slide6.xml" Id="R6f977d61980c4c57" /><Relationship Type="http://schemas.openxmlformats.org/officeDocument/2006/relationships/notesMaster" Target="/ppt/notesMasters/notesMaster1.xml" Id="Ra7314b026c454d7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Estamos construyendo la infraestructura analítica de una plataforma ficticia de comida a domicilio. El objetivo es conservar muchos eventos de navegación y representar su actividad en un dashboard. El laboratorio ya tiene 628 millones de eventos públicos de OTTO y REES46. Ele.me aporta muestras del sector y Glovo un catálogo. La miniapp de reparto y su contrato común siguen pendientes. La portada es una ilustración conceptual generada con IA.</a:t>
            </a:r>
          </a:p>
          <a:p xmlns:a="http://schemas.openxmlformats.org/drawingml/2006/main">
            <a:r>
              <a:t/>
            </a:r>
          </a:p>
          <a:p xmlns:a="http://schemas.openxmlformats.org/drawingml/2006/main">
            <a:r>
              <a:t>Tiempo previsto: 30 segundos.</a:t>
            </a:r>
          </a:p>
          <a:p xmlns:a="http://schemas.openxmlformats.org/drawingml/2006/main">
            <a:r>
              <a:t/>
            </a:r>
          </a:p>
          <a:p xmlns:a="http://schemas.openxmlformats.org/drawingml/2006/main">
            <a:r>
              <a:t>Fuentes:</a:t>
            </a:r>
          </a:p>
          <a:p xmlns:a="http://schemas.openxmlformats.org/drawingml/2006/main">
            <a:r>
              <a:t>docs/PLATAFORMA-FICTICIA.md</a:t>
            </a:r>
          </a:p>
          <a:p xmlns:a="http://schemas.openxmlformats.org/drawingml/2006/main">
            <a:r>
              <a:t>docs/ESTADO-EQUIPO.md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estructura coincide con la separación frontend, backend y datos de los apuntes. Los scripts cargan lotes y la API Python consulta ClickHouse por HTTP. OTTO guarda una fila por evento. Ele.me guarda una muestra de recomendación y su etiqueta, y pasa por staging antes de publicar un archivo completo. Conservamos cada fuente por separado. La vista materializada alimenta el agregado diario de OTTO. Docker aporta persistencia y un healthcheck. Hoy la API corre en el host y hay un único nodo. El replay mantiene la fecha histórica y añade el momento de ingesta.</a:t>
            </a:r>
          </a:p>
          <a:p xmlns:a="http://schemas.openxmlformats.org/drawingml/2006/main">
            <a:r>
              <a:t/>
            </a:r>
          </a:p>
          <a:p xmlns:a="http://schemas.openxmlformats.org/drawingml/2006/main">
            <a:r>
              <a:t>Tiempo previsto: 45 segundos.</a:t>
            </a:r>
          </a:p>
          <a:p xmlns:a="http://schemas.openxmlformats.org/drawingml/2006/main">
            <a:r>
              <a:t/>
            </a:r>
          </a:p>
          <a:p xmlns:a="http://schemas.openxmlformats.org/drawingml/2006/main">
            <a:r>
              <a:t>Fuentes:</a:t>
            </a:r>
          </a:p>
          <a:p xmlns:a="http://schemas.openxmlformats.org/drawingml/2006/main">
            <a:r>
              <a:t>recursos/01_1_Components.md</a:t>
            </a:r>
          </a:p>
          <a:p xmlns:a="http://schemas.openxmlformats.org/drawingml/2006/main">
            <a:r>
              <a:t>recursos/01_3_Docker.md</a:t>
            </a:r>
          </a:p>
          <a:p xmlns:a="http://schemas.openxmlformats.org/drawingml/2006/main">
            <a:r>
              <a:t>sql/schema.sql</a:t>
            </a:r>
          </a:p>
          <a:p xmlns:a="http://schemas.openxmlformats.org/drawingml/2006/main">
            <a:r>
              <a:t>sql/eleme.sql</a:t>
            </a:r>
          </a:p>
          <a:p xmlns:a="http://schemas.openxmlformats.org/drawingml/2006/main">
            <a:r>
              <a:t>compose.yaml</a:t>
            </a:r>
          </a:p>
          <a:p xmlns:a="http://schemas.openxmlformats.org/drawingml/2006/main">
            <a:r>
              <a:t>dashboard.py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Proponemos app_events como tabla central del nuevo caso. Cada acción conserva un ID estable, una sesión, su hora, la hora de ingesta y el contexto. source_kind distingue simulación, acciones nuevas, histórico y replay. El diseño adapta la estructura a los accesos: filtrar procedencia, fecha, ciudad y acción. MergeTree organiza datos por columnas y partes. PARTITION BY agrupa meses dentro del nodo. ORDER BY ordena los datos y sostiene un índice primario disperso, sin imponer unicidad. El agregado diario contará eventos por dimensiones. La clave propuesta necesita medición. Para reintentar sin duplicar hace falta un protocolo de publicación, además del UUID. El DDL existe, pero todavía no está aplicado ni conectado a la miniapp.</a:t>
            </a:r>
          </a:p>
          <a:p xmlns:a="http://schemas.openxmlformats.org/drawingml/2006/main">
            <a:r>
              <a:t/>
            </a:r>
          </a:p>
          <a:p xmlns:a="http://schemas.openxmlformats.org/drawingml/2006/main">
            <a:r>
              <a:t>Tiempo previsto: 75 segundos.</a:t>
            </a:r>
          </a:p>
          <a:p xmlns:a="http://schemas.openxmlformats.org/drawingml/2006/main">
            <a:r>
              <a:t/>
            </a:r>
          </a:p>
          <a:p xmlns:a="http://schemas.openxmlformats.org/drawingml/2006/main">
            <a:r>
              <a:t>Fuentes:</a:t>
            </a:r>
          </a:p>
          <a:p xmlns:a="http://schemas.openxmlformats.org/drawingml/2006/main">
            <a:r>
              <a:t>sql/propuesta_delivery.sql</a:t>
            </a:r>
          </a:p>
          <a:p xmlns:a="http://schemas.openxmlformats.org/drawingml/2006/main">
            <a:r>
              <a:t>docs/ESTRUCTURA-BD.md</a:t>
            </a:r>
          </a:p>
          <a:p xmlns:a="http://schemas.openxmlformats.org/drawingml/2006/main">
            <a:r>
              <a:t>recursos/01_4_Cross_cutting_concerns.md</a:t>
            </a:r>
          </a:p>
          <a:p xmlns:a="http://schemas.openxmlformats.org/drawingml/2006/main">
            <a:r>
              <a:t>https://clickhouse.com/docs/reference/engines/table-engines/mergetree-family/mergetree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Esta comparación muestra una ventaja concreta para la carga analítica. Agrupar el histórico de 216 millones de eventos tardó 5,89 segundos. Consultar el agregado diario tardó 0,21 segundos. Ambas consultas devolvieron la misma respuesta. Son medianas de tres ejecuciones con la caché SQL desactivada. El agregado persistente reduce el trabajo de lectura y cálculo. SummingMergeTree puede conservar varias filas parciales por clave antes de fusionarlas, por eso usamos sum con GROUP BY. Seguimos la escalera de los apuntes: optimizar accesos y consultas antes de añadir nodos. Estos tiempos no comparan motores ni acreditan percentiles o capacidad de la API.</a:t>
            </a:r>
          </a:p>
          <a:p xmlns:a="http://schemas.openxmlformats.org/drawingml/2006/main">
            <a:r>
              <a:t/>
            </a:r>
          </a:p>
          <a:p xmlns:a="http://schemas.openxmlformats.org/drawingml/2006/main">
            <a:r>
              <a:t>Tiempo previsto: 50 segundos.</a:t>
            </a:r>
          </a:p>
          <a:p xmlns:a="http://schemas.openxmlformats.org/drawingml/2006/main">
            <a:r>
              <a:t/>
            </a:r>
          </a:p>
          <a:p xmlns:a="http://schemas.openxmlformats.org/drawingml/2006/main">
            <a:r>
              <a:t>Fuentes:</a:t>
            </a:r>
          </a:p>
          <a:p xmlns:a="http://schemas.openxmlformats.org/drawingml/2006/main">
            <a:r>
              <a:t>data/query-benchmark.json</a:t>
            </a:r>
          </a:p>
          <a:p xmlns:a="http://schemas.openxmlformats.org/drawingml/2006/main">
            <a:r>
              <a:t>docs/RESULTADOS.md</a:t>
            </a:r>
          </a:p>
          <a:p xmlns:a="http://schemas.openxmlformats.org/drawingml/2006/main">
            <a:r>
              <a:t>scripts/benchmark.py</a:t>
            </a:r>
          </a:p>
          <a:p xmlns:a="http://schemas.openxmlformats.org/drawingml/2006/main">
            <a:r>
              <a:t>recursos/01_1_Components.md</a:t>
            </a:r>
          </a:p>
          <a:p xmlns:a="http://schemas.openxmlformats.org/drawingml/2006/main">
            <a:r>
              <a:t>https://clickhouse.com/docs/reference/engines/table-engines/mergetree-family/summingmergetree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teoría nos ayuda a precisar qué hemos demostrado. Persistir en un volumen conserva datos al recrear un contenedor, pero no da alta disponibilidad. Particionar por fecha no distribuye datos entre máquinas. Tenemos un nodo sin réplica. Si más adelante replicamos, habrá que explicar la configuración y el retraso entre copias, sin etiquetar todo ClickHouse como CP o AP. La API de clics genera IDs en el servidor y un POST repetido puede insertar dos filas. Falta resolver idempotencia antes de contar esos eventos en una vista. Finalmente, los benchmarks actuales son de consultas. Debemos medir solicitudes, eventos por segundo y retraso hasta el panel bajo carga.</a:t>
            </a:r>
          </a:p>
          <a:p xmlns:a="http://schemas.openxmlformats.org/drawingml/2006/main">
            <a:r>
              <a:t/>
            </a:r>
          </a:p>
          <a:p xmlns:a="http://schemas.openxmlformats.org/drawingml/2006/main">
            <a:r>
              <a:t>Tiempo previsto: 55 segundos.</a:t>
            </a:r>
          </a:p>
          <a:p xmlns:a="http://schemas.openxmlformats.org/drawingml/2006/main">
            <a:r>
              <a:t/>
            </a:r>
          </a:p>
          <a:p xmlns:a="http://schemas.openxmlformats.org/drawingml/2006/main">
            <a:r>
              <a:t>Fuentes:</a:t>
            </a:r>
          </a:p>
          <a:p xmlns:a="http://schemas.openxmlformats.org/drawingml/2006/main">
            <a:r>
              <a:t>docs/REVISION-TEORIA.md</a:t>
            </a:r>
          </a:p>
          <a:p xmlns:a="http://schemas.openxmlformats.org/drawingml/2006/main">
            <a:r>
              <a:t>recursos/01_2_Concepts.md</a:t>
            </a:r>
          </a:p>
          <a:p xmlns:a="http://schemas.openxmlformats.org/drawingml/2006/main">
            <a:r>
              <a:t>recursos/01_4_Cross_cutting_concerns.md</a:t>
            </a:r>
          </a:p>
          <a:p xmlns:a="http://schemas.openxmlformats.org/drawingml/2006/main">
            <a:r>
              <a:t>dashboard.py</a:t>
            </a:r>
          </a:p>
          <a:p xmlns:a="http://schemas.openxmlformats.org/drawingml/2006/main">
            <a:r>
              <a:t>https://clickhouse.com/docs/reference/engines/table-engines/mergetree-family/replication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siguiente entrega conectará el recorrido mínimo de la app con el contrato propuesto y un generador reproducible. Su criterio de aceptación será recorrer la app, recibir eventos, repetir un envío sin duplicar el recuento y ver el agregado en el dashboard. También mediremos retraso y errores y ensayaremos el entorno en otro equipo. El laboratorio ya está operativo y los datasets aportan volumen suficiente. Priorizaremos estas garantías antes de descargar más datos o añadir Kafka y microservicios. Dejamos el dashboard preparado para abrirlo después si el profesor quiere ver el avance.</a:t>
            </a:r>
          </a:p>
          <a:p xmlns:a="http://schemas.openxmlformats.org/drawingml/2006/main">
            <a:r>
              <a:t/>
            </a:r>
          </a:p>
          <a:p xmlns:a="http://schemas.openxmlformats.org/drawingml/2006/main">
            <a:r>
              <a:t>Tiempo previsto: 45 segundos.</a:t>
            </a:r>
          </a:p>
          <a:p xmlns:a="http://schemas.openxmlformats.org/drawingml/2006/main">
            <a:r>
              <a:t/>
            </a:r>
          </a:p>
          <a:p xmlns:a="http://schemas.openxmlformats.org/drawingml/2006/main">
            <a:r>
              <a:t>Fuentes:</a:t>
            </a:r>
          </a:p>
          <a:p xmlns:a="http://schemas.openxmlformats.org/drawingml/2006/main">
            <a:r>
              <a:t>docs/REVISION-TEORIA.md</a:t>
            </a:r>
          </a:p>
          <a:p xmlns:a="http://schemas.openxmlformats.org/drawingml/2006/main">
            <a:r>
              <a:t>docs/PLATAFORMA-FICTICIA.md</a:t>
            </a:r>
          </a:p>
          <a:p xmlns:a="http://schemas.openxmlformats.org/drawingml/2006/main">
            <a:r>
              <a:t>recursos/guia_bbdda.pdf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31629cd69ea482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1045eccb5540db" /><Relationship Type="http://schemas.openxmlformats.org/officeDocument/2006/relationships/slideLayout" Target="/ppt/slideLayouts/slideLayout1.xml" Id="R2390e4acf48b46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390e4acf48b46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e3aa8175414f02" /><Relationship Type="http://schemas.openxmlformats.org/officeDocument/2006/relationships/image" Target="/ppt/media/image.png" Id="R2cfcb84182eb423a" /><Relationship Type="http://schemas.openxmlformats.org/officeDocument/2006/relationships/notesSlide" Target="/ppt/notesSlides/notesSlide1.xml" Id="R9c2fd32fef744ae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82a25be986c421d" /><Relationship Type="http://schemas.openxmlformats.org/officeDocument/2006/relationships/notesSlide" Target="/ppt/notesSlides/notesSlide2.xml" Id="R6efc70e1259649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ca62dd12e454037" /><Relationship Type="http://schemas.openxmlformats.org/officeDocument/2006/relationships/notesSlide" Target="/ppt/notesSlides/notesSlide3.xml" Id="R49c2ebc8dc9e4e1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9bf48c047244890" /><Relationship Type="http://schemas.openxmlformats.org/officeDocument/2006/relationships/chart" Target="/ppt/slides/charts/chart1.xml" Id="R88aeb28fa1984c8e" /><Relationship Type="http://schemas.openxmlformats.org/officeDocument/2006/relationships/notesSlide" Target="/ppt/notesSlides/notesSlide4.xml" Id="R08f85c7ac7ee4bd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522e36696564b78" /><Relationship Type="http://schemas.openxmlformats.org/officeDocument/2006/relationships/notesSlide" Target="/ppt/notesSlides/notesSlide5.xml" Id="R1e17a4a693a443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539900a7bf34e0c" /><Relationship Type="http://schemas.openxmlformats.org/officeDocument/2006/relationships/notesSlide" Target="/ppt/notesSlides/notesSlide6.xml" Id="R7e28d978d7a9408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55695F"/>
                </a:solidFill>
                <a:latin typeface="Helvetica Neue"/>
                <a:ea typeface="Helvetica Neue"/>
                <a:cs typeface="Helvetica Neue"/>
              </a:rPr>
              <a:t>Tiempo de consulta (s)</a:t>
            </a:r>
          </a:p>
        </c:rich>
      </c:tx>
      <c:overlay val="0"/>
      <c:txPr>
        <a:bodyPr xmlns:a="http://schemas.openxmlformats.org/drawingml/2006/main" anchorCtr="1"/>
        <a:lstStyle xmlns:a="http://schemas.openxmlformats.org/drawingml/2006/main"/>
        <a:p xmlns:a="http://schemas.openxmlformats.org/drawingml/2006/main">
          <a:pPr>
            <a:defRPr sz="1800">
              <a:solidFill>
                <a:srgbClr val="55695F"/>
              </a:solidFill>
              <a:latin typeface="Helvetica Neue"/>
              <a:ea typeface="Helvetica Neue"/>
              <a:cs typeface="Helvetica Neue"/>
            </a:defRPr>
          </a:pPr>
        </a:p>
      </c:txPr>
    </c:title>
    <c:plotArea>
      <c:barChart>
        <c:barDir val="bar"/>
        <c:grouping val="clustered"/>
        <c:varyColors val="0"/>
        <c:ser>
          <c:idx val="0"/>
          <c:order val="0"/>
          <c:tx>
            <c:v>Segundos</c:v>
          </c:tx>
          <c:spPr>
            <a:solidFill xmlns:a="http://schemas.openxmlformats.org/drawingml/2006/main">
              <a:srgbClr val="4C7D5E"/>
            </a:solidFill>
          </c:spPr>
          <c:cat>
            <c:strRef>
              <c:f>'Chart Data'!$A$2:$A$3</c:f>
              <c:strCache>
                <c:ptCount val="2"/>
                <c:pt idx="0">
                  <c:v>Histórico</c:v>
                </c:pt>
                <c:pt idx="1">
                  <c:v>Agregado</c:v>
                </c:pt>
              </c:strCache>
            </c:strRef>
          </c:cat>
          <c:val>
            <c:numRef>
              <c:f>'Chart Data'!$B$2:$B$3</c:f>
              <c:numCache>
                <c:formatCode>0.0</c:formatCode>
                <c:ptCount val="2"/>
                <c:pt idx="0">
                  <c:v>5.8908</c:v>
                </c:pt>
                <c:pt idx="1">
                  <c:v>0.2113</c:v>
                </c:pt>
              </c:numCache>
            </c:numRef>
          </c:val>
        </c:ser>
        <c:dLbls>
          <c:txPr>
            <a:bodyPr xmlns:a="http://schemas.openxmlformats.org/drawingml/2006/main" anchorCtr="1"/>
            <a:lstStyle xmlns:a="http://schemas.openxmlformats.org/drawingml/2006/main"/>
            <a:p xmlns:a="http://schemas.openxmlformats.org/drawingml/2006/main">
              <a:pPr>
                <a:defRPr sz="1650" b="1">
                  <a:solidFill>
                    <a:srgbClr val="183D32"/>
                  </a:solidFill>
                  <a:latin typeface="Helvetica Neue"/>
                  <a:ea typeface="Helvetica Neue"/>
                  <a:cs typeface="Helvetica Neue"/>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D32"/>
                </a:solidFill>
                <a:latin typeface="Helvetica Neue"/>
                <a:ea typeface="Helvetica Neue"/>
                <a:cs typeface="Helvetica Neue"/>
              </a:defRPr>
            </a:pPr>
          </a:p>
        </c:txPr>
        <c:crossAx val="48672768"/>
      </c:catAx>
      <c:valAx>
        <c:axId val="48672768"/>
        <c:scaling>
          <c:orientation val="minMax"/>
          <c:max val="6.5"/>
          <c:min val="0"/>
        </c:scaling>
        <c:delete val="0"/>
        <c:axPos val="b"/>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5695F"/>
                </a:solidFill>
                <a:latin typeface="Helvetica Neue"/>
                <a:ea typeface="Helvetica Neue"/>
                <a:cs typeface="Helvetica Neue"/>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FB9AE30-7800-4492-B10E-C377E81C4190}"/>
              </a:ext>
            </a:extLst>
          </p:cNvPr>
          <p:cNvSpPr>
            <a:spLocks xmlns:a="http://schemas.openxmlformats.org/drawingml/2006/main" noGrp="1"/>
          </p:cNvSpPr>
          <p:nvPr/>
        </p:nvSpPr>
        <p:spPr>
          <a:xfrm xmlns:a="http://schemas.openxmlformats.org/drawingml/2006/main">
            <a:off x="685800" y="1285875"/>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83D32"/>
                </a:solidFill>
                <a:latin typeface="Helvetica Neue"/>
                <a:ea typeface="Helvetica Neue"/>
                <a:cs typeface="Helvetica Neue"/>
              </a:defRPr>
            </a:pPr>
            <a:r>
              <a:rPr sz="5100" b="1">
                <a:solidFill>
                  <a:srgbClr val="183D32"/>
                </a:solidFill>
                <a:latin typeface="Helvetica Neue"/>
                <a:ea typeface="Helvetica Neue"/>
                <a:cs typeface="Helvetica Neue"/>
              </a:rPr>
              <a:t>Delivery Atlas</a:t>
            </a:r>
          </a:p>
        </p:txBody>
      </p:sp>
      <p:sp>
        <p:nvSpPr>
          <p:cNvPr id="2" name="">
            <a:extLst xmlns:a="http://schemas.openxmlformats.org/drawingml/2006/main">
              <a:ext uri="{FF2B5EF4-FFF2-40B4-BE49-F238E27FC236}">
                <a16:creationId xmlns:a16="http://schemas.microsoft.com/office/drawing/2014/main" id="{82068621-1E32-4389-AE29-1BB6CEEFBF57}"/>
              </a:ext>
            </a:extLst>
          </p:cNvPr>
          <p:cNvSpPr>
            <a:spLocks xmlns:a="http://schemas.openxmlformats.org/drawingml/2006/main" noGrp="1"/>
          </p:cNvSpPr>
          <p:nvPr/>
        </p:nvSpPr>
        <p:spPr>
          <a:xfrm xmlns:a="http://schemas.openxmlformats.org/drawingml/2006/main">
            <a:off x="685800" y="2667000"/>
            <a:ext cx="6286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Analítica de navegación</a:t>
            </a:r>
          </a:p>
          <a:p xmlns:a="http://schemas.openxmlformats.org/drawingml/2006/main">
            <a:pPr>
              <a:defRPr sz="3225" b="0">
                <a:solidFill>
                  <a:srgbClr val="183D32"/>
                </a:solidFill>
                <a:latin typeface="Helvetica Neue"/>
                <a:ea typeface="Helvetica Neue"/>
                <a:cs typeface="Helvetica Neue"/>
              </a:defRPr>
            </a:pPr>
            <a:r>
              <a:rPr sz="3225" b="0">
                <a:solidFill>
                  <a:srgbClr val="183D32"/>
                </a:solidFill>
                <a:latin typeface="Helvetica Neue"/>
                <a:ea typeface="Helvetica Neue"/>
                <a:cs typeface="Helvetica Neue"/>
              </a:rPr>
              <a:t>para una app de reparto</a:t>
            </a:r>
          </a:p>
        </p:txBody>
      </p:sp>
      <p:sp>
        <p:nvSpPr>
          <p:cNvPr id="3" name="">
            <a:extLst xmlns:a="http://schemas.openxmlformats.org/drawingml/2006/main">
              <a:ext uri="{FF2B5EF4-FFF2-40B4-BE49-F238E27FC236}">
                <a16:creationId xmlns:a16="http://schemas.microsoft.com/office/drawing/2014/main" id="{043A3F1C-CAAB-4DEB-9FE6-B92098509CE3}"/>
              </a:ext>
            </a:extLst>
          </p:cNvPr>
          <p:cNvSpPr>
            <a:spLocks xmlns:a="http://schemas.openxmlformats.org/drawingml/2006/main" noGrp="1"/>
          </p:cNvSpPr>
          <p:nvPr/>
        </p:nvSpPr>
        <p:spPr>
          <a:xfrm xmlns:a="http://schemas.openxmlformats.org/drawingml/2006/main">
            <a:off x="685800" y="54292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5695F"/>
                </a:solidFill>
                <a:latin typeface="Helvetica Neue"/>
                <a:ea typeface="Helvetica Neue"/>
                <a:cs typeface="Helvetica Neue"/>
              </a:defRPr>
            </a:pPr>
            <a:r>
              <a:rPr sz="1650" b="0">
                <a:solidFill>
                  <a:srgbClr val="55695F"/>
                </a:solidFill>
                <a:latin typeface="Helvetica Neue"/>
                <a:ea typeface="Helvetica Neue"/>
                <a:cs typeface="Helvetica Neue"/>
              </a:rPr>
              <a:t>BD2 · Avance de 5 minutos · 5 de octubre de 2026</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2cfcb84182eb423a"/>
          <a:stretch xmlns:a="http://schemas.openxmlformats.org/drawingml/2006/main"/>
        </p:blipFill>
        <p:spPr>
          <a:xfrm xmlns:a="http://schemas.openxmlformats.org/drawingml/2006/main">
            <a:off x="7124700" y="1095375"/>
            <a:ext cx="4619625" cy="461962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E6C2FA66-92EA-497B-921E-C5D4550C972F}"/>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1</a:t>
            </a:r>
          </a:p>
        </p:txBody>
      </p:sp>
    </p:spTree>
    <p:extLst>
      <p:ext uri="{BB962C8B-B14F-4D97-AF65-F5344CB8AC3E}">
        <p14:creationId xmlns:p14="http://schemas.microsoft.com/office/powerpoint/2010/main" val="1574784672"/>
      </p:ext>
    </p:extLst>
  </p:cSld>
</p:sld>
</file>

<file path=ppt/slides/slide2.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A0F90E0-547A-42E4-918F-DE9BC01073DB}"/>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Arquitectura y tablas actuales</a:t>
            </a:r>
          </a:p>
        </p:txBody>
      </p:sp>
      <p:sp>
        <p:nvSpPr>
          <p:cNvPr id="2" name="">
            <a:extLst xmlns:a="http://schemas.openxmlformats.org/drawingml/2006/main">
              <a:ext uri="{FF2B5EF4-FFF2-40B4-BE49-F238E27FC236}">
                <a16:creationId xmlns:a16="http://schemas.microsoft.com/office/drawing/2014/main" id="{A64B6517-1F1A-4FC1-BDEA-BCC0C3D4949E}"/>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API Python y un nodo ClickHouse 25.8 con volumen persistente</a:t>
            </a:r>
          </a:p>
        </p:txBody>
      </p:sp>
      <p:graphicFrame>
        <p:nvGraphicFramePr>
          <p:cNvPr id="8" name=""/>
          <p:cNvGraphicFramePr/>
          <p:nvPr/>
        </p:nvGraphicFramePr>
        <p:xfrm>
          <a:off xmlns:a="http://schemas.openxmlformats.org/drawingml/2006/main" x="685800" y="2047875"/>
          <a:ext xmlns:a="http://schemas.openxmlformats.org/drawingml/2006/main" cx="10668000" cy="3571875"/>
        </p:xfrm>
        <a:graphic xmlns:a="http://schemas.openxmlformats.org/drawingml/2006/main">
          <a:graphicData uri="http://schemas.openxmlformats.org/drawingml/2006/table">
            <a:tbl>
              <a:tblPr firstRow="0" bandRow="0"/>
              <a:tblGrid>
                <a:gridCol w="2143125"/>
                <a:gridCol w="4619625"/>
                <a:gridCol w="3905250"/>
              </a:tblGrid>
              <a:tr h="714375">
                <a:tc>
                  <a:txBody>
                    <a:bodyPr>
                      <a:noAutofit/>
                    </a:bodyPr>
                    <a:lstStyle/>
                    <a:p>
                      <a:r>
                        <a:rPr sz="1800" b="1">
                          <a:solidFill>
                            <a:srgbClr val="FFFFFF"/>
                          </a:solidFill>
                          <a:latin typeface="Helvetica Neue"/>
                          <a:ea typeface="Helvetica Neue"/>
                          <a:cs typeface="Helvetica Neue"/>
                        </a:rPr>
                        <a:t>Capa</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Objetos actuales</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Responsabilidad</a:t>
                      </a:r>
                    </a:p>
                  </a:txBody>
                  <a:tcPr marL="123825" marR="123825" marT="85725" marB="85725">
                    <a:solidFill>
                      <a:srgbClr val="183D32"/>
                    </a:solidFill>
                  </a:tcPr>
                </a:tc>
              </a:tr>
              <a:tr h="714375">
                <a:tc>
                  <a:txBody>
                    <a:bodyPr>
                      <a:noAutofit/>
                    </a:bodyPr>
                    <a:lstStyle/>
                    <a:p>
                      <a:r>
                        <a:rPr sz="1800" b="0">
                          <a:solidFill>
                            <a:srgbClr val="183D32"/>
                          </a:solidFill>
                          <a:latin typeface="Helvetica Neue"/>
                          <a:ea typeface="Helvetica Neue"/>
                          <a:cs typeface="Helvetica Neue"/>
                        </a:rPr>
                        <a:t>Entrada</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Archivos y botones web</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Históricos y acciones nuevas</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API e ingesta</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dashboard.py y scripts</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Validación y lotes por HTTP</a:t>
                      </a:r>
                    </a:p>
                  </a:txBody>
                  <a:tcPr marL="123825" marR="123825" marT="85725" marB="85725">
                    <a:solidFill>
                      <a:srgbClr val="E6EBDD"/>
                    </a:solidFill>
                  </a:tcPr>
                </a:tc>
              </a:tr>
              <a:tr h="714375">
                <a:tc>
                  <a:txBody>
                    <a:bodyPr>
                      <a:noAutofit/>
                    </a:bodyPr>
                    <a:lstStyle/>
                    <a:p>
                      <a:r>
                        <a:rPr sz="1800" b="0">
                          <a:solidFill>
                            <a:srgbClr val="183D32"/>
                          </a:solidFill>
                          <a:latin typeface="Helvetica Neue"/>
                          <a:ea typeface="Helvetica Neue"/>
                          <a:cs typeface="Helvetica Neue"/>
                        </a:rPr>
                        <a:t>Detalle</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otto_archive / eleme_samples</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Eventos / muestras separados</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Agregado</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otto_daily_rollup</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Recuentos por día y tipo</a:t>
                      </a:r>
                    </a:p>
                  </a:txBody>
                  <a:tcPr marL="123825" marR="123825" marT="85725" marB="85725">
                    <a:solidFill>
                      <a:srgbClr val="E6EBDD"/>
                    </a:solidFill>
                  </a:tcPr>
                </a:tc>
              </a:tr>
            </a:tbl>
          </a:graphicData>
        </a:graphic>
      </p:graphicFrame>
      <p:sp>
        <p:nvSpPr>
          <p:cNvPr id="4" name="">
            <a:extLst xmlns:a="http://schemas.openxmlformats.org/drawingml/2006/main">
              <a:ext uri="{FF2B5EF4-FFF2-40B4-BE49-F238E27FC236}">
                <a16:creationId xmlns:a16="http://schemas.microsoft.com/office/drawing/2014/main" id="{1B0CBCDE-C23D-403C-A343-FEDEE6719581}"/>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Replay: evento antiguo + ingesta actual. La API devuelve JSON al navegador.</a:t>
            </a:r>
          </a:p>
        </p:txBody>
      </p:sp>
      <p:sp>
        <p:nvSpPr>
          <p:cNvPr id="5" name="">
            <a:extLst xmlns:a="http://schemas.openxmlformats.org/drawingml/2006/main">
              <a:ext uri="{FF2B5EF4-FFF2-40B4-BE49-F238E27FC236}">
                <a16:creationId xmlns:a16="http://schemas.microsoft.com/office/drawing/2014/main" id="{EC848B81-F82A-4A1E-967E-D107B0CA337F}"/>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2</a:t>
            </a:r>
          </a:p>
        </p:txBody>
      </p:sp>
    </p:spTree>
    <p:extLst>
      <p:ext uri="{BB962C8B-B14F-4D97-AF65-F5344CB8AC3E}">
        <p14:creationId xmlns:p14="http://schemas.microsoft.com/office/powerpoint/2010/main" val="1746016560"/>
      </p:ext>
    </p:extLst>
  </p:cSld>
</p:sld>
</file>

<file path=ppt/slides/slide3.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654E09C-3572-4A51-BF55-B51DDC0036CD}"/>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Modelo de eventos de la plataforma</a:t>
            </a:r>
          </a:p>
        </p:txBody>
      </p:sp>
      <p:sp>
        <p:nvSpPr>
          <p:cNvPr id="2" name="">
            <a:extLst xmlns:a="http://schemas.openxmlformats.org/drawingml/2006/main">
              <a:ext uri="{FF2B5EF4-FFF2-40B4-BE49-F238E27FC236}">
                <a16:creationId xmlns:a16="http://schemas.microsoft.com/office/drawing/2014/main" id="{8EE11D3B-7886-4AD7-8405-DF9F7C16434B}"/>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Propuesta pendiente de conectar. Una fila representa una acción de navegación.</a:t>
            </a:r>
          </a:p>
        </p:txBody>
      </p:sp>
      <p:graphicFrame>
        <p:nvGraphicFramePr>
          <p:cNvPr id="8" name=""/>
          <p:cNvGraphicFramePr/>
          <p:nvPr/>
        </p:nvGraphicFramePr>
        <p:xfrm>
          <a:off xmlns:a="http://schemas.openxmlformats.org/drawingml/2006/main" x="685800" y="1905000"/>
          <a:ext xmlns:a="http://schemas.openxmlformats.org/drawingml/2006/main" cx="10668000" cy="2857500"/>
        </p:xfrm>
        <a:graphic xmlns:a="http://schemas.openxmlformats.org/drawingml/2006/main">
          <a:graphicData uri="http://schemas.openxmlformats.org/drawingml/2006/table">
            <a:tbl>
              <a:tblPr firstRow="0" bandRow="0"/>
              <a:tblGrid>
                <a:gridCol w="1952625"/>
                <a:gridCol w="5286375"/>
                <a:gridCol w="3429000"/>
              </a:tblGrid>
              <a:tr h="476250">
                <a:tc>
                  <a:txBody>
                    <a:bodyPr>
                      <a:noAutofit/>
                    </a:bodyPr>
                    <a:lstStyle/>
                    <a:p>
                      <a:r>
                        <a:rPr sz="1725" b="1">
                          <a:solidFill>
                            <a:srgbClr val="FFFFFF"/>
                          </a:solidFill>
                          <a:latin typeface="Helvetica Neue"/>
                          <a:ea typeface="Helvetica Neue"/>
                          <a:cs typeface="Helvetica Neue"/>
                        </a:rPr>
                        <a:t>Grupo</a:t>
                      </a:r>
                    </a:p>
                  </a:txBody>
                  <a:tcPr marL="123825" marR="123825" marT="85725" marB="85725">
                    <a:solidFill>
                      <a:srgbClr val="183D32"/>
                    </a:solidFill>
                  </a:tcPr>
                </a:tc>
                <a:tc>
                  <a:txBody>
                    <a:bodyPr>
                      <a:noAutofit/>
                    </a:bodyPr>
                    <a:lstStyle/>
                    <a:p>
                      <a:r>
                        <a:rPr sz="1725" b="1">
                          <a:solidFill>
                            <a:srgbClr val="FFFFFF"/>
                          </a:solidFill>
                          <a:latin typeface="Helvetica Neue"/>
                          <a:ea typeface="Helvetica Neue"/>
                          <a:cs typeface="Helvetica Neue"/>
                        </a:rPr>
                        <a:t>Campos principales</a:t>
                      </a:r>
                    </a:p>
                  </a:txBody>
                  <a:tcPr marL="123825" marR="123825" marT="85725" marB="85725">
                    <a:solidFill>
                      <a:srgbClr val="183D32"/>
                    </a:solidFill>
                  </a:tcPr>
                </a:tc>
                <a:tc>
                  <a:txBody>
                    <a:bodyPr>
                      <a:noAutofit/>
                    </a:bodyPr>
                    <a:lstStyle/>
                    <a:p>
                      <a:r>
                        <a:rPr sz="1725" b="1">
                          <a:solidFill>
                            <a:srgbClr val="FFFFFF"/>
                          </a:solidFill>
                          <a:latin typeface="Helvetica Neue"/>
                          <a:ea typeface="Helvetica Neue"/>
                          <a:cs typeface="Helvetica Neue"/>
                        </a:rPr>
                        <a:t>Función</a:t>
                      </a:r>
                    </a:p>
                  </a:txBody>
                  <a:tcPr marL="123825" marR="123825" marT="85725" marB="85725">
                    <a:solidFill>
                      <a:srgbClr val="183D32"/>
                    </a:solidFill>
                  </a:tcPr>
                </a:tc>
              </a:tr>
              <a:tr h="476250">
                <a:tc>
                  <a:txBody>
                    <a:bodyPr>
                      <a:noAutofit/>
                    </a:bodyPr>
                    <a:lstStyle/>
                    <a:p>
                      <a:r>
                        <a:rPr sz="1725" b="0">
                          <a:solidFill>
                            <a:srgbClr val="183D32"/>
                          </a:solidFill>
                          <a:latin typeface="Helvetica Neue"/>
                          <a:ea typeface="Helvetica Neue"/>
                          <a:cs typeface="Helvetica Neue"/>
                        </a:rPr>
                        <a:t>Identidad</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event_id, session_id</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Evento y sesión</a:t>
                      </a:r>
                    </a:p>
                  </a:txBody>
                  <a:tcPr marL="123825" marR="123825" marT="85725" marB="85725">
                    <a:solidFill>
                      <a:srgbClr val="FFFFFF"/>
                    </a:solidFill>
                  </a:tcPr>
                </a:tc>
              </a:tr>
              <a:tr h="476250">
                <a:tc>
                  <a:txBody>
                    <a:bodyPr>
                      <a:noAutofit/>
                    </a:bodyPr>
                    <a:lstStyle/>
                    <a:p>
                      <a:r>
                        <a:rPr sz="1725" b="0">
                          <a:solidFill>
                            <a:srgbClr val="183D32"/>
                          </a:solidFill>
                          <a:latin typeface="Helvetica Neue"/>
                          <a:ea typeface="Helvetica Neue"/>
                          <a:cs typeface="Helvetica Neue"/>
                        </a:rPr>
                        <a:t>Tiempo</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event_time, ingested_at</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Suceso y llegada</a:t>
                      </a:r>
                    </a:p>
                  </a:txBody>
                  <a:tcPr marL="123825" marR="123825" marT="85725" marB="85725">
                    <a:solidFill>
                      <a:srgbClr val="E6EBDD"/>
                    </a:solidFill>
                  </a:tcPr>
                </a:tc>
              </a:tr>
              <a:tr h="476250">
                <a:tc>
                  <a:txBody>
                    <a:bodyPr>
                      <a:noAutofit/>
                    </a:bodyPr>
                    <a:lstStyle/>
                    <a:p>
                      <a:r>
                        <a:rPr sz="1725" b="0">
                          <a:solidFill>
                            <a:srgbClr val="183D32"/>
                          </a:solidFill>
                          <a:latin typeface="Helvetica Neue"/>
                          <a:ea typeface="Helvetica Neue"/>
                          <a:cs typeface="Helvetica Neue"/>
                        </a:rPr>
                        <a:t>Acción</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event_type, section</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Acción y zona de la app</a:t>
                      </a:r>
                    </a:p>
                  </a:txBody>
                  <a:tcPr marL="123825" marR="123825" marT="85725" marB="85725">
                    <a:solidFill>
                      <a:srgbClr val="FFFFFF"/>
                    </a:solidFill>
                  </a:tcPr>
                </a:tc>
              </a:tr>
              <a:tr h="476250">
                <a:tc>
                  <a:txBody>
                    <a:bodyPr>
                      <a:noAutofit/>
                    </a:bodyPr>
                    <a:lstStyle/>
                    <a:p>
                      <a:r>
                        <a:rPr sz="1725" b="0">
                          <a:solidFill>
                            <a:srgbClr val="183D32"/>
                          </a:solidFill>
                          <a:latin typeface="Helvetica Neue"/>
                          <a:ea typeface="Helvetica Neue"/>
                          <a:cs typeface="Helvetica Neue"/>
                        </a:rPr>
                        <a:t>Contexto</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city_id, restaurant_id, product_id</a:t>
                      </a:r>
                    </a:p>
                  </a:txBody>
                  <a:tcPr marL="123825" marR="123825" marT="85725" marB="85725">
                    <a:solidFill>
                      <a:srgbClr val="E6EBDD"/>
                    </a:solidFill>
                  </a:tcPr>
                </a:tc>
                <a:tc>
                  <a:txBody>
                    <a:bodyPr>
                      <a:noAutofit/>
                    </a:bodyPr>
                    <a:lstStyle/>
                    <a:p>
                      <a:r>
                        <a:rPr sz="1725" b="0">
                          <a:solidFill>
                            <a:srgbClr val="183D32"/>
                          </a:solidFill>
                          <a:latin typeface="Helvetica Neue"/>
                          <a:ea typeface="Helvetica Neue"/>
                          <a:cs typeface="Helvetica Neue"/>
                        </a:rPr>
                        <a:t>Filtros del dashboard</a:t>
                      </a:r>
                    </a:p>
                  </a:txBody>
                  <a:tcPr marL="123825" marR="123825" marT="85725" marB="85725">
                    <a:solidFill>
                      <a:srgbClr val="E6EBDD"/>
                    </a:solidFill>
                  </a:tcPr>
                </a:tc>
              </a:tr>
              <a:tr h="476250">
                <a:tc>
                  <a:txBody>
                    <a:bodyPr>
                      <a:noAutofit/>
                    </a:bodyPr>
                    <a:lstStyle/>
                    <a:p>
                      <a:r>
                        <a:rPr sz="1725" b="0">
                          <a:solidFill>
                            <a:srgbClr val="183D32"/>
                          </a:solidFill>
                          <a:latin typeface="Helvetica Neue"/>
                          <a:ea typeface="Helvetica Neue"/>
                          <a:cs typeface="Helvetica Neue"/>
                        </a:rPr>
                        <a:t>Procedencia</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source_kind, simulation_run_id</a:t>
                      </a:r>
                    </a:p>
                  </a:txBody>
                  <a:tcPr marL="123825" marR="123825" marT="85725" marB="85725">
                    <a:solidFill>
                      <a:srgbClr val="FFFFFF"/>
                    </a:solidFill>
                  </a:tcPr>
                </a:tc>
                <a:tc>
                  <a:txBody>
                    <a:bodyPr>
                      <a:noAutofit/>
                    </a:bodyPr>
                    <a:lstStyle/>
                    <a:p>
                      <a:r>
                        <a:rPr sz="1725" b="0">
                          <a:solidFill>
                            <a:srgbClr val="183D32"/>
                          </a:solidFill>
                          <a:latin typeface="Helvetica Neue"/>
                          <a:ea typeface="Helvetica Neue"/>
                          <a:cs typeface="Helvetica Neue"/>
                        </a:rPr>
                        <a:t>Origen y ejecución</a:t>
                      </a:r>
                    </a:p>
                  </a:txBody>
                  <a:tcPr marL="123825" marR="123825" marT="85725" marB="85725">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EFFA496-2371-491D-AE34-59738958A8ED}"/>
              </a:ext>
            </a:extLst>
          </p:cNvPr>
          <p:cNvSpPr>
            <a:spLocks xmlns:a="http://schemas.openxmlformats.org/drawingml/2006/main" noGrp="1"/>
          </p:cNvSpPr>
          <p:nvPr/>
        </p:nvSpPr>
        <p:spPr>
          <a:xfrm xmlns:a="http://schemas.openxmlformats.org/drawingml/2006/main">
            <a:off x="685800" y="5095875"/>
            <a:ext cx="107632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ENGINE = MergeTree   PARTITION BY toYYYYMM(event_date)</a:t>
            </a:r>
          </a:p>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ORDER BY (source_kind, event_date, city_id, event_type,</a:t>
            </a:r>
          </a:p>
          <a:p xmlns:a="http://schemas.openxmlformats.org/drawingml/2006/main">
            <a:pPr>
              <a:defRPr sz="1875" b="0">
                <a:solidFill>
                  <a:srgbClr val="183D32"/>
                </a:solidFill>
                <a:latin typeface="Helvetica Neue"/>
                <a:ea typeface="Helvetica Neue"/>
                <a:cs typeface="Helvetica Neue"/>
              </a:defRPr>
            </a:pPr>
            <a:r>
              <a:rPr sz="1875" b="0">
                <a:solidFill>
                  <a:srgbClr val="183D32"/>
                </a:solidFill>
                <a:latin typeface="Helvetica Neue"/>
                <a:ea typeface="Helvetica Neue"/>
                <a:cs typeface="Helvetica Neue"/>
              </a:rPr>
              <a:t>          event_time, session_id)</a:t>
            </a:r>
          </a:p>
        </p:txBody>
      </p:sp>
      <p:sp>
        <p:nvSpPr>
          <p:cNvPr id="5" name="">
            <a:extLst xmlns:a="http://schemas.openxmlformats.org/drawingml/2006/main">
              <a:ext uri="{FF2B5EF4-FFF2-40B4-BE49-F238E27FC236}">
                <a16:creationId xmlns:a16="http://schemas.microsoft.com/office/drawing/2014/main" id="{AF289332-4657-40F2-927F-BB505384C58B}"/>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3</a:t>
            </a:r>
          </a:p>
        </p:txBody>
      </p:sp>
    </p:spTree>
    <p:extLst>
      <p:ext uri="{BB962C8B-B14F-4D97-AF65-F5344CB8AC3E}">
        <p14:creationId xmlns:p14="http://schemas.microsoft.com/office/powerpoint/2010/main" val="1888299145"/>
      </p:ext>
    </p:extLst>
  </p:cSld>
</p:sld>
</file>

<file path=ppt/slides/slide4.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C4ADFA8-A2AE-4FF3-B894-0A0A44C69B88}"/>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Una optimización medida en ClickHouse</a:t>
            </a:r>
          </a:p>
        </p:txBody>
      </p:sp>
      <p:sp>
        <p:nvSpPr>
          <p:cNvPr id="2" name="">
            <a:extLst xmlns:a="http://schemas.openxmlformats.org/drawingml/2006/main">
              <a:ext uri="{FF2B5EF4-FFF2-40B4-BE49-F238E27FC236}">
                <a16:creationId xmlns:a16="http://schemas.microsoft.com/office/drawing/2014/main" id="{595B767A-F8C6-4CCD-B8C8-99830E3BEDC9}"/>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OTTO: 216.716.096 eventos y 87 grupos diarios con la misma respuesta</a:t>
            </a:r>
          </a:p>
        </p:txBody>
      </p:sp>
      <p:sp>
        <p:nvSpPr>
          <p:cNvPr id="3" name="">
            <a:extLst xmlns:a="http://schemas.openxmlformats.org/drawingml/2006/main">
              <a:ext uri="{FF2B5EF4-FFF2-40B4-BE49-F238E27FC236}">
                <a16:creationId xmlns:a16="http://schemas.microsoft.com/office/drawing/2014/main" id="{78B2936D-E726-4C98-BBF7-D38E087046B6}"/>
              </a:ext>
            </a:extLst>
          </p:cNvPr>
          <p:cNvSpPr>
            <a:spLocks xmlns:a="http://schemas.openxmlformats.org/drawingml/2006/main" noGrp="1"/>
          </p:cNvSpPr>
          <p:nvPr/>
        </p:nvSpPr>
        <p:spPr>
          <a:xfrm xmlns:a="http://schemas.openxmlformats.org/drawingml/2006/main">
            <a:off x="685800" y="2238375"/>
            <a:ext cx="56197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SELECT event_date, event_type,</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       sum(events)</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FROM delivery.otto_daily_rollup</a:t>
            </a:r>
          </a:p>
          <a:p xmlns:a="http://schemas.openxmlformats.org/drawingml/2006/main">
            <a:pPr>
              <a:defRPr sz="1950" b="0">
                <a:solidFill>
                  <a:srgbClr val="183D32"/>
                </a:solidFill>
                <a:latin typeface="Helvetica Neue"/>
                <a:ea typeface="Helvetica Neue"/>
                <a:cs typeface="Helvetica Neue"/>
              </a:defRPr>
            </a:pPr>
            <a:r>
              <a:rPr sz="1950" b="0">
                <a:solidFill>
                  <a:srgbClr val="183D32"/>
                </a:solidFill>
                <a:latin typeface="Helvetica Neue"/>
                <a:ea typeface="Helvetica Neue"/>
                <a:cs typeface="Helvetica Neue"/>
              </a:rPr>
              <a:t>GROUP BY event_date, event_type</a:t>
            </a:r>
          </a:p>
        </p:txBody>
      </p:sp>
      <p:sp>
        <p:nvSpPr>
          <p:cNvPr id="4" name="">
            <a:extLst xmlns:a="http://schemas.openxmlformats.org/drawingml/2006/main">
              <a:ext uri="{FF2B5EF4-FFF2-40B4-BE49-F238E27FC236}">
                <a16:creationId xmlns:a16="http://schemas.microsoft.com/office/drawing/2014/main" id="{2C499280-49AC-4B99-920C-7E6DA0EC8E74}"/>
              </a:ext>
            </a:extLst>
          </p:cNvPr>
          <p:cNvSpPr>
            <a:spLocks xmlns:a="http://schemas.openxmlformats.org/drawingml/2006/main" noGrp="1"/>
          </p:cNvSpPr>
          <p:nvPr/>
        </p:nvSpPr>
        <p:spPr>
          <a:xfrm xmlns:a="http://schemas.openxmlformats.org/drawingml/2006/main">
            <a:off x="685800" y="4667250"/>
            <a:ext cx="581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183D32"/>
                </a:solidFill>
                <a:latin typeface="Helvetica Neue"/>
                <a:ea typeface="Helvetica Neue"/>
                <a:cs typeface="Helvetica Neue"/>
              </a:defRPr>
            </a:pPr>
            <a:r>
              <a:rPr sz="3675" b="1">
                <a:solidFill>
                  <a:srgbClr val="183D32"/>
                </a:solidFill>
                <a:latin typeface="Helvetica Neue"/>
                <a:ea typeface="Helvetica Neue"/>
                <a:cs typeface="Helvetica Neue"/>
              </a:rPr>
              <a:t>27,9 veces más rápida</a:t>
            </a:r>
          </a:p>
        </p:txBody>
      </p:sp>
      <p:sp>
        <p:nvSpPr>
          <p:cNvPr id="5" name="">
            <a:extLst xmlns:a="http://schemas.openxmlformats.org/drawingml/2006/main">
              <a:ext uri="{FF2B5EF4-FFF2-40B4-BE49-F238E27FC236}">
                <a16:creationId xmlns:a16="http://schemas.microsoft.com/office/drawing/2014/main" id="{167DD483-417D-4011-8291-6DF8721FBFB8}"/>
              </a:ext>
            </a:extLst>
          </p:cNvPr>
          <p:cNvSpPr>
            <a:spLocks xmlns:a="http://schemas.openxmlformats.org/drawingml/2006/main" noGrp="1"/>
          </p:cNvSpPr>
          <p:nvPr/>
        </p:nvSpPr>
        <p:spPr>
          <a:xfrm xmlns:a="http://schemas.openxmlformats.org/drawingml/2006/main">
            <a:off x="685800" y="5476875"/>
            <a:ext cx="5810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5695F"/>
                </a:solidFill>
                <a:latin typeface="Helvetica Neue"/>
                <a:ea typeface="Helvetica Neue"/>
                <a:cs typeface="Helvetica Neue"/>
              </a:defRPr>
            </a:pPr>
            <a:r>
              <a:rPr sz="1800" b="0">
                <a:solidFill>
                  <a:srgbClr val="55695F"/>
                </a:solidFill>
                <a:latin typeface="Helvetica Neue"/>
                <a:ea typeface="Helvetica Neue"/>
                <a:cs typeface="Helvetica Neue"/>
              </a:rPr>
              <a:t>Medianas de 3 consultas locales</a:t>
            </a:r>
          </a:p>
          <a:p xmlns:a="http://schemas.openxmlformats.org/drawingml/2006/main">
            <a:pPr>
              <a:defRPr sz="1800" b="0">
                <a:solidFill>
                  <a:srgbClr val="55695F"/>
                </a:solidFill>
                <a:latin typeface="Helvetica Neue"/>
                <a:ea typeface="Helvetica Neue"/>
                <a:cs typeface="Helvetica Neue"/>
              </a:defRPr>
            </a:pPr>
            <a:r>
              <a:rPr sz="1800" b="0">
                <a:solidFill>
                  <a:srgbClr val="55695F"/>
                </a:solidFill>
                <a:latin typeface="Helvetica Neue"/>
                <a:ea typeface="Helvetica Neue"/>
                <a:cs typeface="Helvetica Neue"/>
              </a:rPr>
              <a:t>Caché SQL desactivada</a:t>
            </a:r>
          </a:p>
        </p:txBody>
      </p:sp>
      <p:graphicFrame>
        <p:nvGraphicFramePr>
          <p:cNvPr id="14" name="Chart"/>
          <p:cNvGraphicFramePr/>
          <p:nvPr/>
        </p:nvGraphicFramePr>
        <p:xfrm>
          <a:off xmlns:a="http://schemas.openxmlformats.org/drawingml/2006/main" x="6953250" y="2095500"/>
          <a:ext xmlns:a="http://schemas.openxmlformats.org/drawingml/2006/main" cx="4381500" cy="3333750"/>
        </p:xfrm>
        <a:graphic xmlns:a="http://schemas.openxmlformats.org/drawingml/2006/main">
          <a:graphicData uri="http://schemas.openxmlformats.org/drawingml/2006/chart">
            <c:chart xmlns:r="http://schemas.openxmlformats.org/officeDocument/2006/relationships" xmlns:c="http://schemas.openxmlformats.org/drawingml/2006/chart" r:id="R88aeb28fa1984c8e"/>
          </a:graphicData>
        </a:graphic>
      </p:graphicFrame>
      <p:sp>
        <p:nvSpPr>
          <p:cNvPr id="7" name="">
            <a:extLst xmlns:a="http://schemas.openxmlformats.org/drawingml/2006/main">
              <a:ext uri="{FF2B5EF4-FFF2-40B4-BE49-F238E27FC236}">
                <a16:creationId xmlns:a16="http://schemas.microsoft.com/office/drawing/2014/main" id="{BD433B3A-830E-45B2-B82C-55FD08FEAC6B}"/>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Comparamos histórico y agregado en el mismo motor. El ensayo no mide p99.</a:t>
            </a:r>
          </a:p>
        </p:txBody>
      </p:sp>
      <p:sp>
        <p:nvSpPr>
          <p:cNvPr id="8" name="">
            <a:extLst xmlns:a="http://schemas.openxmlformats.org/drawingml/2006/main">
              <a:ext uri="{FF2B5EF4-FFF2-40B4-BE49-F238E27FC236}">
                <a16:creationId xmlns:a16="http://schemas.microsoft.com/office/drawing/2014/main" id="{E15569DE-5C5F-43CA-9665-1BB417D46757}"/>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4</a:t>
            </a:r>
          </a:p>
        </p:txBody>
      </p:sp>
    </p:spTree>
    <p:extLst>
      <p:ext uri="{BB962C8B-B14F-4D97-AF65-F5344CB8AC3E}">
        <p14:creationId xmlns:p14="http://schemas.microsoft.com/office/powerpoint/2010/main" val="1193687742"/>
      </p:ext>
    </p:extLst>
  </p:cSld>
</p:sld>
</file>

<file path=ppt/slides/slide5.xml><?xml version="1.0" encoding="utf-8"?>
<p:sld xmlns:p="http://schemas.openxmlformats.org/presentationml/2006/main">
  <p:cSld>
    <p:bg>
      <p:bgPr>
        <a:solidFill xmlns:a="http://schemas.openxmlformats.org/drawingml/2006/main">
          <a:srgbClr val="F6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97379D-17EC-416A-87F1-2D857C92CF66}"/>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183D32"/>
                </a:solidFill>
                <a:latin typeface="Helvetica Neue"/>
                <a:ea typeface="Helvetica Neue"/>
                <a:cs typeface="Helvetica Neue"/>
              </a:defRPr>
            </a:pPr>
            <a:r>
              <a:rPr sz="3375" b="1">
                <a:solidFill>
                  <a:srgbClr val="183D32"/>
                </a:solidFill>
                <a:latin typeface="Helvetica Neue"/>
                <a:ea typeface="Helvetica Neue"/>
                <a:cs typeface="Helvetica Neue"/>
              </a:rPr>
              <a:t>Garantías y límites del avance</a:t>
            </a:r>
          </a:p>
        </p:txBody>
      </p:sp>
      <p:sp>
        <p:nvSpPr>
          <p:cNvPr id="2" name="">
            <a:extLst xmlns:a="http://schemas.openxmlformats.org/drawingml/2006/main">
              <a:ext uri="{FF2B5EF4-FFF2-40B4-BE49-F238E27FC236}">
                <a16:creationId xmlns:a16="http://schemas.microsoft.com/office/drawing/2014/main" id="{A8FFCB59-0C0E-47E1-B47F-D989D39CB5F1}"/>
              </a:ext>
            </a:extLst>
          </p:cNvPr>
          <p:cNvSpPr>
            <a:spLocks xmlns:a="http://schemas.openxmlformats.org/drawingml/2006/main" noGrp="1"/>
          </p:cNvSpPr>
          <p:nvPr/>
        </p:nvSpPr>
        <p:spPr>
          <a:xfrm xmlns:a="http://schemas.openxmlformats.org/drawingml/2006/main">
            <a:off x="685800" y="1285875"/>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5695F"/>
                </a:solidFill>
                <a:latin typeface="Helvetica Neue"/>
                <a:ea typeface="Helvetica Neue"/>
                <a:cs typeface="Helvetica Neue"/>
              </a:defRPr>
            </a:pPr>
            <a:r>
              <a:rPr sz="1875" b="0">
                <a:solidFill>
                  <a:srgbClr val="55695F"/>
                </a:solidFill>
                <a:latin typeface="Helvetica Neue"/>
                <a:ea typeface="Helvetica Neue"/>
                <a:cs typeface="Helvetica Neue"/>
              </a:rPr>
              <a:t>Los apuntes distinguen rendimiento, consistencia y disponibilidad</a:t>
            </a:r>
          </a:p>
        </p:txBody>
      </p:sp>
      <p:graphicFrame>
        <p:nvGraphicFramePr>
          <p:cNvPr id="8" name=""/>
          <p:cNvGraphicFramePr/>
          <p:nvPr/>
        </p:nvGraphicFramePr>
        <p:xfrm>
          <a:off xmlns:a="http://schemas.openxmlformats.org/drawingml/2006/main" x="685800" y="2047875"/>
          <a:ext xmlns:a="http://schemas.openxmlformats.org/drawingml/2006/main" cx="10668000" cy="3571875"/>
        </p:xfrm>
        <a:graphic xmlns:a="http://schemas.openxmlformats.org/drawingml/2006/main">
          <a:graphicData uri="http://schemas.openxmlformats.org/drawingml/2006/table">
            <a:tbl>
              <a:tblPr firstRow="0" bandRow="0"/>
              <a:tblGrid>
                <a:gridCol w="2286000"/>
                <a:gridCol w="4095750"/>
                <a:gridCol w="4286250"/>
              </a:tblGrid>
              <a:tr h="714375">
                <a:tc>
                  <a:txBody>
                    <a:bodyPr>
                      <a:noAutofit/>
                    </a:bodyPr>
                    <a:lstStyle/>
                    <a:p>
                      <a:r>
                        <a:rPr sz="1800" b="1">
                          <a:solidFill>
                            <a:srgbClr val="FFFFFF"/>
                          </a:solidFill>
                          <a:latin typeface="Helvetica Neue"/>
                          <a:ea typeface="Helvetica Neue"/>
                          <a:cs typeface="Helvetica Neue"/>
                        </a:rPr>
                        <a:t>Concepto</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Estado actual</a:t>
                      </a:r>
                    </a:p>
                  </a:txBody>
                  <a:tcPr marL="123825" marR="123825" marT="85725" marB="85725">
                    <a:solidFill>
                      <a:srgbClr val="183D32"/>
                    </a:solidFill>
                  </a:tcPr>
                </a:tc>
                <a:tc>
                  <a:txBody>
                    <a:bodyPr>
                      <a:noAutofit/>
                    </a:bodyPr>
                    <a:lstStyle/>
                    <a:p>
                      <a:r>
                        <a:rPr sz="1800" b="1">
                          <a:solidFill>
                            <a:srgbClr val="FFFFFF"/>
                          </a:solidFill>
                          <a:latin typeface="Helvetica Neue"/>
                          <a:ea typeface="Helvetica Neue"/>
                          <a:cs typeface="Helvetica Neue"/>
                        </a:rPr>
                        <a:t>Ajuste necesario</a:t>
                      </a:r>
                    </a:p>
                  </a:txBody>
                  <a:tcPr marL="123825" marR="123825" marT="85725" marB="85725">
                    <a:solidFill>
                      <a:srgbClr val="183D32"/>
                    </a:solidFill>
                  </a:tcPr>
                </a:tc>
              </a:tr>
              <a:tr h="714375">
                <a:tc>
                  <a:txBody>
                    <a:bodyPr>
                      <a:noAutofit/>
                    </a:bodyPr>
                    <a:lstStyle/>
                    <a:p>
                      <a:r>
                        <a:rPr sz="1800" b="0">
                          <a:solidFill>
                            <a:srgbClr val="183D32"/>
                          </a:solidFill>
                          <a:latin typeface="Helvetica Neue"/>
                          <a:ea typeface="Helvetica Neue"/>
                          <a:cs typeface="Helvetica Neue"/>
                        </a:rPr>
                        <a:t>Disponibilidad</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Un nodo, volumen persistente</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Ensayar caída y recuperación</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Escalabilidad</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Particiones locales por fecha</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Explicar sharding y réplicas</a:t>
                      </a:r>
                    </a:p>
                  </a:txBody>
                  <a:tcPr marL="123825" marR="123825" marT="85725" marB="85725">
                    <a:solidFill>
                      <a:srgbClr val="E6EBDD"/>
                    </a:solidFill>
                  </a:tcPr>
                </a:tc>
              </a:tr>
              <a:tr h="714375">
                <a:tc>
                  <a:txBody>
                    <a:bodyPr>
                      <a:noAutofit/>
                    </a:bodyPr>
                    <a:lstStyle/>
                    <a:p>
                      <a:r>
                        <a:rPr sz="1800" b="0">
                          <a:solidFill>
                            <a:srgbClr val="183D32"/>
                          </a:solidFill>
                          <a:latin typeface="Helvetica Neue"/>
                          <a:ea typeface="Helvetica Neue"/>
                          <a:cs typeface="Helvetica Neue"/>
                        </a:rPr>
                        <a:t>Entrega de eventos</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POST sin deduplicación estable</a:t>
                      </a:r>
                    </a:p>
                  </a:txBody>
                  <a:tcPr marL="123825" marR="123825" marT="85725" marB="85725">
                    <a:solidFill>
                      <a:srgbClr val="FFFFFF"/>
                    </a:solidFill>
                  </a:tcPr>
                </a:tc>
                <a:tc>
                  <a:txBody>
                    <a:bodyPr>
                      <a:noAutofit/>
                    </a:bodyPr>
                    <a:lstStyle/>
                    <a:p>
                      <a:r>
                        <a:rPr sz="1800" b="0">
                          <a:solidFill>
                            <a:srgbClr val="183D32"/>
                          </a:solidFill>
                          <a:latin typeface="Helvetica Neue"/>
                          <a:ea typeface="Helvetica Neue"/>
                          <a:cs typeface="Helvetica Neue"/>
                        </a:rPr>
                        <a:t>Probar reintentos con el mismo ID</a:t>
                      </a:r>
                    </a:p>
                  </a:txBody>
                  <a:tcPr marL="123825" marR="123825" marT="85725" marB="85725">
                    <a:solidFill>
                      <a:srgbClr val="FFFFFF"/>
                    </a:solidFill>
                  </a:tcPr>
                </a:tc>
              </a:tr>
              <a:tr h="714375">
                <a:tc>
                  <a:txBody>
                    <a:bodyPr>
                      <a:noAutofit/>
                    </a:bodyPr>
                    <a:lstStyle/>
                    <a:p>
                      <a:r>
                        <a:rPr sz="1800" b="0">
                          <a:solidFill>
                            <a:srgbClr val="183D32"/>
                          </a:solidFill>
                          <a:latin typeface="Helvetica Neue"/>
                          <a:ea typeface="Helvetica Neue"/>
                          <a:cs typeface="Helvetica Neue"/>
                        </a:rPr>
                        <a:t>Medición</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Consultas y caché de API</a:t>
                      </a:r>
                    </a:p>
                  </a:txBody>
                  <a:tcPr marL="123825" marR="123825" marT="85725" marB="85725">
                    <a:solidFill>
                      <a:srgbClr val="E6EBDD"/>
                    </a:solidFill>
                  </a:tcPr>
                </a:tc>
                <a:tc>
                  <a:txBody>
                    <a:bodyPr>
                      <a:noAutofit/>
                    </a:bodyPr>
                    <a:lstStyle/>
                    <a:p>
                      <a:r>
                        <a:rPr sz="1800" b="0">
                          <a:solidFill>
                            <a:srgbClr val="183D32"/>
                          </a:solidFill>
                          <a:latin typeface="Helvetica Neue"/>
                          <a:ea typeface="Helvetica Neue"/>
                          <a:cs typeface="Helvetica Neue"/>
                        </a:rPr>
                        <a:t>Medir ingesta, retraso y p95/p99</a:t>
                      </a:r>
                    </a:p>
                  </a:txBody>
                  <a:tcPr marL="123825" marR="123825" marT="85725" marB="85725">
                    <a:solidFill>
                      <a:srgbClr val="E6EBDD"/>
                    </a:solidFill>
                  </a:tcPr>
                </a:tc>
              </a:tr>
            </a:tbl>
          </a:graphicData>
        </a:graphic>
      </p:graphicFrame>
      <p:sp>
        <p:nvSpPr>
          <p:cNvPr id="4" name="">
            <a:extLst xmlns:a="http://schemas.openxmlformats.org/drawingml/2006/main">
              <a:ext uri="{FF2B5EF4-FFF2-40B4-BE49-F238E27FC236}">
                <a16:creationId xmlns:a16="http://schemas.microsoft.com/office/drawing/2014/main" id="{50A8DB39-9E7B-4707-B092-1AEEA4E97B85}"/>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5695F"/>
                </a:solidFill>
                <a:latin typeface="Helvetica Neue"/>
                <a:ea typeface="Helvetica Neue"/>
                <a:cs typeface="Helvetica Neue"/>
              </a:defRPr>
            </a:pPr>
            <a:r>
              <a:rPr sz="1575" b="0">
                <a:solidFill>
                  <a:srgbClr val="55695F"/>
                </a:solidFill>
                <a:latin typeface="Helvetica Neue"/>
                <a:ea typeface="Helvetica Neue"/>
                <a:cs typeface="Helvetica Neue"/>
              </a:rPr>
              <a:t>OLAP por columnas con SQL. CAP depende de la topología y configuración.</a:t>
            </a:r>
          </a:p>
        </p:txBody>
      </p:sp>
      <p:sp>
        <p:nvSpPr>
          <p:cNvPr id="5" name="">
            <a:extLst xmlns:a="http://schemas.openxmlformats.org/drawingml/2006/main">
              <a:ext uri="{FF2B5EF4-FFF2-40B4-BE49-F238E27FC236}">
                <a16:creationId xmlns:a16="http://schemas.microsoft.com/office/drawing/2014/main" id="{3FBD3696-39D2-44D7-8FF3-A38C6C93A021}"/>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5695F"/>
                </a:solidFill>
                <a:latin typeface="Helvetica Neue"/>
                <a:ea typeface="Helvetica Neue"/>
                <a:cs typeface="Helvetica Neue"/>
              </a:defRPr>
            </a:pPr>
            <a:r>
              <a:rPr sz="1350" b="0">
                <a:solidFill>
                  <a:srgbClr val="55695F"/>
                </a:solidFill>
                <a:latin typeface="Helvetica Neue"/>
                <a:ea typeface="Helvetica Neue"/>
                <a:cs typeface="Helvetica Neue"/>
              </a:rPr>
              <a:t>5</a:t>
            </a:r>
          </a:p>
        </p:txBody>
      </p:sp>
    </p:spTree>
    <p:extLst>
      <p:ext uri="{BB962C8B-B14F-4D97-AF65-F5344CB8AC3E}">
        <p14:creationId xmlns:p14="http://schemas.microsoft.com/office/powerpoint/2010/main" val="187363448"/>
      </p:ext>
    </p:extLst>
  </p:cSld>
</p:sld>
</file>

<file path=ppt/slides/slide6.xml><?xml version="1.0" encoding="utf-8"?>
<p:sld xmlns:p="http://schemas.openxmlformats.org/presentationml/2006/main">
  <p:cSld>
    <p:bg>
      <p:bgPr>
        <a:solidFill xmlns:a="http://schemas.openxmlformats.org/drawingml/2006/main">
          <a:srgbClr val="183D32"/>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1D0C87E-C498-49C2-9DA4-F24ECA92501A}"/>
              </a:ext>
            </a:extLst>
          </p:cNvPr>
          <p:cNvSpPr>
            <a:spLocks xmlns:a="http://schemas.openxmlformats.org/drawingml/2006/main" noGrp="1"/>
          </p:cNvSpPr>
          <p:nvPr/>
        </p:nvSpPr>
        <p:spPr>
          <a:xfrm xmlns:a="http://schemas.openxmlformats.org/drawingml/2006/main">
            <a:off x="685800" y="457200"/>
            <a:ext cx="10763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Próxima entrega</a:t>
            </a:r>
          </a:p>
        </p:txBody>
      </p:sp>
      <p:sp>
        <p:nvSpPr>
          <p:cNvPr id="2" name="">
            <a:extLst xmlns:a="http://schemas.openxmlformats.org/drawingml/2006/main">
              <a:ext uri="{FF2B5EF4-FFF2-40B4-BE49-F238E27FC236}">
                <a16:creationId xmlns:a16="http://schemas.microsoft.com/office/drawing/2014/main" id="{41544677-752C-4E0B-9DBC-35CC6714E2E0}"/>
              </a:ext>
            </a:extLst>
          </p:cNvPr>
          <p:cNvSpPr>
            <a:spLocks xmlns:a="http://schemas.openxmlformats.org/drawingml/2006/main" noGrp="1"/>
          </p:cNvSpPr>
          <p:nvPr/>
        </p:nvSpPr>
        <p:spPr>
          <a:xfrm xmlns:a="http://schemas.openxmlformats.org/drawingml/2006/main">
            <a:off x="685800" y="190500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Miniapp y generador conectados a app_events</a:t>
            </a:r>
          </a:p>
        </p:txBody>
      </p:sp>
      <p:sp>
        <p:nvSpPr>
          <p:cNvPr id="3" name="">
            <a:extLst xmlns:a="http://schemas.openxmlformats.org/drawingml/2006/main">
              <a:ext uri="{FF2B5EF4-FFF2-40B4-BE49-F238E27FC236}">
                <a16:creationId xmlns:a16="http://schemas.microsoft.com/office/drawing/2014/main" id="{00C28B01-1C94-4471-A541-D795735EE829}"/>
              </a:ext>
            </a:extLst>
          </p:cNvPr>
          <p:cNvSpPr>
            <a:spLocks xmlns:a="http://schemas.openxmlformats.org/drawingml/2006/main" noGrp="1"/>
          </p:cNvSpPr>
          <p:nvPr/>
        </p:nvSpPr>
        <p:spPr>
          <a:xfrm xmlns:a="http://schemas.openxmlformats.org/drawingml/2006/main">
            <a:off x="685800" y="27717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Un reintento sin duplicar el evento ni el agregado</a:t>
            </a:r>
          </a:p>
        </p:txBody>
      </p:sp>
      <p:sp>
        <p:nvSpPr>
          <p:cNvPr id="4" name="">
            <a:extLst xmlns:a="http://schemas.openxmlformats.org/drawingml/2006/main">
              <a:ext uri="{FF2B5EF4-FFF2-40B4-BE49-F238E27FC236}">
                <a16:creationId xmlns:a16="http://schemas.microsoft.com/office/drawing/2014/main" id="{F294E21D-7FFE-455C-9E7E-E351D745C79B}"/>
              </a:ext>
            </a:extLst>
          </p:cNvPr>
          <p:cNvSpPr>
            <a:spLocks xmlns:a="http://schemas.openxmlformats.org/drawingml/2006/main" noGrp="1"/>
          </p:cNvSpPr>
          <p:nvPr/>
        </p:nvSpPr>
        <p:spPr>
          <a:xfrm xmlns:a="http://schemas.openxmlformats.org/drawingml/2006/main">
            <a:off x="685800" y="3638550"/>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FFFFFF"/>
                </a:solidFill>
                <a:latin typeface="Helvetica Neue"/>
                <a:ea typeface="Helvetica Neue"/>
                <a:cs typeface="Helvetica Neue"/>
              </a:defRPr>
            </a:pPr>
            <a:r>
              <a:rPr sz="2400" b="0">
                <a:solidFill>
                  <a:srgbClr val="FFFFFF"/>
                </a:solidFill>
                <a:latin typeface="Helvetica Neue"/>
                <a:ea typeface="Helvetica Neue"/>
                <a:cs typeface="Helvetica Neue"/>
              </a:rPr>
              <a:t>Carga medida y entorno reproducible en otro equipo</a:t>
            </a:r>
          </a:p>
        </p:txBody>
      </p:sp>
      <p:sp>
        <p:nvSpPr>
          <p:cNvPr id="5" name="">
            <a:extLst xmlns:a="http://schemas.openxmlformats.org/drawingml/2006/main">
              <a:ext uri="{FF2B5EF4-FFF2-40B4-BE49-F238E27FC236}">
                <a16:creationId xmlns:a16="http://schemas.microsoft.com/office/drawing/2014/main" id="{47B8F0CE-1747-415F-BFD4-11AE29C9E597}"/>
              </a:ext>
            </a:extLst>
          </p:cNvPr>
          <p:cNvSpPr>
            <a:spLocks xmlns:a="http://schemas.openxmlformats.org/drawingml/2006/main" noGrp="1"/>
          </p:cNvSpPr>
          <p:nvPr/>
        </p:nvSpPr>
        <p:spPr>
          <a:xfrm xmlns:a="http://schemas.openxmlformats.org/drawingml/2006/main">
            <a:off x="685800" y="61531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DDE8DB"/>
                </a:solidFill>
                <a:latin typeface="Helvetica Neue"/>
                <a:ea typeface="Helvetica Neue"/>
                <a:cs typeface="Helvetica Neue"/>
              </a:defRPr>
            </a:pPr>
            <a:r>
              <a:rPr sz="1575" b="0">
                <a:solidFill>
                  <a:srgbClr val="DDE8DB"/>
                </a:solidFill>
                <a:latin typeface="Helvetica Neue"/>
                <a:ea typeface="Helvetica Neue"/>
                <a:cs typeface="Helvetica Neue"/>
              </a:rPr>
              <a:t>El laboratorio funciona. La plataforma ficticia integrada es el siguiente paso.</a:t>
            </a:r>
          </a:p>
        </p:txBody>
      </p:sp>
      <p:sp>
        <p:nvSpPr>
          <p:cNvPr id="6" name="">
            <a:extLst xmlns:a="http://schemas.openxmlformats.org/drawingml/2006/main">
              <a:ext uri="{FF2B5EF4-FFF2-40B4-BE49-F238E27FC236}">
                <a16:creationId xmlns:a16="http://schemas.microsoft.com/office/drawing/2014/main" id="{086FD3BF-6348-43C5-85E6-7A3682B1CE05}"/>
              </a:ext>
            </a:extLst>
          </p:cNvPr>
          <p:cNvSpPr>
            <a:spLocks xmlns:a="http://schemas.openxmlformats.org/drawingml/2006/main" noGrp="1"/>
          </p:cNvSpPr>
          <p:nvPr/>
        </p:nvSpPr>
        <p:spPr>
          <a:xfrm xmlns:a="http://schemas.openxmlformats.org/drawingml/2006/main">
            <a:off x="11477625" y="6419850"/>
            <a:ext cx="38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DDE8DB"/>
                </a:solidFill>
                <a:latin typeface="Helvetica Neue"/>
                <a:ea typeface="Helvetica Neue"/>
                <a:cs typeface="Helvetica Neue"/>
              </a:defRPr>
            </a:pPr>
            <a:r>
              <a:rPr sz="1350" b="0">
                <a:solidFill>
                  <a:srgbClr val="DDE8DB"/>
                </a:solidFill>
                <a:latin typeface="Helvetica Neue"/>
                <a:ea typeface="Helvetica Neue"/>
                <a:cs typeface="Helvetica Neue"/>
              </a:rPr>
              <a:t>6</a:t>
            </a:r>
          </a:p>
        </p:txBody>
      </p:sp>
    </p:spTree>
    <p:extLst>
      <p:ext uri="{BB962C8B-B14F-4D97-AF65-F5344CB8AC3E}">
        <p14:creationId xmlns:p14="http://schemas.microsoft.com/office/powerpoint/2010/main" val="47518428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2026-10-05T14:21:35.5940000Z</dcterms:created>
  <dcterms:modified xsi:type="dcterms:W3CDTF">2026-10-05T14:21:35.5940000Z</dcterms:modified>
</coreProperties>
</file>