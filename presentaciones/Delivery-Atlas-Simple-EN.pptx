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ad85bc6f29a42ba" /><Relationship Type="http://schemas.openxmlformats.org/officeDocument/2006/relationships/extended-properties" Target="/docProps/app.xml" Id="R533750c4b1934634" /><Relationship Type="http://schemas.openxmlformats.org/officeDocument/2006/relationships/officeDocument" Target="/ppt/presentation.xml" Id="R09c22baad9444511" /></Relationships>
</file>

<file path=ppt/presentation.xml><?xml version="1.0" encoding="utf-8"?>
<p:presentation xmlns:p="http://schemas.openxmlformats.org/presentationml/2006/main">
  <p:sldMasterIdLst>
    <p:sldMasterId xmlns:r="http://schemas.openxmlformats.org/officeDocument/2006/relationships" id="2147483648" r:id="R5619888a35504076"/>
  </p:sldMasterIdLst>
  <p:notesMasterIdLst>
    <p:notesMasterId xmlns:r="http://schemas.openxmlformats.org/officeDocument/2006/relationships" r:id="R963524cfef684f51"/>
  </p:notesMasterIdLst>
  <p:sldIdLst>
    <p:sldId xmlns:r="http://schemas.openxmlformats.org/officeDocument/2006/relationships" id="256" r:id="R86791bf87752472f"/>
    <p:sldId xmlns:r="http://schemas.openxmlformats.org/officeDocument/2006/relationships" id="257" r:id="Rf57918bd387b47a6"/>
    <p:sldId xmlns:r="http://schemas.openxmlformats.org/officeDocument/2006/relationships" id="258" r:id="R0830e1ff08f94041"/>
    <p:sldId xmlns:r="http://schemas.openxmlformats.org/officeDocument/2006/relationships" id="259" r:id="Rc81df19084fd4f50"/>
    <p:sldId xmlns:r="http://schemas.openxmlformats.org/officeDocument/2006/relationships" id="260" r:id="Re73d0e0cd24e4df3"/>
    <p:sldId xmlns:r="http://schemas.openxmlformats.org/officeDocument/2006/relationships" id="261" r:id="R6699c083b05d4e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34c48087fc4724" /><Relationship Type="http://schemas.openxmlformats.org/officeDocument/2006/relationships/slideMaster" Target="/ppt/slideMasters/slideMaster1.xml" Id="R5619888a35504076" /><Relationship Type="http://schemas.openxmlformats.org/officeDocument/2006/relationships/notesMaster" Target="/ppt/notesMasters/notesMaster1.xml" Id="R963524cfef684f51" /><Relationship Type="http://schemas.openxmlformats.org/officeDocument/2006/relationships/presProps" Target="/ppt/presProps.xml" Id="Rb5e8ba4bcc1e4dc1" /><Relationship Type="http://schemas.openxmlformats.org/officeDocument/2006/relationships/tableStyles" Target="/ppt/tableStyles.xml" Id="R692a7f12659749bd" /><Relationship Type="http://schemas.openxmlformats.org/officeDocument/2006/relationships/slide" Target="/ppt/slides/slide1.xml" Id="R86791bf87752472f" /><Relationship Type="http://schemas.openxmlformats.org/officeDocument/2006/relationships/slide" Target="/ppt/slides/slide2.xml" Id="Rf57918bd387b47a6" /><Relationship Type="http://schemas.openxmlformats.org/officeDocument/2006/relationships/slide" Target="/ppt/slides/slide3.xml" Id="R0830e1ff08f94041" /><Relationship Type="http://schemas.openxmlformats.org/officeDocument/2006/relationships/slide" Target="/ppt/slides/slide4.xml" Id="Rc81df19084fd4f50" /><Relationship Type="http://schemas.openxmlformats.org/officeDocument/2006/relationships/slide" Target="/ppt/slides/slide5.xml" Id="Re73d0e0cd24e4df3" /><Relationship Type="http://schemas.openxmlformats.org/officeDocument/2006/relationships/slide" Target="/ppt/slides/slide6.xml" Id="R6699c083b05d4e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54457a975248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70e81cee594d1d" /><Relationship Type="http://schemas.openxmlformats.org/officeDocument/2006/relationships/notesMaster" Target="/ppt/notesMasters/notesMaster1.xml" Id="R20847727c2d946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a2e83eaddc46b4" /><Relationship Type="http://schemas.openxmlformats.org/officeDocument/2006/relationships/notesMaster" Target="/ppt/notesMasters/notesMaster1.xml" Id="R447312882dc144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064084bf1e42e3" /><Relationship Type="http://schemas.openxmlformats.org/officeDocument/2006/relationships/notesMaster" Target="/ppt/notesMasters/notesMaster1.xml" Id="R6eb44b31dd0343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15acd763b24994" /><Relationship Type="http://schemas.openxmlformats.org/officeDocument/2006/relationships/notesMaster" Target="/ppt/notesMasters/notesMaster1.xml" Id="Rdbc24e94a4de4c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eafff86f084477" /><Relationship Type="http://schemas.openxmlformats.org/officeDocument/2006/relationships/notesMaster" Target="/ppt/notesMasters/notesMaster1.xml" Id="Rc4b6cc19346147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da5649aaa1417a" /><Relationship Type="http://schemas.openxmlformats.org/officeDocument/2006/relationships/notesMaster" Target="/ppt/notesMasters/notesMaster1.xml" Id="R7069fa3016214f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señalar: Presentad la idea y señalad qué funciona hoy y qué construiréis después.</a:t>
            </a:r>
          </a:p>
          <a:p xmlns:a="http://schemas.openxmlformats.org/drawingml/2006/main">
            <a:r>
              <a:t/>
            </a:r>
          </a:p>
          <a:p xmlns:a="http://schemas.openxmlformats.org/drawingml/2006/main">
            <a:r>
              <a:t>ENGLISH</a:t>
            </a:r>
          </a:p>
          <a:p xmlns:a="http://schemas.openxmlformats.org/drawingml/2006/main">
            <a:r>
              <a:t>Our project is Delivery Atlas, a fictional food delivery app inspired by Uber Eats and Glovo. We want to record user actions and show them in a dashboard.</a:t>
            </a:r>
          </a:p>
          <a:p xmlns:a="http://schemas.openxmlformats.org/drawingml/2006/main">
            <a:r>
              <a:t/>
            </a:r>
          </a:p>
          <a:p xmlns:a="http://schemas.openxmlformats.org/drawingml/2006/main">
            <a:r>
              <a:t>We already have a working ClickHouse lab with large public datasets. The delivery app is our next step.</a:t>
            </a:r>
          </a:p>
          <a:p xmlns:a="http://schemas.openxmlformats.org/drawingml/2006/main">
            <a:r>
              <a:t/>
            </a:r>
          </a:p>
          <a:p xmlns:a="http://schemas.openxmlformats.org/drawingml/2006/main">
            <a:r>
              <a:t>Next: First, what is ClickHouse?</a:t>
            </a:r>
          </a:p>
          <a:p xmlns:a="http://schemas.openxmlformats.org/drawingml/2006/main">
            <a:r>
              <a:t/>
            </a:r>
          </a:p>
          <a:p xmlns:a="http://schemas.openxmlformats.org/drawingml/2006/main">
            <a:r>
              <a:t>ESPAÑOL</a:t>
            </a:r>
          </a:p>
          <a:p xmlns:a="http://schemas.openxmlformats.org/drawingml/2006/main">
            <a:r>
              <a:t>Nuestro proyecto es Delivery Atlas, una aplicación ficticia de reparto inspirada en Uber Eats y Glovo. Queremos registrar las acciones de los usuarios y mostrarlas en un dashboard.</a:t>
            </a:r>
          </a:p>
          <a:p xmlns:a="http://schemas.openxmlformats.org/drawingml/2006/main">
            <a:r>
              <a:t/>
            </a:r>
          </a:p>
          <a:p xmlns:a="http://schemas.openxmlformats.org/drawingml/2006/main">
            <a:r>
              <a:t>Ya tenemos un entorno de ClickHouse funcionando con grandes datasets públicos. El siguiente paso es construir la aplicación de reparto.</a:t>
            </a:r>
          </a:p>
          <a:p xmlns:a="http://schemas.openxmlformats.org/drawingml/2006/main">
            <a:r>
              <a:t/>
            </a:r>
          </a:p>
          <a:p xmlns:a="http://schemas.openxmlformats.org/drawingml/2006/main">
            <a:r>
              <a:t>Transición: Primero, ¿qué es ClickHouse?</a:t>
            </a:r>
          </a:p>
          <a:p xmlns:a="http://schemas.openxmlformats.org/drawingml/2006/main">
            <a:r>
              <a:t/>
            </a:r>
          </a:p>
          <a:p xmlns:a="http://schemas.openxmlformats.org/drawingml/2006/main">
            <a:r>
              <a:t>Tiempo: 0:00 - 0:30</a:t>
            </a:r>
          </a:p>
          <a:p xmlns:a="http://schemas.openxmlformats.org/drawingml/2006/main">
            <a:r>
              <a:t/>
            </a:r>
          </a:p>
          <a:p xmlns:a="http://schemas.openxmlformats.org/drawingml/2006/main">
            <a:r>
              <a:t>Sources:</a:t>
            </a:r>
          </a:p>
          <a:p xmlns:a="http://schemas.openxmlformats.org/drawingml/2006/main">
            <a:r>
              <a:t>docs/PLATAFORMA-FICTICIA.md</a:t>
            </a:r>
          </a:p>
          <a:p xmlns:a="http://schemas.openxmlformats.org/drawingml/2006/main">
            <a:r>
              <a:t>docs/ESTADO-EQUIPO.md</a:t>
            </a:r>
          </a:p>
          <a:p xmlns:a="http://schemas.openxmlformats.org/drawingml/2006/main">
            <a:r>
              <a:t>Cover: conceptual AI-generated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señalar: Explicad las tres ideas de la izquierda. La tabla es solo un ejemplo sencillo.</a:t>
            </a:r>
          </a:p>
          <a:p xmlns:a="http://schemas.openxmlformats.org/drawingml/2006/main">
            <a:r>
              <a:t/>
            </a:r>
          </a:p>
          <a:p xmlns:a="http://schemas.openxmlformats.org/drawingml/2006/main">
            <a:r>
              <a:t>ENGLISH</a:t>
            </a:r>
          </a:p>
          <a:p xmlns:a="http://schemas.openxmlformats.org/drawingml/2006/main">
            <a:r>
              <a:t>ClickHouse is a database designed to analyse large amounts of data. It stores information by columns, so a query can read the fields it needs.</a:t>
            </a:r>
          </a:p>
          <a:p xmlns:a="http://schemas.openxmlformats.org/drawingml/2006/main">
            <a:r>
              <a:t/>
            </a:r>
          </a:p>
          <a:p xmlns:a="http://schemas.openxmlformats.org/drawingml/2006/main">
            <a:r>
              <a:t>We use SQL to count events and filter results, for example by date or city. This makes it a good fit for a dashboard with millions of records.</a:t>
            </a:r>
          </a:p>
          <a:p xmlns:a="http://schemas.openxmlformats.org/drawingml/2006/main">
            <a:r>
              <a:t/>
            </a:r>
          </a:p>
          <a:p xmlns:a="http://schemas.openxmlformats.org/drawingml/2006/main">
            <a:r>
              <a:t>We run our current database in Docker on one node.</a:t>
            </a:r>
          </a:p>
          <a:p xmlns:a="http://schemas.openxmlformats.org/drawingml/2006/main">
            <a:r>
              <a:t/>
            </a:r>
          </a:p>
          <a:p xmlns:a="http://schemas.openxmlformats.org/drawingml/2006/main">
            <a:r>
              <a:t>Next: These are the datasets we use to test it.</a:t>
            </a:r>
          </a:p>
          <a:p xmlns:a="http://schemas.openxmlformats.org/drawingml/2006/main">
            <a:r>
              <a:t/>
            </a:r>
          </a:p>
          <a:p xmlns:a="http://schemas.openxmlformats.org/drawingml/2006/main">
            <a:r>
              <a:t>ESPAÑOL</a:t>
            </a:r>
          </a:p>
          <a:p xmlns:a="http://schemas.openxmlformats.org/drawingml/2006/main">
            <a:r>
              <a:t>ClickHouse es una base de datos diseñada para analizar grandes cantidades de datos. Guarda la información por columnas, de modo que una consulta puede leer los campos que necesita.</a:t>
            </a:r>
          </a:p>
          <a:p xmlns:a="http://schemas.openxmlformats.org/drawingml/2006/main">
            <a:r>
              <a:t/>
            </a:r>
          </a:p>
          <a:p xmlns:a="http://schemas.openxmlformats.org/drawingml/2006/main">
            <a:r>
              <a:t>Usamos SQL para contar eventos y filtrar resultados, por ejemplo por fecha o ciudad. Por eso encaja con un dashboard que trabaja con millones de registros.</a:t>
            </a:r>
          </a:p>
          <a:p xmlns:a="http://schemas.openxmlformats.org/drawingml/2006/main">
            <a:r>
              <a:t/>
            </a:r>
          </a:p>
          <a:p xmlns:a="http://schemas.openxmlformats.org/drawingml/2006/main">
            <a:r>
              <a:t>Nuestra base de datos actual funciona en Docker, en un solo nodo.</a:t>
            </a:r>
          </a:p>
          <a:p xmlns:a="http://schemas.openxmlformats.org/drawingml/2006/main">
            <a:r>
              <a:t/>
            </a:r>
          </a:p>
          <a:p xmlns:a="http://schemas.openxmlformats.org/drawingml/2006/main">
            <a:r>
              <a:t>Transición: Estos son los datasets que usamos para probarla.</a:t>
            </a:r>
          </a:p>
          <a:p xmlns:a="http://schemas.openxmlformats.org/drawingml/2006/main">
            <a:r>
              <a:t/>
            </a:r>
          </a:p>
          <a:p xmlns:a="http://schemas.openxmlformats.org/drawingml/2006/main">
            <a:r>
              <a:t>Tiempo: 0:30 - 1:10</a:t>
            </a:r>
          </a:p>
          <a:p xmlns:a="http://schemas.openxmlformats.org/drawingml/2006/main">
            <a:r>
              <a:t/>
            </a:r>
          </a:p>
          <a:p xmlns:a="http://schemas.openxmlformats.org/drawingml/2006/main">
            <a:r>
              <a:t>Sources:</a:t>
            </a:r>
          </a:p>
          <a:p xmlns:a="http://schemas.openxmlformats.org/drawingml/2006/main">
            <a:r>
              <a:t>https://clickhouse.com/docs/get-started/about/intro</a:t>
            </a:r>
          </a:p>
          <a:p xmlns:a="http://schemas.openxmlformats.org/drawingml/2006/main">
            <a:r>
              <a:t>compose.yaml</a:t>
            </a:r>
          </a:p>
          <a:p xmlns:a="http://schemas.openxmlformats.org/drawingml/2006/main">
            <a:r>
              <a:t>Example table: fictional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señalar: Señalad los datos públicos y después la actividad ficticia que proponéis generar.</a:t>
            </a:r>
          </a:p>
          <a:p xmlns:a="http://schemas.openxmlformats.org/drawingml/2006/main">
            <a:r>
              <a:t/>
            </a:r>
          </a:p>
          <a:p xmlns:a="http://schemas.openxmlformats.org/drawingml/2006/main">
            <a:r>
              <a:t>ENGLISH</a:t>
            </a:r>
          </a:p>
          <a:p xmlns:a="http://schemas.openxmlformats.org/drawingml/2006/main">
            <a:r>
              <a:t>Our main datasets are OTTO and REES46, with about 628 million historical e-commerce events in total. They come from different populations, so we keep them separate.</a:t>
            </a:r>
          </a:p>
          <a:p xmlns:a="http://schemas.openxmlformats.org/drawingml/2006/main">
            <a:r>
              <a:t/>
            </a:r>
          </a:p>
          <a:p xmlns:a="http://schemas.openxmlformats.org/drawingml/2006/main">
            <a:r>
              <a:t>Ele.me adds food recommendation samples. Glovo adds a product catalogue, including products from Spain. These records have different meanings.</a:t>
            </a:r>
          </a:p>
          <a:p xmlns:a="http://schemas.openxmlformats.org/drawingml/2006/main">
            <a:r>
              <a:t/>
            </a:r>
          </a:p>
          <a:p xmlns:a="http://schemas.openxmlformats.org/drawingml/2006/main">
            <a:r>
              <a:t>For our own app, we propose simulated food delivery actions, such as opening a restaurant or adding a product to the cart. We will clearly label simulated data.</a:t>
            </a:r>
          </a:p>
          <a:p xmlns:a="http://schemas.openxmlformats.org/drawingml/2006/main">
            <a:r>
              <a:t/>
            </a:r>
          </a:p>
          <a:p xmlns:a="http://schemas.openxmlformats.org/drawingml/2006/main">
            <a:r>
              <a:t>Next: Next, this is how we propose to collect and organise app events.</a:t>
            </a:r>
          </a:p>
          <a:p xmlns:a="http://schemas.openxmlformats.org/drawingml/2006/main">
            <a:r>
              <a:t/>
            </a:r>
          </a:p>
          <a:p xmlns:a="http://schemas.openxmlformats.org/drawingml/2006/main">
            <a:r>
              <a:t>ESPAÑOL</a:t>
            </a:r>
          </a:p>
          <a:p xmlns:a="http://schemas.openxmlformats.org/drawingml/2006/main">
            <a:r>
              <a:t>Los principales datasets son OTTO y REES46, con unos 628 millones de eventos históricos de comercio electrónico en total. Proceden de poblaciones diferentes, por eso los mantenemos separados.</a:t>
            </a:r>
          </a:p>
          <a:p xmlns:a="http://schemas.openxmlformats.org/drawingml/2006/main">
            <a:r>
              <a:t/>
            </a:r>
          </a:p>
          <a:p xmlns:a="http://schemas.openxmlformats.org/drawingml/2006/main">
            <a:r>
              <a:t>Ele.me aporta muestras de recomendaciones de comida. Glovo aporta un catálogo de productos, incluidos productos de España. Estos registros tienen significados distintos.</a:t>
            </a:r>
          </a:p>
          <a:p xmlns:a="http://schemas.openxmlformats.org/drawingml/2006/main">
            <a:r>
              <a:t/>
            </a:r>
          </a:p>
          <a:p xmlns:a="http://schemas.openxmlformats.org/drawingml/2006/main">
            <a:r>
              <a:t>Para nuestra propia aplicación, proponemos acciones simuladas de reparto, como abrir un restaurante o añadir un producto al carrito. Identificaremos claramente los datos simulados.</a:t>
            </a:r>
          </a:p>
          <a:p xmlns:a="http://schemas.openxmlformats.org/drawingml/2006/main">
            <a:r>
              <a:t/>
            </a:r>
          </a:p>
          <a:p xmlns:a="http://schemas.openxmlformats.org/drawingml/2006/main">
            <a:r>
              <a:t>Transición: Ahora veremos cómo proponemos recoger y organizar los eventos de la aplicación.</a:t>
            </a:r>
          </a:p>
          <a:p xmlns:a="http://schemas.openxmlformats.org/drawingml/2006/main">
            <a:r>
              <a:t/>
            </a:r>
          </a:p>
          <a:p xmlns:a="http://schemas.openxmlformats.org/drawingml/2006/main">
            <a:r>
              <a:t>Tiempo: 1:10 - 2:00</a:t>
            </a:r>
          </a:p>
          <a:p xmlns:a="http://schemas.openxmlformats.org/drawingml/2006/main">
            <a:r>
              <a:t/>
            </a:r>
          </a:p>
          <a:p xmlns:a="http://schemas.openxmlformats.org/drawingml/2006/main">
            <a:r>
              <a:t>Sources:</a:t>
            </a:r>
          </a:p>
          <a:p xmlns:a="http://schemas.openxmlformats.org/drawingml/2006/main">
            <a:r>
              <a:t>docs/RESULTADOS.md</a:t>
            </a:r>
          </a:p>
          <a:p xmlns:a="http://schemas.openxmlformats.org/drawingml/2006/main">
            <a:r>
              <a:t>docs/ESTADO-EQUIPO.md</a:t>
            </a:r>
          </a:p>
          <a:p xmlns:a="http://schemas.openxmlformats.org/drawingml/2006/main">
            <a:r>
              <a:t>docs/PLATAFORMA-FICTICIA.md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señalar: Recorred las flechas y explicad la tabla: una acción, una fila. Aclarad que es una propuesta.</a:t>
            </a:r>
          </a:p>
          <a:p xmlns:a="http://schemas.openxmlformats.org/drawingml/2006/main">
            <a:r>
              <a:t/>
            </a:r>
          </a:p>
          <a:p xmlns:a="http://schemas.openxmlformats.org/drawingml/2006/main">
            <a:r>
              <a:t>ENGLISH</a:t>
            </a:r>
          </a:p>
          <a:p xmlns:a="http://schemas.openxmlformats.org/drawingml/2006/main">
            <a:r>
              <a:t>The proposed flow is simple: the app produces an event, Python checks it, and ClickHouse stores it. The dashboard will query the results through Python.</a:t>
            </a:r>
          </a:p>
          <a:p xmlns:a="http://schemas.openxmlformats.org/drawingml/2006/main">
            <a:r>
              <a:t/>
            </a:r>
          </a:p>
          <a:p xmlns:a="http://schemas.openxmlformats.org/drawingml/2006/main">
            <a:r>
              <a:t>One row represents one action. We record an event ID, the session, the time, the action, the city and the origin of the data. For example, a simulated user opens a restaurant in Madrid.</a:t>
            </a:r>
          </a:p>
          <a:p xmlns:a="http://schemas.openxmlformats.org/drawingml/2006/main">
            <a:r>
              <a:t/>
            </a:r>
          </a:p>
          <a:p xmlns:a="http://schemas.openxmlformats.org/drawingml/2006/main">
            <a:r>
              <a:t>We plan to group data by month and create daily summaries. The SQL design exists, but this app integration is still a proposal.</a:t>
            </a:r>
          </a:p>
          <a:p xmlns:a="http://schemas.openxmlformats.org/drawingml/2006/main">
            <a:r>
              <a:t/>
            </a:r>
          </a:p>
          <a:p xmlns:a="http://schemas.openxmlformats.org/drawingml/2006/main">
            <a:r>
              <a:t>Next: We have already tested why daily summaries can help.</a:t>
            </a:r>
          </a:p>
          <a:p xmlns:a="http://schemas.openxmlformats.org/drawingml/2006/main">
            <a:r>
              <a:t/>
            </a:r>
          </a:p>
          <a:p xmlns:a="http://schemas.openxmlformats.org/drawingml/2006/main">
            <a:r>
              <a:t>ESPAÑOL</a:t>
            </a:r>
          </a:p>
          <a:p xmlns:a="http://schemas.openxmlformats.org/drawingml/2006/main">
            <a:r>
              <a:t>El recorrido propuesto es sencillo: la aplicación genera un evento, Python lo comprueba y ClickHouse lo guarda. El dashboard consultará los resultados a través de Python.</a:t>
            </a:r>
          </a:p>
          <a:p xmlns:a="http://schemas.openxmlformats.org/drawingml/2006/main">
            <a:r>
              <a:t/>
            </a:r>
          </a:p>
          <a:p xmlns:a="http://schemas.openxmlformats.org/drawingml/2006/main">
            <a:r>
              <a:t>Cada fila representa una acción. Guardamos un identificador del evento, la sesión, la hora, la acción, la ciudad y el origen de los datos. Por ejemplo, un usuario simulado abre un restaurante en Madrid.</a:t>
            </a:r>
          </a:p>
          <a:p xmlns:a="http://schemas.openxmlformats.org/drawingml/2006/main">
            <a:r>
              <a:t/>
            </a:r>
          </a:p>
          <a:p xmlns:a="http://schemas.openxmlformats.org/drawingml/2006/main">
            <a:r>
              <a:t>Queremos agrupar los datos por mes y crear resúmenes diarios. El diseño SQL existe, pero esta integración con la aplicación sigue siendo una propuesta.</a:t>
            </a:r>
          </a:p>
          <a:p xmlns:a="http://schemas.openxmlformats.org/drawingml/2006/main">
            <a:r>
              <a:t/>
            </a:r>
          </a:p>
          <a:p xmlns:a="http://schemas.openxmlformats.org/drawingml/2006/main">
            <a:r>
              <a:t>Transición: Ya hemos probado por qué los resúmenes diarios pueden ayudar.</a:t>
            </a:r>
          </a:p>
          <a:p xmlns:a="http://schemas.openxmlformats.org/drawingml/2006/main">
            <a:r>
              <a:t/>
            </a:r>
          </a:p>
          <a:p xmlns:a="http://schemas.openxmlformats.org/drawingml/2006/main">
            <a:r>
              <a:t>Tiempo: 2:00 - 3:10</a:t>
            </a:r>
          </a:p>
          <a:p xmlns:a="http://schemas.openxmlformats.org/drawingml/2006/main">
            <a:r>
              <a:t/>
            </a:r>
          </a:p>
          <a:p xmlns:a="http://schemas.openxmlformats.org/drawingml/2006/main">
            <a:r>
              <a:t>Sources:</a:t>
            </a:r>
          </a:p>
          <a:p xmlns:a="http://schemas.openxmlformats.org/drawingml/2006/main">
            <a:r>
              <a:t>sql/propuesta_delivery.sql</a:t>
            </a:r>
          </a:p>
          <a:p xmlns:a="http://schemas.openxmlformats.org/drawingml/2006/main">
            <a:r>
              <a:t>docs/ESTRUCTURA-BD.md</a:t>
            </a:r>
          </a:p>
          <a:p xmlns:a="http://schemas.openxmlformats.org/drawingml/2006/main">
            <a:r>
              <a:t>Proposed integration. SQL design not deployed.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señalar: Señalad las barras: 5,89 segundos frente a 0,21. El resultado es el mismo.</a:t>
            </a:r>
          </a:p>
          <a:p xmlns:a="http://schemas.openxmlformats.org/drawingml/2006/main">
            <a:r>
              <a:t/>
            </a:r>
          </a:p>
          <a:p xmlns:a="http://schemas.openxmlformats.org/drawingml/2006/main">
            <a:r>
              <a:t>ENGLISH</a:t>
            </a:r>
          </a:p>
          <a:p xmlns:a="http://schemas.openxmlformats.org/drawingml/2006/main">
            <a:r>
              <a:t>We tested counting OTTO events by day and type. Reading about 217 million events took 5.89 seconds.</a:t>
            </a:r>
          </a:p>
          <a:p xmlns:a="http://schemas.openxmlformats.org/drawingml/2006/main">
            <a:r>
              <a:t/>
            </a:r>
          </a:p>
          <a:p xmlns:a="http://schemas.openxmlformats.org/drawingml/2006/main">
            <a:r>
              <a:t>Reading a daily summary took 0.21 seconds, with the same answer. That was about 28 times faster in this test on our computer.</a:t>
            </a:r>
          </a:p>
          <a:p xmlns:a="http://schemas.openxmlformats.org/drawingml/2006/main">
            <a:r>
              <a:t/>
            </a:r>
          </a:p>
          <a:p xmlns:a="http://schemas.openxmlformats.org/drawingml/2006/main">
            <a:r>
              <a:t>Both queries used ClickHouse. This shows how daily summaries can help the dashboard respond faster.</a:t>
            </a:r>
          </a:p>
          <a:p xmlns:a="http://schemas.openxmlformats.org/drawingml/2006/main">
            <a:r>
              <a:t/>
            </a:r>
          </a:p>
          <a:p xmlns:a="http://schemas.openxmlformats.org/drawingml/2006/main">
            <a:r>
              <a:t>Next: Finally, this is what works today and what comes next.</a:t>
            </a:r>
          </a:p>
          <a:p xmlns:a="http://schemas.openxmlformats.org/drawingml/2006/main">
            <a:r>
              <a:t/>
            </a:r>
          </a:p>
          <a:p xmlns:a="http://schemas.openxmlformats.org/drawingml/2006/main">
            <a:r>
              <a:t>ESPAÑOL</a:t>
            </a:r>
          </a:p>
          <a:p xmlns:a="http://schemas.openxmlformats.org/drawingml/2006/main">
            <a:r>
              <a:t>Probamos a contar los eventos de OTTO por día y tipo. Leer unos 217 millones de eventos tardó 5,89 segundos.</a:t>
            </a:r>
          </a:p>
          <a:p xmlns:a="http://schemas.openxmlformats.org/drawingml/2006/main">
            <a:r>
              <a:t/>
            </a:r>
          </a:p>
          <a:p xmlns:a="http://schemas.openxmlformats.org/drawingml/2006/main">
            <a:r>
              <a:t>Consultar un resumen diario tardó 0,21 segundos, con el mismo resultado. Fue casi 28 veces más rápido en esta prueba, en nuestro ordenador.</a:t>
            </a:r>
          </a:p>
          <a:p xmlns:a="http://schemas.openxmlformats.org/drawingml/2006/main">
            <a:r>
              <a:t/>
            </a:r>
          </a:p>
          <a:p xmlns:a="http://schemas.openxmlformats.org/drawingml/2006/main">
            <a:r>
              <a:t>Las dos consultas usaron ClickHouse. Esto muestra cómo los resúmenes diarios pueden ayudar a que el dashboard responda más rápido.</a:t>
            </a:r>
          </a:p>
          <a:p xmlns:a="http://schemas.openxmlformats.org/drawingml/2006/main">
            <a:r>
              <a:t/>
            </a:r>
          </a:p>
          <a:p xmlns:a="http://schemas.openxmlformats.org/drawingml/2006/main">
            <a:r>
              <a:t>Transición: Para terminar, esto es lo que funciona hoy y lo que haremos después.</a:t>
            </a:r>
          </a:p>
          <a:p xmlns:a="http://schemas.openxmlformats.org/drawingml/2006/main">
            <a:r>
              <a:t/>
            </a:r>
          </a:p>
          <a:p xmlns:a="http://schemas.openxmlformats.org/drawingml/2006/main">
            <a:r>
              <a:t>Tiempo: 3:10 - 4:00</a:t>
            </a:r>
          </a:p>
          <a:p xmlns:a="http://schemas.openxmlformats.org/drawingml/2006/main">
            <a:r>
              <a:t/>
            </a:r>
          </a:p>
          <a:p xmlns:a="http://schemas.openxmlformats.org/drawingml/2006/main">
            <a:r>
              <a:t>Sources:</a:t>
            </a:r>
          </a:p>
          <a:p xmlns:a="http://schemas.openxmlformats.org/drawingml/2006/main">
            <a:r>
              <a:t>data/query-benchmark.json</a:t>
            </a:r>
          </a:p>
          <a:p xmlns:a="http://schemas.openxmlformats.org/drawingml/2006/main">
            <a:r>
              <a:t>docs/RESULTADOS.md</a:t>
            </a:r>
          </a:p>
          <a:p xmlns:a="http://schemas.openxmlformats.org/drawingml/2006/main">
            <a:r>
              <a:t>scripts/benchmark.py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señalar: Primero lo que ya funciona. Después lo que vais a construir y comprobar.</a:t>
            </a:r>
          </a:p>
          <a:p xmlns:a="http://schemas.openxmlformats.org/drawingml/2006/main">
            <a:r>
              <a:t/>
            </a:r>
          </a:p>
          <a:p xmlns:a="http://schemas.openxmlformats.org/drawingml/2006/main">
            <a:r>
              <a:t>ENGLISH</a:t>
            </a:r>
          </a:p>
          <a:p xmlns:a="http://schemas.openxmlformats.org/drawingml/2006/main">
            <a:r>
              <a:t>Today, ClickHouse, the public datasets and the dashboard already work. We also have a measured query comparison.</a:t>
            </a:r>
          </a:p>
          <a:p xmlns:a="http://schemas.openxmlformats.org/drawingml/2006/main">
            <a:r>
              <a:t/>
            </a:r>
          </a:p>
          <a:p xmlns:a="http://schemas.openxmlformats.org/drawingml/2006/main">
            <a:r>
              <a:t>Next, we will connect the delivery mini app and generate simulated activity. We will check that the dashboard shows new actions correctly.</a:t>
            </a:r>
          </a:p>
          <a:p xmlns:a="http://schemas.openxmlformats.org/drawingml/2006/main">
            <a:r>
              <a:t/>
            </a:r>
          </a:p>
          <a:p xmlns:a="http://schemas.openxmlformats.org/drawingml/2006/main">
            <a:r>
              <a:t>We also need to avoid counting repeated requests twice, test many actions arriving at once, and check that another person can run the project. Our current setup uses one node, so failure recovery still needs testing.</a:t>
            </a:r>
          </a:p>
          <a:p xmlns:a="http://schemas.openxmlformats.org/drawingml/2006/main">
            <a:r>
              <a:t/>
            </a:r>
          </a:p>
          <a:p xmlns:a="http://schemas.openxmlformats.org/drawingml/2006/main">
            <a:r>
              <a:t>Next: Thank you. We can show the dashboard or answer your questions.</a:t>
            </a:r>
          </a:p>
          <a:p xmlns:a="http://schemas.openxmlformats.org/drawingml/2006/main">
            <a:r>
              <a:t/>
            </a:r>
          </a:p>
          <a:p xmlns:a="http://schemas.openxmlformats.org/drawingml/2006/main">
            <a:r>
              <a:t>ESPAÑOL</a:t>
            </a:r>
          </a:p>
          <a:p xmlns:a="http://schemas.openxmlformats.org/drawingml/2006/main">
            <a:r>
              <a:t>Actualmente, ClickHouse, los datasets públicos y el dashboard ya funcionan. También tenemos una comparación de consultas medida.</a:t>
            </a:r>
          </a:p>
          <a:p xmlns:a="http://schemas.openxmlformats.org/drawingml/2006/main">
            <a:r>
              <a:t/>
            </a:r>
          </a:p>
          <a:p xmlns:a="http://schemas.openxmlformats.org/drawingml/2006/main">
            <a:r>
              <a:t>Después vamos a conectar la pequeña aplicación de reparto y generar actividad simulada. Comprobaremos que el dashboard muestre correctamente las nuevas acciones.</a:t>
            </a:r>
          </a:p>
          <a:p xmlns:a="http://schemas.openxmlformats.org/drawingml/2006/main">
            <a:r>
              <a:t/>
            </a:r>
          </a:p>
          <a:p xmlns:a="http://schemas.openxmlformats.org/drawingml/2006/main">
            <a:r>
              <a:t>También necesitamos evitar contar dos veces las peticiones repetidas, probar muchas acciones llegando a la vez y comprobar que otra persona pueda ejecutar el proyecto. El entorno actual usa un solo nodo, por lo que aún debemos probar la recuperación ante fallos.</a:t>
            </a:r>
          </a:p>
          <a:p xmlns:a="http://schemas.openxmlformats.org/drawingml/2006/main">
            <a:r>
              <a:t/>
            </a:r>
          </a:p>
          <a:p xmlns:a="http://schemas.openxmlformats.org/drawingml/2006/main">
            <a:r>
              <a:t>Transición: Gracias. Podemos enseñar el dashboard o responder a vuestras preguntas.</a:t>
            </a:r>
          </a:p>
          <a:p xmlns:a="http://schemas.openxmlformats.org/drawingml/2006/main">
            <a:r>
              <a:t/>
            </a:r>
          </a:p>
          <a:p xmlns:a="http://schemas.openxmlformats.org/drawingml/2006/main">
            <a:r>
              <a:t>Tiempo: 4:00 - 5:00</a:t>
            </a:r>
          </a:p>
          <a:p xmlns:a="http://schemas.openxmlformats.org/drawingml/2006/main">
            <a:r>
              <a:t/>
            </a:r>
          </a:p>
          <a:p xmlns:a="http://schemas.openxmlformats.org/drawingml/2006/main">
            <a:r>
              <a:t>Sources:</a:t>
            </a:r>
          </a:p>
          <a:p xmlns:a="http://schemas.openxmlformats.org/drawingml/2006/main">
            <a:r>
              <a:t>docs/REVISION-TEORIA.md</a:t>
            </a:r>
          </a:p>
          <a:p xmlns:a="http://schemas.openxmlformats.org/drawingml/2006/main">
            <a:r>
              <a:t>docs/PLATAFORMA-FICTICIA.md</a:t>
            </a:r>
          </a:p>
          <a:p xmlns:a="http://schemas.openxmlformats.org/drawingml/2006/main">
            <a:r>
              <a:t>docs/ESTADO-EQUIPO.md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2da2cf5d3a4f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18236e0de54592" /><Relationship Type="http://schemas.openxmlformats.org/officeDocument/2006/relationships/slideLayout" Target="/ppt/slideLayouts/slideLayout1.xml" Id="Rb2d36aff99024a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d36aff99024a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24f14d53e648a1" /><Relationship Type="http://schemas.openxmlformats.org/officeDocument/2006/relationships/image" Target="/ppt/media/image.png" Id="R1bf01bd5011e4e3a" /><Relationship Type="http://schemas.openxmlformats.org/officeDocument/2006/relationships/notesSlide" Target="/ppt/notesSlides/notesSlide1.xml" Id="R819c091033fe45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1418ea9d2143fc" /><Relationship Type="http://schemas.openxmlformats.org/officeDocument/2006/relationships/notesSlide" Target="/ppt/notesSlides/notesSlide2.xml" Id="R6398f2eb52084d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418f8e77544086" /><Relationship Type="http://schemas.openxmlformats.org/officeDocument/2006/relationships/notesSlide" Target="/ppt/notesSlides/notesSlide3.xml" Id="Rcba1134f1e0040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d101904c5b4bb4" /><Relationship Type="http://schemas.openxmlformats.org/officeDocument/2006/relationships/notesSlide" Target="/ppt/notesSlides/notesSlide4.xml" Id="R8cf31577c10e4f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e8d95fba09478e" /><Relationship Type="http://schemas.openxmlformats.org/officeDocument/2006/relationships/chart" Target="/ppt/slides/charts/chart1.xml" Id="Rd86d212e60954eb8" /><Relationship Type="http://schemas.openxmlformats.org/officeDocument/2006/relationships/notesSlide" Target="/ppt/notesSlides/notesSlide5.xml" Id="Rd5e061e638604b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3022c2c2f840b1" /><Relationship Type="http://schemas.openxmlformats.org/officeDocument/2006/relationships/notesSlide" Target="/ppt/notesSlides/notesSlide6.xml" Id="Ra0bd936c82da499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55695F"/>
                </a:solidFill>
                <a:latin typeface="Helvetica Neue"/>
                <a:ea typeface="Helvetica Neue"/>
                <a:cs typeface="Helvetica Neue"/>
              </a:rPr>
              <a:t>Query time (seconds)</a:t>
            </a:r>
          </a:p>
        </c:rich>
      </c:tx>
      <c:overlay val="0"/>
      <c:txPr>
        <a:bodyPr xmlns:a="http://schemas.openxmlformats.org/drawingml/2006/main" anchorCtr="1"/>
        <a:lstStyle xmlns:a="http://schemas.openxmlformats.org/drawingml/2006/main"/>
        <a:p xmlns:a="http://schemas.openxmlformats.org/drawingml/2006/main">
          <a:pPr>
            <a:defRPr sz="1950">
              <a:solidFill>
                <a:srgbClr val="55695F"/>
              </a:solidFill>
              <a:latin typeface="Helvetica Neue"/>
              <a:ea typeface="Helvetica Neue"/>
              <a:cs typeface="Helvetica Neue"/>
            </a:defRPr>
          </a:pPr>
        </a:p>
      </c:txPr>
    </c:title>
    <c:plotArea>
      <c:barChart>
        <c:barDir val="bar"/>
        <c:grouping val="clustered"/>
        <c:varyColors val="0"/>
        <c:ser>
          <c:idx val="0"/>
          <c:order val="0"/>
          <c:tx>
            <c:v>Seconds</c:v>
          </c:tx>
          <c:spPr>
            <a:solidFill xmlns:a="http://schemas.openxmlformats.org/drawingml/2006/main">
              <a:srgbClr val="4C7D5E"/>
            </a:solidFill>
          </c:spPr>
          <c:cat>
            <c:strRef>
              <c:f>'Chart Data'!$A$2:$A$3</c:f>
              <c:strCache>
                <c:ptCount val="2"/>
                <c:pt idx="0">
                  <c:v>All events</c:v>
                </c:pt>
                <c:pt idx="1">
                  <c:v>Daily summary</c:v>
                </c:pt>
              </c:strCache>
            </c:strRef>
          </c:cat>
          <c:val>
            <c:numRef>
              <c:f>'Chart Data'!$B$2:$B$3</c:f>
              <c:numCache>
                <c:formatCode>0.00</c:formatCode>
                <c:ptCount val="2"/>
                <c:pt idx="0">
                  <c:v>5.8908</c:v>
                </c:pt>
                <c:pt idx="1">
                  <c:v>0.2113</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83D32"/>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83D32"/>
                </a:solidFill>
                <a:latin typeface="Helvetica Neue"/>
                <a:ea typeface="Helvetica Neue"/>
                <a:cs typeface="Helvetica Neue"/>
              </a:defRPr>
            </a:pPr>
          </a:p>
        </c:txPr>
        <c:crossAx val="48672768"/>
      </c:catAx>
      <c:valAx>
        <c:axId val="48672768"/>
        <c:scaling>
          <c:orientation val="minMax"/>
          <c:max val="6.5"/>
          <c:min val="0"/>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5695F"/>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5DD2BB-0BA6-406F-ABA3-BB181817F47A}"/>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Delivery Atlas</a:t>
            </a:r>
          </a:p>
        </p:txBody>
      </p:sp>
      <p:sp>
        <p:nvSpPr>
          <p:cNvPr id="2" name="">
            <a:extLst xmlns:a="http://schemas.openxmlformats.org/drawingml/2006/main">
              <a:ext uri="{FF2B5EF4-FFF2-40B4-BE49-F238E27FC236}">
                <a16:creationId xmlns:a16="http://schemas.microsoft.com/office/drawing/2014/main" id="{F63D81FD-BBB8-4992-AB18-37FFFD82447C}"/>
              </a:ext>
            </a:extLst>
          </p:cNvPr>
          <p:cNvSpPr>
            <a:spLocks xmlns:a="http://schemas.openxmlformats.org/drawingml/2006/main" noGrp="1"/>
          </p:cNvSpPr>
          <p:nvPr/>
        </p:nvSpPr>
        <p:spPr>
          <a:xfrm xmlns:a="http://schemas.openxmlformats.org/drawingml/2006/main">
            <a:off x="609600" y="1790700"/>
            <a:ext cx="6286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83D32"/>
                </a:solidFill>
                <a:latin typeface="Helvetica Neue"/>
                <a:ea typeface="Helvetica Neue"/>
                <a:cs typeface="Helvetica Neue"/>
              </a:defRPr>
            </a:pPr>
            <a:r>
              <a:rPr sz="3225" b="0">
                <a:solidFill>
                  <a:srgbClr val="183D32"/>
                </a:solidFill>
                <a:latin typeface="Helvetica Neue"/>
                <a:ea typeface="Helvetica Neue"/>
                <a:cs typeface="Helvetica Neue"/>
              </a:rPr>
              <a:t>ClickHouse event analytics</a:t>
            </a:r>
          </a:p>
          <a:p xmlns:a="http://schemas.openxmlformats.org/drawingml/2006/main">
            <a:pPr>
              <a:defRPr sz="3225" b="0">
                <a:solidFill>
                  <a:srgbClr val="183D32"/>
                </a:solidFill>
                <a:latin typeface="Helvetica Neue"/>
                <a:ea typeface="Helvetica Neue"/>
                <a:cs typeface="Helvetica Neue"/>
              </a:defRPr>
            </a:pPr>
            <a:r>
              <a:rPr sz="3225" b="0">
                <a:solidFill>
                  <a:srgbClr val="183D32"/>
                </a:solidFill>
                <a:latin typeface="Helvetica Neue"/>
                <a:ea typeface="Helvetica Neue"/>
                <a:cs typeface="Helvetica Neue"/>
              </a:rPr>
              <a:t>for a food delivery app</a:t>
            </a:r>
          </a:p>
        </p:txBody>
      </p:sp>
      <p:sp>
        <p:nvSpPr>
          <p:cNvPr id="3" name="">
            <a:extLst xmlns:a="http://schemas.openxmlformats.org/drawingml/2006/main">
              <a:ext uri="{FF2B5EF4-FFF2-40B4-BE49-F238E27FC236}">
                <a16:creationId xmlns:a16="http://schemas.microsoft.com/office/drawing/2014/main" id="{4F947E9A-2C7E-4C85-96DB-BB76BD47BBB5}"/>
              </a:ext>
            </a:extLst>
          </p:cNvPr>
          <p:cNvSpPr>
            <a:spLocks xmlns:a="http://schemas.openxmlformats.org/drawingml/2006/main" noGrp="1"/>
          </p:cNvSpPr>
          <p:nvPr/>
        </p:nvSpPr>
        <p:spPr>
          <a:xfrm xmlns:a="http://schemas.openxmlformats.org/drawingml/2006/main">
            <a:off x="609600" y="3429000"/>
            <a:ext cx="604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5F"/>
                </a:solidFill>
                <a:latin typeface="Helvetica Neue"/>
                <a:ea typeface="Helvetica Neue"/>
                <a:cs typeface="Helvetica Neue"/>
              </a:defRPr>
            </a:pPr>
            <a:r>
              <a:rPr sz="2025" b="0">
                <a:solidFill>
                  <a:srgbClr val="55695F"/>
                </a:solidFill>
                <a:latin typeface="Helvetica Neue"/>
                <a:ea typeface="Helvetica Neue"/>
                <a:cs typeface="Helvetica Neue"/>
              </a:rPr>
              <a:t>Fictional platform inspired by Uber Eats and Glovo</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bf01bd5011e4e3a"/>
          <a:stretch xmlns:a="http://schemas.openxmlformats.org/drawingml/2006/main"/>
        </p:blipFill>
        <p:spPr>
          <a:xfrm xmlns:a="http://schemas.openxmlformats.org/drawingml/2006/main">
            <a:off x="6953250" y="904875"/>
            <a:ext cx="4667250" cy="466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9B587FD-83BF-4331-A069-E42FEB69C300}"/>
              </a:ext>
            </a:extLst>
          </p:cNvPr>
          <p:cNvSpPr>
            <a:spLocks xmlns:a="http://schemas.openxmlformats.org/drawingml/2006/main" noGrp="1"/>
          </p:cNvSpPr>
          <p:nvPr/>
        </p:nvSpPr>
        <p:spPr>
          <a:xfrm xmlns:a="http://schemas.openxmlformats.org/drawingml/2006/main">
            <a:off x="609600" y="47625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C7D5E"/>
                </a:solidFill>
                <a:latin typeface="Helvetica Neue"/>
                <a:ea typeface="Helvetica Neue"/>
                <a:cs typeface="Helvetica Neue"/>
              </a:defRPr>
            </a:pPr>
            <a:r>
              <a:rPr sz="1650" b="1">
                <a:solidFill>
                  <a:srgbClr val="4C7D5E"/>
                </a:solidFill>
                <a:latin typeface="Helvetica Neue"/>
                <a:ea typeface="Helvetica Neue"/>
                <a:cs typeface="Helvetica Neue"/>
              </a:rPr>
              <a:t>WORKING TODAY</a:t>
            </a:r>
          </a:p>
        </p:txBody>
      </p:sp>
      <p:sp>
        <p:nvSpPr>
          <p:cNvPr id="6" name="">
            <a:extLst xmlns:a="http://schemas.openxmlformats.org/drawingml/2006/main">
              <a:ext uri="{FF2B5EF4-FFF2-40B4-BE49-F238E27FC236}">
                <a16:creationId xmlns:a16="http://schemas.microsoft.com/office/drawing/2014/main" id="{A392E873-F937-4790-B6A8-01440FB5FC12}"/>
              </a:ext>
            </a:extLst>
          </p:cNvPr>
          <p:cNvSpPr>
            <a:spLocks xmlns:a="http://schemas.openxmlformats.org/drawingml/2006/main" noGrp="1"/>
          </p:cNvSpPr>
          <p:nvPr/>
        </p:nvSpPr>
        <p:spPr>
          <a:xfrm xmlns:a="http://schemas.openxmlformats.org/drawingml/2006/main">
            <a:off x="609600" y="51816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D32"/>
                </a:solidFill>
                <a:latin typeface="Helvetica Neue"/>
                <a:ea typeface="Helvetica Neue"/>
                <a:cs typeface="Helvetica Neue"/>
              </a:defRPr>
            </a:pPr>
            <a:r>
              <a:rPr sz="2400" b="1">
                <a:solidFill>
                  <a:srgbClr val="183D32"/>
                </a:solidFill>
                <a:latin typeface="Helvetica Neue"/>
                <a:ea typeface="Helvetica Neue"/>
                <a:cs typeface="Helvetica Neue"/>
              </a:rPr>
              <a:t>ClickHouse data lab</a:t>
            </a:r>
          </a:p>
        </p:txBody>
      </p:sp>
      <p:sp>
        <p:nvSpPr>
          <p:cNvPr id="7" name="">
            <a:extLst xmlns:a="http://schemas.openxmlformats.org/drawingml/2006/main">
              <a:ext uri="{FF2B5EF4-FFF2-40B4-BE49-F238E27FC236}">
                <a16:creationId xmlns:a16="http://schemas.microsoft.com/office/drawing/2014/main" id="{C37AE507-6519-4AA3-9759-76674CAEE6BA}"/>
              </a:ext>
            </a:extLst>
          </p:cNvPr>
          <p:cNvSpPr>
            <a:spLocks xmlns:a="http://schemas.openxmlformats.org/drawingml/2006/main" noGrp="1"/>
          </p:cNvSpPr>
          <p:nvPr/>
        </p:nvSpPr>
        <p:spPr>
          <a:xfrm xmlns:a="http://schemas.openxmlformats.org/drawingml/2006/main">
            <a:off x="6191250" y="47625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C7D5E"/>
                </a:solidFill>
                <a:latin typeface="Helvetica Neue"/>
                <a:ea typeface="Helvetica Neue"/>
                <a:cs typeface="Helvetica Neue"/>
              </a:defRPr>
            </a:pPr>
            <a:r>
              <a:rPr sz="1650" b="1">
                <a:solidFill>
                  <a:srgbClr val="4C7D5E"/>
                </a:solidFill>
                <a:latin typeface="Helvetica Neue"/>
                <a:ea typeface="Helvetica Neue"/>
                <a:cs typeface="Helvetica Neue"/>
              </a:rPr>
              <a:t>NEXT DEVELOPMENT STEP</a:t>
            </a:r>
          </a:p>
        </p:txBody>
      </p:sp>
      <p:sp>
        <p:nvSpPr>
          <p:cNvPr id="8" name="">
            <a:extLst xmlns:a="http://schemas.openxmlformats.org/drawingml/2006/main">
              <a:ext uri="{FF2B5EF4-FFF2-40B4-BE49-F238E27FC236}">
                <a16:creationId xmlns:a16="http://schemas.microsoft.com/office/drawing/2014/main" id="{89C95608-E763-4ABA-B418-58573C86B9B0}"/>
              </a:ext>
            </a:extLst>
          </p:cNvPr>
          <p:cNvSpPr>
            <a:spLocks xmlns:a="http://schemas.openxmlformats.org/drawingml/2006/main" noGrp="1"/>
          </p:cNvSpPr>
          <p:nvPr/>
        </p:nvSpPr>
        <p:spPr>
          <a:xfrm xmlns:a="http://schemas.openxmlformats.org/drawingml/2006/main">
            <a:off x="6191250" y="51816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D32"/>
                </a:solidFill>
                <a:latin typeface="Helvetica Neue"/>
                <a:ea typeface="Helvetica Neue"/>
                <a:cs typeface="Helvetica Neue"/>
              </a:defRPr>
            </a:pPr>
            <a:r>
              <a:rPr sz="2400" b="1">
                <a:solidFill>
                  <a:srgbClr val="183D32"/>
                </a:solidFill>
                <a:latin typeface="Helvetica Neue"/>
                <a:ea typeface="Helvetica Neue"/>
                <a:cs typeface="Helvetica Neue"/>
              </a:rPr>
              <a:t>Delivery mini app</a:t>
            </a:r>
          </a:p>
        </p:txBody>
      </p:sp>
      <p:sp>
        <p:nvSpPr>
          <p:cNvPr id="9" name="">
            <a:extLst xmlns:a="http://schemas.openxmlformats.org/drawingml/2006/main">
              <a:ext uri="{FF2B5EF4-FFF2-40B4-BE49-F238E27FC236}">
                <a16:creationId xmlns:a16="http://schemas.microsoft.com/office/drawing/2014/main" id="{90DF23F7-14AD-4C5B-9ABD-E74A943B63E6}"/>
              </a:ext>
            </a:extLst>
          </p:cNvPr>
          <p:cNvSpPr>
            <a:spLocks xmlns:a="http://schemas.openxmlformats.org/drawingml/2006/main" noGrp="1"/>
          </p:cNvSpPr>
          <p:nvPr/>
        </p:nvSpPr>
        <p:spPr>
          <a:xfrm xmlns:a="http://schemas.openxmlformats.org/drawingml/2006/main">
            <a:off x="609600" y="6048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695F"/>
                </a:solidFill>
                <a:latin typeface="Helvetica Neue"/>
                <a:ea typeface="Helvetica Neue"/>
                <a:cs typeface="Helvetica Neue"/>
              </a:defRPr>
            </a:pPr>
            <a:r>
              <a:rPr sz="1650" b="0">
                <a:solidFill>
                  <a:srgbClr val="55695F"/>
                </a:solidFill>
                <a:latin typeface="Helvetica Neue"/>
                <a:ea typeface="Helvetica Neue"/>
                <a:cs typeface="Helvetica Neue"/>
              </a:rPr>
              <a:t>BD2 · Five-minute progress update · 5 October 2026</a:t>
            </a:r>
          </a:p>
        </p:txBody>
      </p:sp>
      <p:sp>
        <p:nvSpPr>
          <p:cNvPr id="10" name="">
            <a:extLst xmlns:a="http://schemas.openxmlformats.org/drawingml/2006/main">
              <a:ext uri="{FF2B5EF4-FFF2-40B4-BE49-F238E27FC236}">
                <a16:creationId xmlns:a16="http://schemas.microsoft.com/office/drawing/2014/main" id="{88027631-398B-4993-A3CA-B2881774C8F8}"/>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01</a:t>
            </a:r>
          </a:p>
        </p:txBody>
      </p:sp>
    </p:spTree>
    <p:extLst>
      <p:ext uri="{BB962C8B-B14F-4D97-AF65-F5344CB8AC3E}">
        <p14:creationId xmlns:p14="http://schemas.microsoft.com/office/powerpoint/2010/main" val="250746057"/>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FA43611-7C68-4A30-BDDC-7FEFBC9B8083}"/>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What is ClickHouse?</a:t>
            </a:r>
          </a:p>
        </p:txBody>
      </p:sp>
      <p:sp>
        <p:nvSpPr>
          <p:cNvPr id="2" name="">
            <a:extLst xmlns:a="http://schemas.openxmlformats.org/drawingml/2006/main">
              <a:ext uri="{FF2B5EF4-FFF2-40B4-BE49-F238E27FC236}">
                <a16:creationId xmlns:a16="http://schemas.microsoft.com/office/drawing/2014/main" id="{2761FBF7-6282-4FFE-9199-D6D711035ADE}"/>
              </a:ext>
            </a:extLst>
          </p:cNvPr>
          <p:cNvSpPr>
            <a:spLocks xmlns:a="http://schemas.openxmlformats.org/drawingml/2006/main" noGrp="1"/>
          </p:cNvSpPr>
          <p:nvPr/>
        </p:nvSpPr>
        <p:spPr>
          <a:xfrm xmlns:a="http://schemas.openxmlformats.org/drawingml/2006/main">
            <a:off x="609600" y="1638300"/>
            <a:ext cx="5524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32"/>
                </a:solidFill>
                <a:latin typeface="Helvetica Neue"/>
                <a:ea typeface="Helvetica Neue"/>
                <a:cs typeface="Helvetica Neue"/>
              </a:defRPr>
            </a:pPr>
            <a:r>
              <a:rPr sz="3225" b="1">
                <a:solidFill>
                  <a:srgbClr val="183D32"/>
                </a:solidFill>
                <a:latin typeface="Helvetica Neue"/>
                <a:ea typeface="Helvetica Neue"/>
                <a:cs typeface="Helvetica Neue"/>
              </a:rPr>
              <a:t>A database for analysing</a:t>
            </a:r>
          </a:p>
          <a:p xmlns:a="http://schemas.openxmlformats.org/drawingml/2006/main">
            <a:pPr>
              <a:defRPr sz="3225" b="1">
                <a:solidFill>
                  <a:srgbClr val="183D32"/>
                </a:solidFill>
                <a:latin typeface="Helvetica Neue"/>
                <a:ea typeface="Helvetica Neue"/>
                <a:cs typeface="Helvetica Neue"/>
              </a:defRPr>
            </a:pPr>
            <a:r>
              <a:rPr sz="3225" b="1">
                <a:solidFill>
                  <a:srgbClr val="183D32"/>
                </a:solidFill>
                <a:latin typeface="Helvetica Neue"/>
                <a:ea typeface="Helvetica Neue"/>
                <a:cs typeface="Helvetica Neue"/>
              </a:rPr>
              <a:t>large amounts of data</a:t>
            </a:r>
          </a:p>
        </p:txBody>
      </p:sp>
      <p:sp>
        <p:nvSpPr>
          <p:cNvPr id="3" name="">
            <a:extLst xmlns:a="http://schemas.openxmlformats.org/drawingml/2006/main">
              <a:ext uri="{FF2B5EF4-FFF2-40B4-BE49-F238E27FC236}">
                <a16:creationId xmlns:a16="http://schemas.microsoft.com/office/drawing/2014/main" id="{43B6C166-7DC7-4AA6-9BE1-A8A51244FC14}"/>
              </a:ext>
            </a:extLst>
          </p:cNvPr>
          <p:cNvSpPr>
            <a:spLocks xmlns:a="http://schemas.openxmlformats.org/drawingml/2006/main" noGrp="1"/>
          </p:cNvSpPr>
          <p:nvPr/>
        </p:nvSpPr>
        <p:spPr>
          <a:xfrm xmlns:a="http://schemas.openxmlformats.org/drawingml/2006/main">
            <a:off x="609600" y="31908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32"/>
                </a:solidFill>
                <a:latin typeface="Helvetica Neue"/>
                <a:ea typeface="Helvetica Neue"/>
                <a:cs typeface="Helvetica Neue"/>
              </a:defRPr>
            </a:pPr>
            <a:r>
              <a:rPr sz="2175" b="0">
                <a:solidFill>
                  <a:srgbClr val="183D32"/>
                </a:solidFill>
                <a:latin typeface="Helvetica Neue"/>
                <a:ea typeface="Helvetica Neue"/>
                <a:cs typeface="Helvetica Neue"/>
              </a:rPr>
              <a:t>Stores information by columns</a:t>
            </a:r>
          </a:p>
        </p:txBody>
      </p:sp>
      <p:sp>
        <p:nvSpPr>
          <p:cNvPr id="4" name="">
            <a:extLst xmlns:a="http://schemas.openxmlformats.org/drawingml/2006/main">
              <a:ext uri="{FF2B5EF4-FFF2-40B4-BE49-F238E27FC236}">
                <a16:creationId xmlns:a16="http://schemas.microsoft.com/office/drawing/2014/main" id="{3AF7E8F7-6749-403B-95B6-BAA0EC3785A3}"/>
              </a:ext>
            </a:extLst>
          </p:cNvPr>
          <p:cNvSpPr>
            <a:spLocks xmlns:a="http://schemas.openxmlformats.org/drawingml/2006/main" noGrp="1"/>
          </p:cNvSpPr>
          <p:nvPr/>
        </p:nvSpPr>
        <p:spPr>
          <a:xfrm xmlns:a="http://schemas.openxmlformats.org/drawingml/2006/main">
            <a:off x="609600" y="39528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32"/>
                </a:solidFill>
                <a:latin typeface="Helvetica Neue"/>
                <a:ea typeface="Helvetica Neue"/>
                <a:cs typeface="Helvetica Neue"/>
              </a:defRPr>
            </a:pPr>
            <a:r>
              <a:rPr sz="2175" b="0">
                <a:solidFill>
                  <a:srgbClr val="183D32"/>
                </a:solidFill>
                <a:latin typeface="Helvetica Neue"/>
                <a:ea typeface="Helvetica Neue"/>
                <a:cs typeface="Helvetica Neue"/>
              </a:rPr>
              <a:t>Uses SQL for counts and filters</a:t>
            </a:r>
          </a:p>
        </p:txBody>
      </p:sp>
      <p:sp>
        <p:nvSpPr>
          <p:cNvPr id="5" name="">
            <a:extLst xmlns:a="http://schemas.openxmlformats.org/drawingml/2006/main">
              <a:ext uri="{FF2B5EF4-FFF2-40B4-BE49-F238E27FC236}">
                <a16:creationId xmlns:a16="http://schemas.microsoft.com/office/drawing/2014/main" id="{2D132FAB-D5D3-4D53-8993-EFF2FB0244BB}"/>
              </a:ext>
            </a:extLst>
          </p:cNvPr>
          <p:cNvSpPr>
            <a:spLocks xmlns:a="http://schemas.openxmlformats.org/drawingml/2006/main" noGrp="1"/>
          </p:cNvSpPr>
          <p:nvPr/>
        </p:nvSpPr>
        <p:spPr>
          <a:xfrm xmlns:a="http://schemas.openxmlformats.org/drawingml/2006/main">
            <a:off x="609600" y="4714875"/>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32"/>
                </a:solidFill>
                <a:latin typeface="Helvetica Neue"/>
                <a:ea typeface="Helvetica Neue"/>
                <a:cs typeface="Helvetica Neue"/>
              </a:defRPr>
            </a:pPr>
            <a:r>
              <a:rPr sz="2175" b="0">
                <a:solidFill>
                  <a:srgbClr val="183D32"/>
                </a:solidFill>
                <a:latin typeface="Helvetica Neue"/>
                <a:ea typeface="Helvetica Neue"/>
                <a:cs typeface="Helvetica Neue"/>
              </a:rPr>
              <a:t>Fits dashboards with millions of events</a:t>
            </a:r>
          </a:p>
        </p:txBody>
      </p:sp>
      <p:sp>
        <p:nvSpPr>
          <p:cNvPr id="6" name="">
            <a:extLst xmlns:a="http://schemas.openxmlformats.org/drawingml/2006/main">
              <a:ext uri="{FF2B5EF4-FFF2-40B4-BE49-F238E27FC236}">
                <a16:creationId xmlns:a16="http://schemas.microsoft.com/office/drawing/2014/main" id="{D7E3EB05-FF17-488A-8CA8-EFE31FAD67D0}"/>
              </a:ext>
            </a:extLst>
          </p:cNvPr>
          <p:cNvSpPr>
            <a:spLocks xmlns:a="http://schemas.openxmlformats.org/drawingml/2006/main" noGrp="1"/>
          </p:cNvSpPr>
          <p:nvPr/>
        </p:nvSpPr>
        <p:spPr>
          <a:xfrm xmlns:a="http://schemas.openxmlformats.org/drawingml/2006/main">
            <a:off x="6191250" y="16192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C7D5E"/>
                </a:solidFill>
                <a:latin typeface="Helvetica Neue"/>
                <a:ea typeface="Helvetica Neue"/>
                <a:cs typeface="Helvetica Neue"/>
              </a:defRPr>
            </a:pPr>
            <a:r>
              <a:rPr sz="2100" b="1">
                <a:solidFill>
                  <a:srgbClr val="4C7D5E"/>
                </a:solidFill>
                <a:latin typeface="Helvetica Neue"/>
                <a:ea typeface="Helvetica Neue"/>
                <a:cs typeface="Helvetica Neue"/>
              </a:rPr>
              <a:t>Example event table</a:t>
            </a:r>
          </a:p>
        </p:txBody>
      </p:sp>
      <p:graphicFrame>
        <p:nvGraphicFramePr>
          <p:cNvPr id="16" name=""/>
          <p:cNvGraphicFramePr/>
          <p:nvPr/>
        </p:nvGraphicFramePr>
        <p:xfrm>
          <a:off xmlns:a="http://schemas.openxmlformats.org/drawingml/2006/main" x="6191250" y="2257425"/>
          <a:ext xmlns:a="http://schemas.openxmlformats.org/drawingml/2006/main" cx="5276850" cy="3048000"/>
        </p:xfrm>
        <a:graphic xmlns:a="http://schemas.openxmlformats.org/drawingml/2006/main">
          <a:graphicData uri="http://schemas.openxmlformats.org/drawingml/2006/table">
            <a:tbl>
              <a:tblPr firstRow="0" bandRow="0"/>
              <a:tblGrid>
                <a:gridCol w="1409700"/>
                <a:gridCol w="2247900"/>
                <a:gridCol w="1619250"/>
              </a:tblGrid>
              <a:tr h="762000">
                <a:tc>
                  <a:txBody>
                    <a:bodyPr>
                      <a:noAutofit/>
                    </a:bodyPr>
                    <a:lstStyle/>
                    <a:p>
                      <a:r>
                        <a:rPr sz="2025" b="1">
                          <a:solidFill>
                            <a:srgbClr val="FFFFFF"/>
                          </a:solidFill>
                          <a:latin typeface="Helvetica Neue"/>
                          <a:ea typeface="Helvetica Neue"/>
                          <a:cs typeface="Helvetica Neue"/>
                        </a:rPr>
                        <a:t>Time</a:t>
                      </a:r>
                    </a:p>
                  </a:txBody>
                  <a:tcPr marL="133350" marR="133350" marT="123825" marB="123825">
                    <a:solidFill>
                      <a:srgbClr val="183D32"/>
                    </a:solidFill>
                  </a:tcPr>
                </a:tc>
                <a:tc>
                  <a:txBody>
                    <a:bodyPr>
                      <a:noAutofit/>
                    </a:bodyPr>
                    <a:lstStyle/>
                    <a:p>
                      <a:r>
                        <a:rPr sz="2025" b="1">
                          <a:solidFill>
                            <a:srgbClr val="FFFFFF"/>
                          </a:solidFill>
                          <a:latin typeface="Helvetica Neue"/>
                          <a:ea typeface="Helvetica Neue"/>
                          <a:cs typeface="Helvetica Neue"/>
                        </a:rPr>
                        <a:t>Action</a:t>
                      </a:r>
                    </a:p>
                  </a:txBody>
                  <a:tcPr marL="133350" marR="133350" marT="123825" marB="123825">
                    <a:solidFill>
                      <a:srgbClr val="183D32"/>
                    </a:solidFill>
                  </a:tcPr>
                </a:tc>
                <a:tc>
                  <a:txBody>
                    <a:bodyPr>
                      <a:noAutofit/>
                    </a:bodyPr>
                    <a:lstStyle/>
                    <a:p>
                      <a:r>
                        <a:rPr sz="2025" b="1">
                          <a:solidFill>
                            <a:srgbClr val="FFFFFF"/>
                          </a:solidFill>
                          <a:latin typeface="Helvetica Neue"/>
                          <a:ea typeface="Helvetica Neue"/>
                          <a:cs typeface="Helvetica Neue"/>
                        </a:rPr>
                        <a:t>City</a:t>
                      </a:r>
                    </a:p>
                  </a:txBody>
                  <a:tcPr marL="133350" marR="133350" marT="123825" marB="123825">
                    <a:solidFill>
                      <a:srgbClr val="183D32"/>
                    </a:solidFill>
                  </a:tcPr>
                </a:tc>
              </a:tr>
              <a:tr h="762000">
                <a:tc>
                  <a:txBody>
                    <a:bodyPr>
                      <a:noAutofit/>
                    </a:bodyPr>
                    <a:lstStyle/>
                    <a:p>
                      <a:r>
                        <a:rPr sz="1875" b="0">
                          <a:solidFill>
                            <a:srgbClr val="183D32"/>
                          </a:solidFill>
                          <a:latin typeface="Helvetica Neue"/>
                          <a:ea typeface="Helvetica Neue"/>
                          <a:cs typeface="Helvetica Neue"/>
                        </a:rPr>
                        <a:t>13:01</a:t>
                      </a:r>
                    </a:p>
                  </a:txBody>
                  <a:tcPr marL="133350" marR="133350" marT="123825" marB="123825">
                    <a:solidFill>
                      <a:srgbClr val="E5EBDF"/>
                    </a:solidFill>
                  </a:tcPr>
                </a:tc>
                <a:tc>
                  <a:txBody>
                    <a:bodyPr>
                      <a:noAutofit/>
                    </a:bodyPr>
                    <a:lstStyle/>
                    <a:p>
                      <a:r>
                        <a:rPr sz="1875" b="0">
                          <a:solidFill>
                            <a:srgbClr val="183D32"/>
                          </a:solidFill>
                          <a:latin typeface="Helvetica Neue"/>
                          <a:ea typeface="Helvetica Neue"/>
                          <a:cs typeface="Helvetica Neue"/>
                        </a:rPr>
                        <a:t>Search</a:t>
                      </a:r>
                    </a:p>
                  </a:txBody>
                  <a:tcPr marL="133350" marR="133350" marT="123825" marB="123825">
                    <a:solidFill>
                      <a:srgbClr val="E5EBDF"/>
                    </a:solidFill>
                  </a:tcPr>
                </a:tc>
                <a:tc>
                  <a:txBody>
                    <a:bodyPr>
                      <a:noAutofit/>
                    </a:bodyPr>
                    <a:lstStyle/>
                    <a:p>
                      <a:r>
                        <a:rPr sz="1875" b="0">
                          <a:solidFill>
                            <a:srgbClr val="183D32"/>
                          </a:solidFill>
                          <a:latin typeface="Helvetica Neue"/>
                          <a:ea typeface="Helvetica Neue"/>
                          <a:cs typeface="Helvetica Neue"/>
                        </a:rPr>
                        <a:t>Madrid</a:t>
                      </a:r>
                    </a:p>
                  </a:txBody>
                  <a:tcPr marL="133350" marR="133350" marT="123825" marB="123825">
                    <a:solidFill>
                      <a:srgbClr val="E5EBDF"/>
                    </a:solidFill>
                  </a:tcPr>
                </a:tc>
              </a:tr>
              <a:tr h="762000">
                <a:tc>
                  <a:txBody>
                    <a:bodyPr>
                      <a:noAutofit/>
                    </a:bodyPr>
                    <a:lstStyle/>
                    <a:p>
                      <a:r>
                        <a:rPr sz="1875" b="0">
                          <a:solidFill>
                            <a:srgbClr val="183D32"/>
                          </a:solidFill>
                          <a:latin typeface="Helvetica Neue"/>
                          <a:ea typeface="Helvetica Neue"/>
                          <a:cs typeface="Helvetica Neue"/>
                        </a:rPr>
                        <a:t>13:02</a:t>
                      </a:r>
                    </a:p>
                  </a:txBody>
                  <a:tcPr marL="133350" marR="133350" marT="123825" marB="123825">
                    <a:solidFill>
                      <a:srgbClr val="E5EBDF"/>
                    </a:solidFill>
                  </a:tcPr>
                </a:tc>
                <a:tc>
                  <a:txBody>
                    <a:bodyPr>
                      <a:noAutofit/>
                    </a:bodyPr>
                    <a:lstStyle/>
                    <a:p>
                      <a:r>
                        <a:rPr sz="1875" b="0">
                          <a:solidFill>
                            <a:srgbClr val="183D32"/>
                          </a:solidFill>
                          <a:latin typeface="Helvetica Neue"/>
                          <a:ea typeface="Helvetica Neue"/>
                          <a:cs typeface="Helvetica Neue"/>
                        </a:rPr>
                        <a:t>Open item</a:t>
                      </a:r>
                    </a:p>
                  </a:txBody>
                  <a:tcPr marL="133350" marR="133350" marT="123825" marB="123825">
                    <a:solidFill>
                      <a:srgbClr val="E5EBDF"/>
                    </a:solidFill>
                  </a:tcPr>
                </a:tc>
                <a:tc>
                  <a:txBody>
                    <a:bodyPr>
                      <a:noAutofit/>
                    </a:bodyPr>
                    <a:lstStyle/>
                    <a:p>
                      <a:r>
                        <a:rPr sz="1875" b="0">
                          <a:solidFill>
                            <a:srgbClr val="183D32"/>
                          </a:solidFill>
                          <a:latin typeface="Helvetica Neue"/>
                          <a:ea typeface="Helvetica Neue"/>
                          <a:cs typeface="Helvetica Neue"/>
                        </a:rPr>
                        <a:t>Madrid</a:t>
                      </a:r>
                    </a:p>
                  </a:txBody>
                  <a:tcPr marL="133350" marR="133350" marT="123825" marB="123825">
                    <a:solidFill>
                      <a:srgbClr val="E5EBDF"/>
                    </a:solidFill>
                  </a:tcPr>
                </a:tc>
              </a:tr>
              <a:tr h="762000">
                <a:tc>
                  <a:txBody>
                    <a:bodyPr>
                      <a:noAutofit/>
                    </a:bodyPr>
                    <a:lstStyle/>
                    <a:p>
                      <a:r>
                        <a:rPr sz="1875" b="0">
                          <a:solidFill>
                            <a:srgbClr val="183D32"/>
                          </a:solidFill>
                          <a:latin typeface="Helvetica Neue"/>
                          <a:ea typeface="Helvetica Neue"/>
                          <a:cs typeface="Helvetica Neue"/>
                        </a:rPr>
                        <a:t>13:03</a:t>
                      </a:r>
                    </a:p>
                  </a:txBody>
                  <a:tcPr marL="133350" marR="133350" marT="123825" marB="123825">
                    <a:solidFill>
                      <a:srgbClr val="E5EBDF"/>
                    </a:solidFill>
                  </a:tcPr>
                </a:tc>
                <a:tc>
                  <a:txBody>
                    <a:bodyPr>
                      <a:noAutofit/>
                    </a:bodyPr>
                    <a:lstStyle/>
                    <a:p>
                      <a:r>
                        <a:rPr sz="1875" b="0">
                          <a:solidFill>
                            <a:srgbClr val="183D32"/>
                          </a:solidFill>
                          <a:latin typeface="Helvetica Neue"/>
                          <a:ea typeface="Helvetica Neue"/>
                          <a:cs typeface="Helvetica Neue"/>
                        </a:rPr>
                        <a:t>Add to cart</a:t>
                      </a:r>
                    </a:p>
                  </a:txBody>
                  <a:tcPr marL="133350" marR="133350" marT="123825" marB="123825">
                    <a:solidFill>
                      <a:srgbClr val="E5EBDF"/>
                    </a:solidFill>
                  </a:tcPr>
                </a:tc>
                <a:tc>
                  <a:txBody>
                    <a:bodyPr>
                      <a:noAutofit/>
                    </a:bodyPr>
                    <a:lstStyle/>
                    <a:p>
                      <a:r>
                        <a:rPr sz="1875" b="0">
                          <a:solidFill>
                            <a:srgbClr val="183D32"/>
                          </a:solidFill>
                          <a:latin typeface="Helvetica Neue"/>
                          <a:ea typeface="Helvetica Neue"/>
                          <a:cs typeface="Helvetica Neue"/>
                        </a:rPr>
                        <a:t>Seville</a:t>
                      </a:r>
                    </a:p>
                  </a:txBody>
                  <a:tcPr marL="133350" marR="133350" marT="123825" marB="123825">
                    <a:solidFill>
                      <a:srgbClr val="E5EBDF"/>
                    </a:solidFill>
                  </a:tcPr>
                </a:tc>
              </a:tr>
            </a:tbl>
          </a:graphicData>
        </a:graphic>
      </p:graphicFrame>
      <p:sp>
        <p:nvSpPr>
          <p:cNvPr id="8" name="">
            <a:extLst xmlns:a="http://schemas.openxmlformats.org/drawingml/2006/main">
              <a:ext uri="{FF2B5EF4-FFF2-40B4-BE49-F238E27FC236}">
                <a16:creationId xmlns:a16="http://schemas.microsoft.com/office/drawing/2014/main" id="{82ADFC25-DB68-457F-97F4-664940404765}"/>
              </a:ext>
            </a:extLst>
          </p:cNvPr>
          <p:cNvSpPr>
            <a:spLocks xmlns:a="http://schemas.openxmlformats.org/drawingml/2006/main" noGrp="1"/>
          </p:cNvSpPr>
          <p:nvPr/>
        </p:nvSpPr>
        <p:spPr>
          <a:xfrm xmlns:a="http://schemas.openxmlformats.org/drawingml/2006/main">
            <a:off x="609600" y="60769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695F"/>
                </a:solidFill>
                <a:latin typeface="Helvetica Neue"/>
                <a:ea typeface="Helvetica Neue"/>
                <a:cs typeface="Helvetica Neue"/>
              </a:defRPr>
            </a:pPr>
            <a:r>
              <a:rPr sz="1725" b="0">
                <a:solidFill>
                  <a:srgbClr val="55695F"/>
                </a:solidFill>
                <a:latin typeface="Helvetica Neue"/>
                <a:ea typeface="Helvetica Neue"/>
                <a:cs typeface="Helvetica Neue"/>
              </a:rPr>
              <a:t>Fictional example. Our lab runs in Docker on one node.</a:t>
            </a:r>
          </a:p>
        </p:txBody>
      </p:sp>
      <p:sp>
        <p:nvSpPr>
          <p:cNvPr id="9" name="">
            <a:extLst xmlns:a="http://schemas.openxmlformats.org/drawingml/2006/main">
              <a:ext uri="{FF2B5EF4-FFF2-40B4-BE49-F238E27FC236}">
                <a16:creationId xmlns:a16="http://schemas.microsoft.com/office/drawing/2014/main" id="{CA328909-EAD6-427C-AD73-2D0FF05553EF}"/>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02</a:t>
            </a:r>
          </a:p>
        </p:txBody>
      </p:sp>
    </p:spTree>
    <p:extLst>
      <p:ext uri="{BB962C8B-B14F-4D97-AF65-F5344CB8AC3E}">
        <p14:creationId xmlns:p14="http://schemas.microsoft.com/office/powerpoint/2010/main" val="1021923949"/>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D331BC-9433-4582-84B1-B8AB253798A7}"/>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Our data sources</a:t>
            </a:r>
          </a:p>
        </p:txBody>
      </p:sp>
      <p:sp>
        <p:nvSpPr>
          <p:cNvPr id="2" name="">
            <a:extLst xmlns:a="http://schemas.openxmlformats.org/drawingml/2006/main">
              <a:ext uri="{FF2B5EF4-FFF2-40B4-BE49-F238E27FC236}">
                <a16:creationId xmlns:a16="http://schemas.microsoft.com/office/drawing/2014/main" id="{88B55605-A684-49AD-8854-24C82CD97480}"/>
              </a:ext>
            </a:extLst>
          </p:cNvPr>
          <p:cNvSpPr>
            <a:spLocks xmlns:a="http://schemas.openxmlformats.org/drawingml/2006/main" noGrp="1"/>
          </p:cNvSpPr>
          <p:nvPr/>
        </p:nvSpPr>
        <p:spPr>
          <a:xfrm xmlns:a="http://schemas.openxmlformats.org/drawingml/2006/main">
            <a:off x="609600" y="13620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7D5E"/>
                </a:solidFill>
                <a:latin typeface="Helvetica Neue"/>
                <a:ea typeface="Helvetica Neue"/>
                <a:cs typeface="Helvetica Neue"/>
              </a:defRPr>
            </a:pPr>
            <a:r>
              <a:rPr sz="1800" b="1">
                <a:solidFill>
                  <a:srgbClr val="4C7D5E"/>
                </a:solidFill>
                <a:latin typeface="Helvetica Neue"/>
                <a:ea typeface="Helvetica Neue"/>
                <a:cs typeface="Helvetica Neue"/>
              </a:rPr>
              <a:t>PUBLIC DATA ALREADY LOADED</a:t>
            </a:r>
          </a:p>
        </p:txBody>
      </p:sp>
      <p:graphicFrame>
        <p:nvGraphicFramePr>
          <p:cNvPr id="10" name=""/>
          <p:cNvGraphicFramePr/>
          <p:nvPr/>
        </p:nvGraphicFramePr>
        <p:xfrm>
          <a:off xmlns:a="http://schemas.openxmlformats.org/drawingml/2006/main" x="609600" y="1914525"/>
          <a:ext xmlns:a="http://schemas.openxmlformats.org/drawingml/2006/main" cx="10858500" cy="3143250"/>
        </p:xfrm>
        <a:graphic xmlns:a="http://schemas.openxmlformats.org/drawingml/2006/main">
          <a:graphicData uri="http://schemas.openxmlformats.org/drawingml/2006/table">
            <a:tbl>
              <a:tblPr firstRow="0" bandRow="0"/>
              <a:tblGrid>
                <a:gridCol w="2095500"/>
                <a:gridCol w="4667250"/>
                <a:gridCol w="4095750"/>
              </a:tblGrid>
              <a:tr h="628650">
                <a:tc>
                  <a:txBody>
                    <a:bodyPr>
                      <a:noAutofit/>
                    </a:bodyPr>
                    <a:lstStyle/>
                    <a:p>
                      <a:r>
                        <a:rPr sz="2175" b="1">
                          <a:solidFill>
                            <a:srgbClr val="FFFFFF"/>
                          </a:solidFill>
                          <a:latin typeface="Helvetica Neue"/>
                          <a:ea typeface="Helvetica Neue"/>
                          <a:cs typeface="Helvetica Neue"/>
                        </a:rPr>
                        <a:t>Source</a:t>
                      </a:r>
                    </a:p>
                  </a:txBody>
                  <a:tcPr marL="133350" marR="133350" marT="123825" marB="123825">
                    <a:solidFill>
                      <a:srgbClr val="183D32"/>
                    </a:solidFill>
                  </a:tcPr>
                </a:tc>
                <a:tc>
                  <a:txBody>
                    <a:bodyPr>
                      <a:noAutofit/>
                    </a:bodyPr>
                    <a:lstStyle/>
                    <a:p>
                      <a:r>
                        <a:rPr sz="2175" b="1">
                          <a:solidFill>
                            <a:srgbClr val="FFFFFF"/>
                          </a:solidFill>
                          <a:latin typeface="Helvetica Neue"/>
                          <a:ea typeface="Helvetica Neue"/>
                          <a:cs typeface="Helvetica Neue"/>
                        </a:rPr>
                        <a:t>What it contains</a:t>
                      </a:r>
                    </a:p>
                  </a:txBody>
                  <a:tcPr marL="133350" marR="133350" marT="123825" marB="123825">
                    <a:solidFill>
                      <a:srgbClr val="183D32"/>
                    </a:solidFill>
                  </a:tcPr>
                </a:tc>
                <a:tc>
                  <a:txBody>
                    <a:bodyPr>
                      <a:noAutofit/>
                    </a:bodyPr>
                    <a:lstStyle/>
                    <a:p>
                      <a:r>
                        <a:rPr sz="2175" b="1">
                          <a:solidFill>
                            <a:srgbClr val="FFFFFF"/>
                          </a:solidFill>
                          <a:latin typeface="Helvetica Neue"/>
                          <a:ea typeface="Helvetica Neue"/>
                          <a:cs typeface="Helvetica Neue"/>
                        </a:rPr>
                        <a:t>Loaded volume</a:t>
                      </a:r>
                    </a:p>
                  </a:txBody>
                  <a:tcPr marL="133350" marR="133350" marT="123825" marB="123825">
                    <a:solidFill>
                      <a:srgbClr val="183D32"/>
                    </a:solidFill>
                  </a:tcPr>
                </a:tc>
              </a:tr>
              <a:tr h="628650">
                <a:tc>
                  <a:txBody>
                    <a:bodyPr>
                      <a:noAutofit/>
                    </a:bodyPr>
                    <a:lstStyle/>
                    <a:p>
                      <a:r>
                        <a:rPr sz="2025" b="0">
                          <a:solidFill>
                            <a:srgbClr val="183D32"/>
                          </a:solidFill>
                          <a:latin typeface="Helvetica Neue"/>
                          <a:ea typeface="Helvetica Neue"/>
                          <a:cs typeface="Helvetica Neue"/>
                        </a:rPr>
                        <a:t>OTTO</a:t>
                      </a:r>
                    </a:p>
                  </a:txBody>
                  <a:tcPr marL="133350" marR="133350" marT="123825" marB="123825">
                    <a:solidFill>
                      <a:srgbClr val="E5EBDF"/>
                    </a:solidFill>
                  </a:tcPr>
                </a:tc>
                <a:tc>
                  <a:txBody>
                    <a:bodyPr>
                      <a:noAutofit/>
                    </a:bodyPr>
                    <a:lstStyle/>
                    <a:p>
                      <a:r>
                        <a:rPr sz="2025" b="0">
                          <a:solidFill>
                            <a:srgbClr val="183D32"/>
                          </a:solidFill>
                          <a:latin typeface="Helvetica Neue"/>
                          <a:ea typeface="Helvetica Neue"/>
                          <a:cs typeface="Helvetica Neue"/>
                        </a:rPr>
                        <a:t>E-commerce events</a:t>
                      </a:r>
                    </a:p>
                  </a:txBody>
                  <a:tcPr marL="133350" marR="133350" marT="123825" marB="123825">
                    <a:solidFill>
                      <a:srgbClr val="E5EBDF"/>
                    </a:solidFill>
                  </a:tcPr>
                </a:tc>
                <a:tc>
                  <a:txBody>
                    <a:bodyPr>
                      <a:noAutofit/>
                    </a:bodyPr>
                    <a:lstStyle/>
                    <a:p>
                      <a:r>
                        <a:rPr sz="2025" b="0">
                          <a:solidFill>
                            <a:srgbClr val="183D32"/>
                          </a:solidFill>
                          <a:latin typeface="Helvetica Neue"/>
                          <a:ea typeface="Helvetica Neue"/>
                          <a:cs typeface="Helvetica Neue"/>
                        </a:rPr>
                        <a:t>216.7M events</a:t>
                      </a:r>
                    </a:p>
                  </a:txBody>
                  <a:tcPr marL="133350" marR="133350" marT="123825" marB="123825">
                    <a:solidFill>
                      <a:srgbClr val="E5EBDF"/>
                    </a:solidFill>
                  </a:tcPr>
                </a:tc>
              </a:tr>
              <a:tr h="628650">
                <a:tc>
                  <a:txBody>
                    <a:bodyPr>
                      <a:noAutofit/>
                    </a:bodyPr>
                    <a:lstStyle/>
                    <a:p>
                      <a:r>
                        <a:rPr sz="2025" b="0">
                          <a:solidFill>
                            <a:srgbClr val="183D32"/>
                          </a:solidFill>
                          <a:latin typeface="Helvetica Neue"/>
                          <a:ea typeface="Helvetica Neue"/>
                          <a:cs typeface="Helvetica Neue"/>
                        </a:rPr>
                        <a:t>REES46</a:t>
                      </a:r>
                    </a:p>
                  </a:txBody>
                  <a:tcPr marL="133350" marR="133350" marT="123825" marB="123825">
                    <a:solidFill>
                      <a:srgbClr val="E5EBDF"/>
                    </a:solidFill>
                  </a:tcPr>
                </a:tc>
                <a:tc>
                  <a:txBody>
                    <a:bodyPr>
                      <a:noAutofit/>
                    </a:bodyPr>
                    <a:lstStyle/>
                    <a:p>
                      <a:r>
                        <a:rPr sz="2025" b="0">
                          <a:solidFill>
                            <a:srgbClr val="183D32"/>
                          </a:solidFill>
                          <a:latin typeface="Helvetica Neue"/>
                          <a:ea typeface="Helvetica Neue"/>
                          <a:cs typeface="Helvetica Neue"/>
                        </a:rPr>
                        <a:t>E-commerce events</a:t>
                      </a:r>
                    </a:p>
                  </a:txBody>
                  <a:tcPr marL="133350" marR="133350" marT="123825" marB="123825">
                    <a:solidFill>
                      <a:srgbClr val="E5EBDF"/>
                    </a:solidFill>
                  </a:tcPr>
                </a:tc>
                <a:tc>
                  <a:txBody>
                    <a:bodyPr>
                      <a:noAutofit/>
                    </a:bodyPr>
                    <a:lstStyle/>
                    <a:p>
                      <a:r>
                        <a:rPr sz="2025" b="0">
                          <a:solidFill>
                            <a:srgbClr val="183D32"/>
                          </a:solidFill>
                          <a:latin typeface="Helvetica Neue"/>
                          <a:ea typeface="Helvetica Neue"/>
                          <a:cs typeface="Helvetica Neue"/>
                        </a:rPr>
                        <a:t>411.7M events</a:t>
                      </a:r>
                    </a:p>
                  </a:txBody>
                  <a:tcPr marL="133350" marR="133350" marT="123825" marB="123825">
                    <a:solidFill>
                      <a:srgbClr val="E5EBDF"/>
                    </a:solidFill>
                  </a:tcPr>
                </a:tc>
              </a:tr>
              <a:tr h="628650">
                <a:tc>
                  <a:txBody>
                    <a:bodyPr>
                      <a:noAutofit/>
                    </a:bodyPr>
                    <a:lstStyle/>
                    <a:p>
                      <a:r>
                        <a:rPr sz="2025" b="0">
                          <a:solidFill>
                            <a:srgbClr val="183D32"/>
                          </a:solidFill>
                          <a:latin typeface="Helvetica Neue"/>
                          <a:ea typeface="Helvetica Neue"/>
                          <a:cs typeface="Helvetica Neue"/>
                        </a:rPr>
                        <a:t>Ele.me</a:t>
                      </a:r>
                    </a:p>
                  </a:txBody>
                  <a:tcPr marL="133350" marR="133350" marT="123825" marB="123825">
                    <a:solidFill>
                      <a:srgbClr val="E5EBDF"/>
                    </a:solidFill>
                  </a:tcPr>
                </a:tc>
                <a:tc>
                  <a:txBody>
                    <a:bodyPr>
                      <a:noAutofit/>
                    </a:bodyPr>
                    <a:lstStyle/>
                    <a:p>
                      <a:r>
                        <a:rPr sz="2025" b="0">
                          <a:solidFill>
                            <a:srgbClr val="183D32"/>
                          </a:solidFill>
                          <a:latin typeface="Helvetica Neue"/>
                          <a:ea typeface="Helvetica Neue"/>
                          <a:cs typeface="Helvetica Neue"/>
                        </a:rPr>
                        <a:t>Food recommendations</a:t>
                      </a:r>
                    </a:p>
                  </a:txBody>
                  <a:tcPr marL="133350" marR="133350" marT="123825" marB="123825">
                    <a:solidFill>
                      <a:srgbClr val="E5EBDF"/>
                    </a:solidFill>
                  </a:tcPr>
                </a:tc>
                <a:tc>
                  <a:txBody>
                    <a:bodyPr>
                      <a:noAutofit/>
                    </a:bodyPr>
                    <a:lstStyle/>
                    <a:p>
                      <a:r>
                        <a:rPr sz="2025" b="0">
                          <a:solidFill>
                            <a:srgbClr val="183D32"/>
                          </a:solidFill>
                          <a:latin typeface="Helvetica Neue"/>
                          <a:ea typeface="Helvetica Neue"/>
                          <a:cs typeface="Helvetica Neue"/>
                        </a:rPr>
                        <a:t>2.17M samples</a:t>
                      </a:r>
                    </a:p>
                  </a:txBody>
                  <a:tcPr marL="133350" marR="133350" marT="123825" marB="123825">
                    <a:solidFill>
                      <a:srgbClr val="E5EBDF"/>
                    </a:solidFill>
                  </a:tcPr>
                </a:tc>
              </a:tr>
              <a:tr h="628650">
                <a:tc>
                  <a:txBody>
                    <a:bodyPr>
                      <a:noAutofit/>
                    </a:bodyPr>
                    <a:lstStyle/>
                    <a:p>
                      <a:r>
                        <a:rPr sz="2025" b="0">
                          <a:solidFill>
                            <a:srgbClr val="183D32"/>
                          </a:solidFill>
                          <a:latin typeface="Helvetica Neue"/>
                          <a:ea typeface="Helvetica Neue"/>
                          <a:cs typeface="Helvetica Neue"/>
                        </a:rPr>
                        <a:t>Glovo</a:t>
                      </a:r>
                    </a:p>
                  </a:txBody>
                  <a:tcPr marL="133350" marR="133350" marT="123825" marB="123825">
                    <a:solidFill>
                      <a:srgbClr val="E5EBDF"/>
                    </a:solidFill>
                  </a:tcPr>
                </a:tc>
                <a:tc>
                  <a:txBody>
                    <a:bodyPr>
                      <a:noAutofit/>
                    </a:bodyPr>
                    <a:lstStyle/>
                    <a:p>
                      <a:r>
                        <a:rPr sz="2025" b="0">
                          <a:solidFill>
                            <a:srgbClr val="183D32"/>
                          </a:solidFill>
                          <a:latin typeface="Helvetica Neue"/>
                          <a:ea typeface="Helvetica Neue"/>
                          <a:cs typeface="Helvetica Neue"/>
                        </a:rPr>
                        <a:t>Product catalogue</a:t>
                      </a:r>
                    </a:p>
                  </a:txBody>
                  <a:tcPr marL="133350" marR="133350" marT="123825" marB="123825">
                    <a:solidFill>
                      <a:srgbClr val="E5EBDF"/>
                    </a:solidFill>
                  </a:tcPr>
                </a:tc>
                <a:tc>
                  <a:txBody>
                    <a:bodyPr>
                      <a:noAutofit/>
                    </a:bodyPr>
                    <a:lstStyle/>
                    <a:p>
                      <a:r>
                        <a:rPr sz="2025" b="0">
                          <a:solidFill>
                            <a:srgbClr val="183D32"/>
                          </a:solidFill>
                          <a:latin typeface="Helvetica Neue"/>
                          <a:ea typeface="Helvetica Neue"/>
                          <a:cs typeface="Helvetica Neue"/>
                        </a:rPr>
                        <a:t>415K products in Spain</a:t>
                      </a:r>
                    </a:p>
                  </a:txBody>
                  <a:tcPr marL="133350" marR="133350" marT="123825" marB="123825">
                    <a:solidFill>
                      <a:srgbClr val="E5EBDF"/>
                    </a:solidFill>
                  </a:tcPr>
                </a:tc>
              </a:tr>
            </a:tbl>
          </a:graphicData>
        </a:graphic>
      </p:graphicFrame>
      <p:sp>
        <p:nvSpPr>
          <p:cNvPr id="4" name="">
            <a:extLst xmlns:a="http://schemas.openxmlformats.org/drawingml/2006/main">
              <a:ext uri="{FF2B5EF4-FFF2-40B4-BE49-F238E27FC236}">
                <a16:creationId xmlns:a16="http://schemas.microsoft.com/office/drawing/2014/main" id="{112035BB-941A-420F-B1DC-2A5DDE905BC7}"/>
              </a:ext>
            </a:extLst>
          </p:cNvPr>
          <p:cNvSpPr>
            <a:spLocks xmlns:a="http://schemas.openxmlformats.org/drawingml/2006/main" noGrp="1"/>
          </p:cNvSpPr>
          <p:nvPr/>
        </p:nvSpPr>
        <p:spPr>
          <a:xfrm xmlns:a="http://schemas.openxmlformats.org/drawingml/2006/main">
            <a:off x="609600" y="53435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4C7D5E"/>
                </a:solidFill>
                <a:latin typeface="Helvetica Neue"/>
                <a:ea typeface="Helvetica Neue"/>
                <a:cs typeface="Helvetica Neue"/>
              </a:defRPr>
            </a:pPr>
            <a:r>
              <a:rPr sz="1725" b="1">
                <a:solidFill>
                  <a:srgbClr val="4C7D5E"/>
                </a:solidFill>
                <a:latin typeface="Helvetica Neue"/>
                <a:ea typeface="Helvetica Neue"/>
                <a:cs typeface="Helvetica Neue"/>
              </a:rPr>
              <a:t>PROPOSED SIMULATED DATA</a:t>
            </a:r>
          </a:p>
        </p:txBody>
      </p:sp>
      <p:sp>
        <p:nvSpPr>
          <p:cNvPr id="5" name="">
            <a:extLst xmlns:a="http://schemas.openxmlformats.org/drawingml/2006/main">
              <a:ext uri="{FF2B5EF4-FFF2-40B4-BE49-F238E27FC236}">
                <a16:creationId xmlns:a16="http://schemas.microsoft.com/office/drawing/2014/main" id="{5939821D-3F0F-457F-9A94-2136CF70B0AC}"/>
              </a:ext>
            </a:extLst>
          </p:cNvPr>
          <p:cNvSpPr>
            <a:spLocks xmlns:a="http://schemas.openxmlformats.org/drawingml/2006/main" noGrp="1"/>
          </p:cNvSpPr>
          <p:nvPr/>
        </p:nvSpPr>
        <p:spPr>
          <a:xfrm xmlns:a="http://schemas.openxmlformats.org/drawingml/2006/main">
            <a:off x="609600" y="57721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D32"/>
                </a:solidFill>
                <a:latin typeface="Helvetica Neue"/>
                <a:ea typeface="Helvetica Neue"/>
                <a:cs typeface="Helvetica Neue"/>
              </a:defRPr>
            </a:pPr>
            <a:r>
              <a:rPr sz="2400" b="1">
                <a:solidFill>
                  <a:srgbClr val="183D32"/>
                </a:solidFill>
                <a:latin typeface="Helvetica Neue"/>
                <a:ea typeface="Helvetica Neue"/>
                <a:cs typeface="Helvetica Neue"/>
              </a:rPr>
              <a:t>Our app: searches, restaurant views and cart actions</a:t>
            </a:r>
          </a:p>
        </p:txBody>
      </p:sp>
      <p:sp>
        <p:nvSpPr>
          <p:cNvPr id="6" name="">
            <a:extLst xmlns:a="http://schemas.openxmlformats.org/drawingml/2006/main">
              <a:ext uri="{FF2B5EF4-FFF2-40B4-BE49-F238E27FC236}">
                <a16:creationId xmlns:a16="http://schemas.microsoft.com/office/drawing/2014/main" id="{62C1783A-43EF-4251-94A3-0CBBC0ADAE91}"/>
              </a:ext>
            </a:extLst>
          </p:cNvPr>
          <p:cNvSpPr>
            <a:spLocks xmlns:a="http://schemas.openxmlformats.org/drawingml/2006/main" noGrp="1"/>
          </p:cNvSpPr>
          <p:nvPr/>
        </p:nvSpPr>
        <p:spPr>
          <a:xfrm xmlns:a="http://schemas.openxmlformats.org/drawingml/2006/main">
            <a:off x="609600" y="63627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95F"/>
                </a:solidFill>
                <a:latin typeface="Helvetica Neue"/>
                <a:ea typeface="Helvetica Neue"/>
                <a:cs typeface="Helvetica Neue"/>
              </a:defRPr>
            </a:pPr>
            <a:r>
              <a:rPr sz="1575" b="0">
                <a:solidFill>
                  <a:srgbClr val="55695F"/>
                </a:solidFill>
                <a:latin typeface="Helvetica Neue"/>
                <a:ea typeface="Helvetica Neue"/>
                <a:cs typeface="Helvetica Neue"/>
              </a:rPr>
              <a:t>Separate datasets. Simulated actions will carry a clear label.</a:t>
            </a:r>
          </a:p>
        </p:txBody>
      </p:sp>
      <p:sp>
        <p:nvSpPr>
          <p:cNvPr id="7" name="">
            <a:extLst xmlns:a="http://schemas.openxmlformats.org/drawingml/2006/main">
              <a:ext uri="{FF2B5EF4-FFF2-40B4-BE49-F238E27FC236}">
                <a16:creationId xmlns:a16="http://schemas.microsoft.com/office/drawing/2014/main" id="{52EF8344-8840-492D-A5F6-A097ED8AC39E}"/>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03</a:t>
            </a:r>
          </a:p>
        </p:txBody>
      </p:sp>
    </p:spTree>
    <p:extLst>
      <p:ext uri="{BB962C8B-B14F-4D97-AF65-F5344CB8AC3E}">
        <p14:creationId xmlns:p14="http://schemas.microsoft.com/office/powerpoint/2010/main" val="1120758497"/>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71DDDB1-8D0C-4367-8F30-B46E55887070}"/>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Proposed data flow and schema</a:t>
            </a:r>
          </a:p>
        </p:txBody>
      </p:sp>
      <p:sp>
        <p:nvSpPr>
          <p:cNvPr id="2" name="">
            <a:extLst xmlns:a="http://schemas.openxmlformats.org/drawingml/2006/main">
              <a:ext uri="{FF2B5EF4-FFF2-40B4-BE49-F238E27FC236}">
                <a16:creationId xmlns:a16="http://schemas.microsoft.com/office/drawing/2014/main" id="{C57FF910-8B6C-47B5-852D-6A19B73CCD27}"/>
              </a:ext>
            </a:extLst>
          </p:cNvPr>
          <p:cNvSpPr>
            <a:spLocks xmlns:a="http://schemas.openxmlformats.org/drawingml/2006/main" noGrp="1"/>
          </p:cNvSpPr>
          <p:nvPr/>
        </p:nvSpPr>
        <p:spPr>
          <a:xfrm xmlns:a="http://schemas.openxmlformats.org/drawingml/2006/main">
            <a:off x="609600" y="1352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4C7D5E"/>
                </a:solidFill>
                <a:latin typeface="Helvetica Neue"/>
                <a:ea typeface="Helvetica Neue"/>
                <a:cs typeface="Helvetica Neue"/>
              </a:defRPr>
            </a:pPr>
            <a:r>
              <a:rPr sz="1725" b="1">
                <a:solidFill>
                  <a:srgbClr val="4C7D5E"/>
                </a:solidFill>
                <a:latin typeface="Helvetica Neue"/>
                <a:ea typeface="Helvetica Neue"/>
                <a:cs typeface="Helvetica Neue"/>
              </a:rPr>
              <a:t>PROPOSED APP INTEGRATION</a:t>
            </a:r>
          </a:p>
        </p:txBody>
      </p:sp>
      <p:sp>
        <p:nvSpPr>
          <p:cNvPr id="3" name="Diagram: App action">
            <a:extLst xmlns:a="http://schemas.openxmlformats.org/drawingml/2006/main">
              <a:ext uri="{FF2B5EF4-FFF2-40B4-BE49-F238E27FC236}">
                <a16:creationId xmlns:a16="http://schemas.microsoft.com/office/drawing/2014/main" id="{4E3C5FA8-6B65-4BA3-A2DA-E670B96F8B26}"/>
              </a:ext>
            </a:extLst>
          </p:cNvPr>
          <p:cNvSpPr>
            <a:spLocks xmlns:a="http://schemas.openxmlformats.org/drawingml/2006/main" noGrp="1"/>
          </p:cNvSpPr>
          <p:nvPr/>
        </p:nvSpPr>
        <p:spPr>
          <a:xfrm xmlns:a="http://schemas.openxmlformats.org/drawingml/2006/main">
            <a:off x="609600" y="1924050"/>
            <a:ext cx="2457450" cy="857250"/>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4" name="">
            <a:extLst xmlns:a="http://schemas.openxmlformats.org/drawingml/2006/main">
              <a:ext uri="{FF2B5EF4-FFF2-40B4-BE49-F238E27FC236}">
                <a16:creationId xmlns:a16="http://schemas.microsoft.com/office/drawing/2014/main" id="{F99F8DBC-ED0E-42FB-80E9-988404269070}"/>
              </a:ext>
            </a:extLst>
          </p:cNvPr>
          <p:cNvSpPr>
            <a:spLocks xmlns:a="http://schemas.openxmlformats.org/drawingml/2006/main" noGrp="1"/>
          </p:cNvSpPr>
          <p:nvPr/>
        </p:nvSpPr>
        <p:spPr>
          <a:xfrm xmlns:a="http://schemas.openxmlformats.org/drawingml/2006/main">
            <a:off x="781050" y="2085975"/>
            <a:ext cx="2114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D32"/>
                </a:solidFill>
                <a:latin typeface="Helvetica Neue"/>
                <a:ea typeface="Helvetica Neue"/>
                <a:cs typeface="Helvetica Neue"/>
              </a:defRPr>
            </a:pPr>
            <a:r>
              <a:rPr sz="2100" b="1">
                <a:solidFill>
                  <a:srgbClr val="183D32"/>
                </a:solidFill>
                <a:latin typeface="Helvetica Neue"/>
                <a:ea typeface="Helvetica Neue"/>
                <a:cs typeface="Helvetica Neue"/>
              </a:rPr>
              <a:t>App action</a:t>
            </a:r>
          </a:p>
        </p:txBody>
      </p:sp>
      <p:sp>
        <p:nvSpPr>
          <p:cNvPr id="5" name="Diagram: Python checks">
            <a:extLst xmlns:a="http://schemas.openxmlformats.org/drawingml/2006/main">
              <a:ext uri="{FF2B5EF4-FFF2-40B4-BE49-F238E27FC236}">
                <a16:creationId xmlns:a16="http://schemas.microsoft.com/office/drawing/2014/main" id="{E3D075B6-6676-4951-896B-06AE6F25776B}"/>
              </a:ext>
            </a:extLst>
          </p:cNvPr>
          <p:cNvSpPr>
            <a:spLocks xmlns:a="http://schemas.openxmlformats.org/drawingml/2006/main" noGrp="1"/>
          </p:cNvSpPr>
          <p:nvPr/>
        </p:nvSpPr>
        <p:spPr>
          <a:xfrm xmlns:a="http://schemas.openxmlformats.org/drawingml/2006/main">
            <a:off x="3409950" y="1924050"/>
            <a:ext cx="2457450" cy="857250"/>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6" name="">
            <a:extLst xmlns:a="http://schemas.openxmlformats.org/drawingml/2006/main">
              <a:ext uri="{FF2B5EF4-FFF2-40B4-BE49-F238E27FC236}">
                <a16:creationId xmlns:a16="http://schemas.microsoft.com/office/drawing/2014/main" id="{901ECC2A-1F51-464F-A848-987C1B3F2C77}"/>
              </a:ext>
            </a:extLst>
          </p:cNvPr>
          <p:cNvSpPr>
            <a:spLocks xmlns:a="http://schemas.openxmlformats.org/drawingml/2006/main" noGrp="1"/>
          </p:cNvSpPr>
          <p:nvPr/>
        </p:nvSpPr>
        <p:spPr>
          <a:xfrm xmlns:a="http://schemas.openxmlformats.org/drawingml/2006/main">
            <a:off x="3581400" y="2085975"/>
            <a:ext cx="2114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D32"/>
                </a:solidFill>
                <a:latin typeface="Helvetica Neue"/>
                <a:ea typeface="Helvetica Neue"/>
                <a:cs typeface="Helvetica Neue"/>
              </a:defRPr>
            </a:pPr>
            <a:r>
              <a:rPr sz="2100" b="1">
                <a:solidFill>
                  <a:srgbClr val="183D32"/>
                </a:solidFill>
                <a:latin typeface="Helvetica Neue"/>
                <a:ea typeface="Helvetica Neue"/>
                <a:cs typeface="Helvetica Neue"/>
              </a:rPr>
              <a:t>Python checks</a:t>
            </a:r>
          </a:p>
        </p:txBody>
      </p:sp>
      <p:sp>
        <p:nvSpPr>
          <p:cNvPr id="7" name="Diagram: ClickHouse">
            <a:extLst xmlns:a="http://schemas.openxmlformats.org/drawingml/2006/main">
              <a:ext uri="{FF2B5EF4-FFF2-40B4-BE49-F238E27FC236}">
                <a16:creationId xmlns:a16="http://schemas.microsoft.com/office/drawing/2014/main" id="{ED6B851A-AE99-42B2-9C20-2BF417A07240}"/>
              </a:ext>
            </a:extLst>
          </p:cNvPr>
          <p:cNvSpPr>
            <a:spLocks xmlns:a="http://schemas.openxmlformats.org/drawingml/2006/main" noGrp="1"/>
          </p:cNvSpPr>
          <p:nvPr/>
        </p:nvSpPr>
        <p:spPr>
          <a:xfrm xmlns:a="http://schemas.openxmlformats.org/drawingml/2006/main">
            <a:off x="6210300" y="1924050"/>
            <a:ext cx="2457450" cy="857250"/>
          </a:xfrm>
          <a:prstGeom xmlns:a="http://schemas.openxmlformats.org/drawingml/2006/main" prst="rect">
            <a:avLst/>
          </a:prstGeom>
          <a:solidFill xmlns:a="http://schemas.openxmlformats.org/drawingml/2006/main">
            <a:srgbClr val="183D32"/>
          </a:solidFill>
          <a:ln xmlns:a="http://schemas.openxmlformats.org/drawingml/2006/main" w="12383">
            <a:solidFill>
              <a:srgbClr val="183D32"/>
            </a:solidFill>
          </a:ln>
        </p:spPr>
      </p:sp>
      <p:sp>
        <p:nvSpPr>
          <p:cNvPr id="8" name="">
            <a:extLst xmlns:a="http://schemas.openxmlformats.org/drawingml/2006/main">
              <a:ext uri="{FF2B5EF4-FFF2-40B4-BE49-F238E27FC236}">
                <a16:creationId xmlns:a16="http://schemas.microsoft.com/office/drawing/2014/main" id="{0277FDB4-9613-4F9B-9146-8149913960ED}"/>
              </a:ext>
            </a:extLst>
          </p:cNvPr>
          <p:cNvSpPr>
            <a:spLocks xmlns:a="http://schemas.openxmlformats.org/drawingml/2006/main" noGrp="1"/>
          </p:cNvSpPr>
          <p:nvPr/>
        </p:nvSpPr>
        <p:spPr>
          <a:xfrm xmlns:a="http://schemas.openxmlformats.org/drawingml/2006/main">
            <a:off x="6381750" y="2085975"/>
            <a:ext cx="2114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ClickHouse</a:t>
            </a:r>
          </a:p>
        </p:txBody>
      </p:sp>
      <p:sp>
        <p:nvSpPr>
          <p:cNvPr id="9" name="Diagram: Dashboard">
            <a:extLst xmlns:a="http://schemas.openxmlformats.org/drawingml/2006/main">
              <a:ext uri="{FF2B5EF4-FFF2-40B4-BE49-F238E27FC236}">
                <a16:creationId xmlns:a16="http://schemas.microsoft.com/office/drawing/2014/main" id="{128D783E-B9A7-41B4-9687-BE8E236C27AB}"/>
              </a:ext>
            </a:extLst>
          </p:cNvPr>
          <p:cNvSpPr>
            <a:spLocks xmlns:a="http://schemas.openxmlformats.org/drawingml/2006/main" noGrp="1"/>
          </p:cNvSpPr>
          <p:nvPr/>
        </p:nvSpPr>
        <p:spPr>
          <a:xfrm xmlns:a="http://schemas.openxmlformats.org/drawingml/2006/main">
            <a:off x="9010650" y="1924050"/>
            <a:ext cx="2457450" cy="857250"/>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10" name="">
            <a:extLst xmlns:a="http://schemas.openxmlformats.org/drawingml/2006/main">
              <a:ext uri="{FF2B5EF4-FFF2-40B4-BE49-F238E27FC236}">
                <a16:creationId xmlns:a16="http://schemas.microsoft.com/office/drawing/2014/main" id="{8D69C548-C374-4E06-9AAF-F1996C58FA63}"/>
              </a:ext>
            </a:extLst>
          </p:cNvPr>
          <p:cNvSpPr>
            <a:spLocks xmlns:a="http://schemas.openxmlformats.org/drawingml/2006/main" noGrp="1"/>
          </p:cNvSpPr>
          <p:nvPr/>
        </p:nvSpPr>
        <p:spPr>
          <a:xfrm xmlns:a="http://schemas.openxmlformats.org/drawingml/2006/main">
            <a:off x="9182100" y="2085975"/>
            <a:ext cx="2114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D32"/>
                </a:solidFill>
                <a:latin typeface="Helvetica Neue"/>
                <a:ea typeface="Helvetica Neue"/>
                <a:cs typeface="Helvetica Neue"/>
              </a:defRPr>
            </a:pPr>
            <a:r>
              <a:rPr sz="2100" b="1">
                <a:solidFill>
                  <a:srgbClr val="183D32"/>
                </a:solidFill>
                <a:latin typeface="Helvetica Neue"/>
                <a:ea typeface="Helvetica Neue"/>
                <a:cs typeface="Helvetica Neue"/>
              </a:rPr>
              <a:t>Dashboard</a:t>
            </a:r>
          </a:p>
        </p:txBody>
      </p:sp>
      <p:cxnSp>
        <p:nvCxnSpPr>
          <p:cNvPr id="30" name=""/>
          <p:cNvCxnSpPr>
            <a:stCxn xmlns:a="http://schemas.openxmlformats.org/drawingml/2006/main" id="3" idx="3"/>
            <a:endCxn xmlns:a="http://schemas.openxmlformats.org/drawingml/2006/main" id="5" idx="1"/>
          </p:cNvCxnSpPr>
          <p:nvPr/>
        </p:nvCxnSpPr>
        <p:spPr>
          <a:xfrm xmlns:a="http://schemas.openxmlformats.org/drawingml/2006/main">
            <a:off x="3067050" y="2352675"/>
            <a:ext cx="342900" cy="0"/>
          </a:xfrm>
          <a:prstGeom xmlns:a="http://schemas.openxmlformats.org/drawingml/2006/main" prst="straightConnector1">
            <a:avLst/>
          </a:prstGeom>
          <a:ln xmlns:a="http://schemas.openxmlformats.org/drawingml/2006/main" w="28575">
            <a:solidFill>
              <a:srgbClr val="4C7D5E"/>
            </a:solidFill>
            <a:tailEnd type="arrow" w="med" len="med"/>
          </a:ln>
        </p:spPr>
      </p:cxnSp>
      <p:cxnSp>
        <p:nvCxnSpPr>
          <p:cNvPr id="31" name=""/>
          <p:cNvCxnSpPr>
            <a:stCxn xmlns:a="http://schemas.openxmlformats.org/drawingml/2006/main" id="5" idx="3"/>
            <a:endCxn xmlns:a="http://schemas.openxmlformats.org/drawingml/2006/main" id="7" idx="1"/>
          </p:cNvCxnSpPr>
          <p:nvPr/>
        </p:nvCxnSpPr>
        <p:spPr>
          <a:xfrm xmlns:a="http://schemas.openxmlformats.org/drawingml/2006/main">
            <a:off x="5867400" y="2352675"/>
            <a:ext cx="342900" cy="0"/>
          </a:xfrm>
          <a:prstGeom xmlns:a="http://schemas.openxmlformats.org/drawingml/2006/main" prst="straightConnector1">
            <a:avLst/>
          </a:prstGeom>
          <a:ln xmlns:a="http://schemas.openxmlformats.org/drawingml/2006/main" w="28575">
            <a:solidFill>
              <a:srgbClr val="4C7D5E"/>
            </a:solidFill>
            <a:tailEnd type="arrow" w="med" len="med"/>
          </a:ln>
        </p:spPr>
      </p:cxnSp>
      <p:cxnSp>
        <p:nvCxnSpPr>
          <p:cNvPr id="32" name=""/>
          <p:cNvCxnSpPr>
            <a:stCxn xmlns:a="http://schemas.openxmlformats.org/drawingml/2006/main" id="7" idx="3"/>
            <a:endCxn xmlns:a="http://schemas.openxmlformats.org/drawingml/2006/main" id="9" idx="1"/>
          </p:cNvCxnSpPr>
          <p:nvPr/>
        </p:nvCxnSpPr>
        <p:spPr>
          <a:xfrm xmlns:a="http://schemas.openxmlformats.org/drawingml/2006/main">
            <a:off x="8667750" y="2352675"/>
            <a:ext cx="342900" cy="0"/>
          </a:xfrm>
          <a:prstGeom xmlns:a="http://schemas.openxmlformats.org/drawingml/2006/main" prst="straightConnector1">
            <a:avLst/>
          </a:prstGeom>
          <a:ln xmlns:a="http://schemas.openxmlformats.org/drawingml/2006/main" w="28575">
            <a:solidFill>
              <a:srgbClr val="4C7D5E"/>
            </a:solidFill>
            <a:tailEnd type="arrow" w="med" len="med"/>
          </a:ln>
        </p:spPr>
      </p:cxnSp>
      <p:sp>
        <p:nvSpPr>
          <p:cNvPr id="14" name="">
            <a:extLst xmlns:a="http://schemas.openxmlformats.org/drawingml/2006/main">
              <a:ext uri="{FF2B5EF4-FFF2-40B4-BE49-F238E27FC236}">
                <a16:creationId xmlns:a16="http://schemas.microsoft.com/office/drawing/2014/main" id="{FE1682DB-121B-4494-B258-38B7A95B6E20}"/>
              </a:ext>
            </a:extLst>
          </p:cNvPr>
          <p:cNvSpPr>
            <a:spLocks xmlns:a="http://schemas.openxmlformats.org/drawingml/2006/main" noGrp="1"/>
          </p:cNvSpPr>
          <p:nvPr/>
        </p:nvSpPr>
        <p:spPr>
          <a:xfrm xmlns:a="http://schemas.openxmlformats.org/drawingml/2006/main">
            <a:off x="609600" y="30956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Dashboard queries go through Python</a:t>
            </a:r>
          </a:p>
        </p:txBody>
      </p:sp>
      <p:sp>
        <p:nvSpPr>
          <p:cNvPr id="15" name="">
            <a:extLst xmlns:a="http://schemas.openxmlformats.org/drawingml/2006/main">
              <a:ext uri="{FF2B5EF4-FFF2-40B4-BE49-F238E27FC236}">
                <a16:creationId xmlns:a16="http://schemas.microsoft.com/office/drawing/2014/main" id="{DCF57E8F-CEC4-4B09-8CC4-D82E5C881F95}"/>
              </a:ext>
            </a:extLst>
          </p:cNvPr>
          <p:cNvSpPr>
            <a:spLocks xmlns:a="http://schemas.openxmlformats.org/drawingml/2006/main" noGrp="1"/>
          </p:cNvSpPr>
          <p:nvPr/>
        </p:nvSpPr>
        <p:spPr>
          <a:xfrm xmlns:a="http://schemas.openxmlformats.org/drawingml/2006/main">
            <a:off x="609600" y="37433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7D5E"/>
                </a:solidFill>
                <a:latin typeface="Helvetica Neue"/>
                <a:ea typeface="Helvetica Neue"/>
                <a:cs typeface="Helvetica Neue"/>
              </a:defRPr>
            </a:pPr>
            <a:r>
              <a:rPr sz="1800" b="1">
                <a:solidFill>
                  <a:srgbClr val="4C7D5E"/>
                </a:solidFill>
                <a:latin typeface="Helvetica Neue"/>
                <a:ea typeface="Helvetica Neue"/>
                <a:cs typeface="Helvetica Neue"/>
              </a:rPr>
              <a:t>ONE ACTION = ONE ROW</a:t>
            </a:r>
          </a:p>
        </p:txBody>
      </p:sp>
      <p:graphicFrame>
        <p:nvGraphicFramePr>
          <p:cNvPr id="35" name=""/>
          <p:cNvGraphicFramePr/>
          <p:nvPr/>
        </p:nvGraphicFramePr>
        <p:xfrm>
          <a:off xmlns:a="http://schemas.openxmlformats.org/drawingml/2006/main" x="609600" y="4295775"/>
          <a:ext xmlns:a="http://schemas.openxmlformats.org/drawingml/2006/main" cx="10858500" cy="1104900"/>
        </p:xfrm>
        <a:graphic xmlns:a="http://schemas.openxmlformats.org/drawingml/2006/main">
          <a:graphicData uri="http://schemas.openxmlformats.org/drawingml/2006/table">
            <a:tbl>
              <a:tblPr firstRow="0" bandRow="0"/>
              <a:tblGrid>
                <a:gridCol w="1762125"/>
                <a:gridCol w="1762125"/>
                <a:gridCol w="1762125"/>
                <a:gridCol w="1762125"/>
                <a:gridCol w="1762125"/>
                <a:gridCol w="2047875"/>
              </a:tblGrid>
              <a:tr h="552450">
                <a:tc>
                  <a:txBody>
                    <a:bodyPr>
                      <a:noAutofit/>
                    </a:bodyPr>
                    <a:lstStyle/>
                    <a:p>
                      <a:r>
                        <a:rPr sz="1950" b="1">
                          <a:solidFill>
                            <a:srgbClr val="FFFFFF"/>
                          </a:solidFill>
                          <a:latin typeface="Helvetica Neue"/>
                          <a:ea typeface="Helvetica Neue"/>
                          <a:cs typeface="Helvetica Neue"/>
                        </a:rPr>
                        <a:t>Event ID</a:t>
                      </a:r>
                    </a:p>
                  </a:txBody>
                  <a:tcPr marL="133350" marR="133350" marT="123825" marB="123825">
                    <a:solidFill>
                      <a:srgbClr val="183D32"/>
                    </a:solidFill>
                  </a:tcPr>
                </a:tc>
                <a:tc>
                  <a:txBody>
                    <a:bodyPr>
                      <a:noAutofit/>
                    </a:bodyPr>
                    <a:lstStyle/>
                    <a:p>
                      <a:r>
                        <a:rPr sz="1950" b="1">
                          <a:solidFill>
                            <a:srgbClr val="FFFFFF"/>
                          </a:solidFill>
                          <a:latin typeface="Helvetica Neue"/>
                          <a:ea typeface="Helvetica Neue"/>
                          <a:cs typeface="Helvetica Neue"/>
                        </a:rPr>
                        <a:t>Session</a:t>
                      </a:r>
                    </a:p>
                  </a:txBody>
                  <a:tcPr marL="133350" marR="133350" marT="123825" marB="123825">
                    <a:solidFill>
                      <a:srgbClr val="183D32"/>
                    </a:solidFill>
                  </a:tcPr>
                </a:tc>
                <a:tc>
                  <a:txBody>
                    <a:bodyPr>
                      <a:noAutofit/>
                    </a:bodyPr>
                    <a:lstStyle/>
                    <a:p>
                      <a:r>
                        <a:rPr sz="1950" b="1">
                          <a:solidFill>
                            <a:srgbClr val="FFFFFF"/>
                          </a:solidFill>
                          <a:latin typeface="Helvetica Neue"/>
                          <a:ea typeface="Helvetica Neue"/>
                          <a:cs typeface="Helvetica Neue"/>
                        </a:rPr>
                        <a:t>Time</a:t>
                      </a:r>
                    </a:p>
                  </a:txBody>
                  <a:tcPr marL="133350" marR="133350" marT="123825" marB="123825">
                    <a:solidFill>
                      <a:srgbClr val="183D32"/>
                    </a:solidFill>
                  </a:tcPr>
                </a:tc>
                <a:tc>
                  <a:txBody>
                    <a:bodyPr>
                      <a:noAutofit/>
                    </a:bodyPr>
                    <a:lstStyle/>
                    <a:p>
                      <a:r>
                        <a:rPr sz="1950" b="1">
                          <a:solidFill>
                            <a:srgbClr val="FFFFFF"/>
                          </a:solidFill>
                          <a:latin typeface="Helvetica Neue"/>
                          <a:ea typeface="Helvetica Neue"/>
                          <a:cs typeface="Helvetica Neue"/>
                        </a:rPr>
                        <a:t>Action</a:t>
                      </a:r>
                    </a:p>
                  </a:txBody>
                  <a:tcPr marL="133350" marR="133350" marT="123825" marB="123825">
                    <a:solidFill>
                      <a:srgbClr val="183D32"/>
                    </a:solidFill>
                  </a:tcPr>
                </a:tc>
                <a:tc>
                  <a:txBody>
                    <a:bodyPr>
                      <a:noAutofit/>
                    </a:bodyPr>
                    <a:lstStyle/>
                    <a:p>
                      <a:r>
                        <a:rPr sz="1950" b="1">
                          <a:solidFill>
                            <a:srgbClr val="FFFFFF"/>
                          </a:solidFill>
                          <a:latin typeface="Helvetica Neue"/>
                          <a:ea typeface="Helvetica Neue"/>
                          <a:cs typeface="Helvetica Neue"/>
                        </a:rPr>
                        <a:t>City</a:t>
                      </a:r>
                    </a:p>
                  </a:txBody>
                  <a:tcPr marL="133350" marR="133350" marT="123825" marB="123825">
                    <a:solidFill>
                      <a:srgbClr val="183D32"/>
                    </a:solidFill>
                  </a:tcPr>
                </a:tc>
                <a:tc>
                  <a:txBody>
                    <a:bodyPr>
                      <a:noAutofit/>
                    </a:bodyPr>
                    <a:lstStyle/>
                    <a:p>
                      <a:r>
                        <a:rPr sz="1950" b="1">
                          <a:solidFill>
                            <a:srgbClr val="FFFFFF"/>
                          </a:solidFill>
                          <a:latin typeface="Helvetica Neue"/>
                          <a:ea typeface="Helvetica Neue"/>
                          <a:cs typeface="Helvetica Neue"/>
                        </a:rPr>
                        <a:t>Origin</a:t>
                      </a:r>
                    </a:p>
                  </a:txBody>
                  <a:tcPr marL="133350" marR="133350" marT="123825" marB="123825">
                    <a:solidFill>
                      <a:srgbClr val="183D32"/>
                    </a:solidFill>
                  </a:tcPr>
                </a:tc>
              </a:tr>
              <a:tr h="552450">
                <a:tc>
                  <a:txBody>
                    <a:bodyPr>
                      <a:noAutofit/>
                    </a:bodyPr>
                    <a:lstStyle/>
                    <a:p>
                      <a:r>
                        <a:rPr sz="1650" b="0">
                          <a:solidFill>
                            <a:srgbClr val="183D32"/>
                          </a:solidFill>
                          <a:latin typeface="Helvetica Neue"/>
                          <a:ea typeface="Helvetica Neue"/>
                          <a:cs typeface="Helvetica Neue"/>
                        </a:rPr>
                        <a:t>event_id</a:t>
                      </a:r>
                    </a:p>
                  </a:txBody>
                  <a:tcPr marL="133350" marR="133350" marT="123825" marB="123825">
                    <a:solidFill>
                      <a:srgbClr val="E5EBDF"/>
                    </a:solidFill>
                  </a:tcPr>
                </a:tc>
                <a:tc>
                  <a:txBody>
                    <a:bodyPr>
                      <a:noAutofit/>
                    </a:bodyPr>
                    <a:lstStyle/>
                    <a:p>
                      <a:r>
                        <a:rPr sz="1650" b="0">
                          <a:solidFill>
                            <a:srgbClr val="183D32"/>
                          </a:solidFill>
                          <a:latin typeface="Helvetica Neue"/>
                          <a:ea typeface="Helvetica Neue"/>
                          <a:cs typeface="Helvetica Neue"/>
                        </a:rPr>
                        <a:t>session_id</a:t>
                      </a:r>
                    </a:p>
                  </a:txBody>
                  <a:tcPr marL="133350" marR="133350" marT="123825" marB="123825">
                    <a:solidFill>
                      <a:srgbClr val="E5EBDF"/>
                    </a:solidFill>
                  </a:tcPr>
                </a:tc>
                <a:tc>
                  <a:txBody>
                    <a:bodyPr>
                      <a:noAutofit/>
                    </a:bodyPr>
                    <a:lstStyle/>
                    <a:p>
                      <a:r>
                        <a:rPr sz="1650" b="0">
                          <a:solidFill>
                            <a:srgbClr val="183D32"/>
                          </a:solidFill>
                          <a:latin typeface="Helvetica Neue"/>
                          <a:ea typeface="Helvetica Neue"/>
                          <a:cs typeface="Helvetica Neue"/>
                        </a:rPr>
                        <a:t>event_time</a:t>
                      </a:r>
                    </a:p>
                  </a:txBody>
                  <a:tcPr marL="133350" marR="133350" marT="123825" marB="123825">
                    <a:solidFill>
                      <a:srgbClr val="E5EBDF"/>
                    </a:solidFill>
                  </a:tcPr>
                </a:tc>
                <a:tc>
                  <a:txBody>
                    <a:bodyPr>
                      <a:noAutofit/>
                    </a:bodyPr>
                    <a:lstStyle/>
                    <a:p>
                      <a:r>
                        <a:rPr sz="1650" b="0">
                          <a:solidFill>
                            <a:srgbClr val="183D32"/>
                          </a:solidFill>
                          <a:latin typeface="Helvetica Neue"/>
                          <a:ea typeface="Helvetica Neue"/>
                          <a:cs typeface="Helvetica Neue"/>
                        </a:rPr>
                        <a:t>event_type</a:t>
                      </a:r>
                    </a:p>
                  </a:txBody>
                  <a:tcPr marL="133350" marR="133350" marT="123825" marB="123825">
                    <a:solidFill>
                      <a:srgbClr val="E5EBDF"/>
                    </a:solidFill>
                  </a:tcPr>
                </a:tc>
                <a:tc>
                  <a:txBody>
                    <a:bodyPr>
                      <a:noAutofit/>
                    </a:bodyPr>
                    <a:lstStyle/>
                    <a:p>
                      <a:r>
                        <a:rPr sz="1650" b="0">
                          <a:solidFill>
                            <a:srgbClr val="183D32"/>
                          </a:solidFill>
                          <a:latin typeface="Helvetica Neue"/>
                          <a:ea typeface="Helvetica Neue"/>
                          <a:cs typeface="Helvetica Neue"/>
                        </a:rPr>
                        <a:t>city_id</a:t>
                      </a:r>
                    </a:p>
                  </a:txBody>
                  <a:tcPr marL="133350" marR="133350" marT="123825" marB="123825">
                    <a:solidFill>
                      <a:srgbClr val="E5EBDF"/>
                    </a:solidFill>
                  </a:tcPr>
                </a:tc>
                <a:tc>
                  <a:txBody>
                    <a:bodyPr>
                      <a:noAutofit/>
                    </a:bodyPr>
                    <a:lstStyle/>
                    <a:p>
                      <a:r>
                        <a:rPr sz="1650" b="0">
                          <a:solidFill>
                            <a:srgbClr val="183D32"/>
                          </a:solidFill>
                          <a:latin typeface="Helvetica Neue"/>
                          <a:ea typeface="Helvetica Neue"/>
                          <a:cs typeface="Helvetica Neue"/>
                        </a:rPr>
                        <a:t>source_kind</a:t>
                      </a:r>
                    </a:p>
                  </a:txBody>
                  <a:tcPr marL="133350" marR="133350" marT="123825" marB="123825">
                    <a:solidFill>
                      <a:srgbClr val="E5EBDF"/>
                    </a:solidFill>
                  </a:tcPr>
                </a:tc>
              </a:tr>
            </a:tbl>
          </a:graphicData>
        </a:graphic>
      </p:graphicFrame>
      <p:sp>
        <p:nvSpPr>
          <p:cNvPr id="17" name="">
            <a:extLst xmlns:a="http://schemas.openxmlformats.org/drawingml/2006/main">
              <a:ext uri="{FF2B5EF4-FFF2-40B4-BE49-F238E27FC236}">
                <a16:creationId xmlns:a16="http://schemas.microsoft.com/office/drawing/2014/main" id="{1998A224-248C-4199-AB8E-FE1906B17578}"/>
              </a:ext>
            </a:extLst>
          </p:cNvPr>
          <p:cNvSpPr>
            <a:spLocks xmlns:a="http://schemas.openxmlformats.org/drawingml/2006/main" noGrp="1"/>
          </p:cNvSpPr>
          <p:nvPr/>
        </p:nvSpPr>
        <p:spPr>
          <a:xfrm xmlns:a="http://schemas.openxmlformats.org/drawingml/2006/main">
            <a:off x="609600" y="5762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D32"/>
                </a:solidFill>
                <a:latin typeface="Helvetica Neue"/>
                <a:ea typeface="Helvetica Neue"/>
                <a:cs typeface="Helvetica Neue"/>
              </a:defRPr>
            </a:pPr>
            <a:r>
              <a:rPr sz="2400" b="1">
                <a:solidFill>
                  <a:srgbClr val="183D32"/>
                </a:solidFill>
                <a:latin typeface="Helvetica Neue"/>
                <a:ea typeface="Helvetica Neue"/>
                <a:cs typeface="Helvetica Neue"/>
              </a:rPr>
              <a:t>Group by month. Create daily summaries.</a:t>
            </a:r>
          </a:p>
        </p:txBody>
      </p:sp>
      <p:sp>
        <p:nvSpPr>
          <p:cNvPr id="18" name="">
            <a:extLst xmlns:a="http://schemas.openxmlformats.org/drawingml/2006/main">
              <a:ext uri="{FF2B5EF4-FFF2-40B4-BE49-F238E27FC236}">
                <a16:creationId xmlns:a16="http://schemas.microsoft.com/office/drawing/2014/main" id="{9F578D86-14BD-4B21-B844-20A5DCEBA42B}"/>
              </a:ext>
            </a:extLst>
          </p:cNvPr>
          <p:cNvSpPr>
            <a:spLocks xmlns:a="http://schemas.openxmlformats.org/drawingml/2006/main" noGrp="1"/>
          </p:cNvSpPr>
          <p:nvPr/>
        </p:nvSpPr>
        <p:spPr>
          <a:xfrm xmlns:a="http://schemas.openxmlformats.org/drawingml/2006/main">
            <a:off x="609600" y="63341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695F"/>
                </a:solidFill>
                <a:latin typeface="Helvetica Neue"/>
                <a:ea typeface="Helvetica Neue"/>
                <a:cs typeface="Helvetica Neue"/>
              </a:defRPr>
            </a:pPr>
            <a:r>
              <a:rPr sz="1650" b="0">
                <a:solidFill>
                  <a:srgbClr val="55695F"/>
                </a:solidFill>
                <a:latin typeface="Helvetica Neue"/>
                <a:ea typeface="Helvetica Neue"/>
                <a:cs typeface="Helvetica Neue"/>
              </a:rPr>
              <a:t>SQL design exists. App integration is the next development step.</a:t>
            </a:r>
          </a:p>
        </p:txBody>
      </p:sp>
      <p:sp>
        <p:nvSpPr>
          <p:cNvPr id="19" name="">
            <a:extLst xmlns:a="http://schemas.openxmlformats.org/drawingml/2006/main">
              <a:ext uri="{FF2B5EF4-FFF2-40B4-BE49-F238E27FC236}">
                <a16:creationId xmlns:a16="http://schemas.microsoft.com/office/drawing/2014/main" id="{177649D8-9917-48A1-8254-2953418E105F}"/>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04</a:t>
            </a:r>
          </a:p>
        </p:txBody>
      </p:sp>
    </p:spTree>
    <p:extLst>
      <p:ext uri="{BB962C8B-B14F-4D97-AF65-F5344CB8AC3E}">
        <p14:creationId xmlns:p14="http://schemas.microsoft.com/office/powerpoint/2010/main" val="954419853"/>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357A8A-E23D-4F21-9160-45E6A9C8BAE2}"/>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A faster dashboard</a:t>
            </a:r>
          </a:p>
        </p:txBody>
      </p:sp>
      <p:sp>
        <p:nvSpPr>
          <p:cNvPr id="2" name="">
            <a:extLst xmlns:a="http://schemas.openxmlformats.org/drawingml/2006/main">
              <a:ext uri="{FF2B5EF4-FFF2-40B4-BE49-F238E27FC236}">
                <a16:creationId xmlns:a16="http://schemas.microsoft.com/office/drawing/2014/main" id="{3B0DEFCB-EA80-4236-87E7-BDB058A94915}"/>
              </a:ext>
            </a:extLst>
          </p:cNvPr>
          <p:cNvSpPr>
            <a:spLocks xmlns:a="http://schemas.openxmlformats.org/drawingml/2006/main" noGrp="1"/>
          </p:cNvSpPr>
          <p:nvPr/>
        </p:nvSpPr>
        <p:spPr>
          <a:xfrm xmlns:a="http://schemas.openxmlformats.org/drawingml/2006/main">
            <a:off x="609600" y="1343025"/>
            <a:ext cx="714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550" b="1">
                <a:solidFill>
                  <a:srgbClr val="183D32"/>
                </a:solidFill>
                <a:latin typeface="Helvetica Neue"/>
                <a:ea typeface="Helvetica Neue"/>
                <a:cs typeface="Helvetica Neue"/>
              </a:defRPr>
            </a:pPr>
            <a:r>
              <a:rPr sz="5550" b="1">
                <a:solidFill>
                  <a:srgbClr val="183D32"/>
                </a:solidFill>
                <a:latin typeface="Helvetica Neue"/>
                <a:ea typeface="Helvetica Neue"/>
                <a:cs typeface="Helvetica Neue"/>
              </a:rPr>
              <a:t>217 million</a:t>
            </a:r>
          </a:p>
        </p:txBody>
      </p:sp>
      <p:sp>
        <p:nvSpPr>
          <p:cNvPr id="3" name="">
            <a:extLst xmlns:a="http://schemas.openxmlformats.org/drawingml/2006/main">
              <a:ext uri="{FF2B5EF4-FFF2-40B4-BE49-F238E27FC236}">
                <a16:creationId xmlns:a16="http://schemas.microsoft.com/office/drawing/2014/main" id="{E943BC64-56E8-42B1-A2F6-272AA5C7692D}"/>
              </a:ext>
            </a:extLst>
          </p:cNvPr>
          <p:cNvSpPr>
            <a:spLocks xmlns:a="http://schemas.openxmlformats.org/drawingml/2006/main" noGrp="1"/>
          </p:cNvSpPr>
          <p:nvPr/>
        </p:nvSpPr>
        <p:spPr>
          <a:xfrm xmlns:a="http://schemas.openxmlformats.org/drawingml/2006/main">
            <a:off x="609600" y="2371725"/>
            <a:ext cx="742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695F"/>
                </a:solidFill>
                <a:latin typeface="Helvetica Neue"/>
                <a:ea typeface="Helvetica Neue"/>
                <a:cs typeface="Helvetica Neue"/>
              </a:defRPr>
            </a:pPr>
            <a:r>
              <a:rPr sz="2175" b="0">
                <a:solidFill>
                  <a:srgbClr val="55695F"/>
                </a:solidFill>
                <a:latin typeface="Helvetica Neue"/>
                <a:ea typeface="Helvetica Neue"/>
                <a:cs typeface="Helvetica Neue"/>
              </a:rPr>
              <a:t>OTTO events in the test</a:t>
            </a:r>
          </a:p>
        </p:txBody>
      </p:sp>
      <p:graphicFrame>
        <p:nvGraphicFramePr>
          <p:cNvPr id="13" name="Chart"/>
          <p:cNvGraphicFramePr/>
          <p:nvPr/>
        </p:nvGraphicFramePr>
        <p:xfrm>
          <a:off xmlns:a="http://schemas.openxmlformats.org/drawingml/2006/main" x="609600" y="3133725"/>
          <a:ext xmlns:a="http://schemas.openxmlformats.org/drawingml/2006/main" cx="7572375" cy="2638425"/>
        </p:xfrm>
        <a:graphic xmlns:a="http://schemas.openxmlformats.org/drawingml/2006/main">
          <a:graphicData uri="http://schemas.openxmlformats.org/drawingml/2006/chart">
            <c:chart xmlns:r="http://schemas.openxmlformats.org/officeDocument/2006/relationships" xmlns:c="http://schemas.openxmlformats.org/drawingml/2006/chart" r:id="Rd86d212e60954eb8"/>
          </a:graphicData>
        </a:graphic>
      </p:graphicFrame>
      <p:sp>
        <p:nvSpPr>
          <p:cNvPr id="5" name="">
            <a:extLst xmlns:a="http://schemas.openxmlformats.org/drawingml/2006/main">
              <a:ext uri="{FF2B5EF4-FFF2-40B4-BE49-F238E27FC236}">
                <a16:creationId xmlns:a16="http://schemas.microsoft.com/office/drawing/2014/main" id="{85407D41-AECE-4AEF-909A-68F85CEE12CA}"/>
              </a:ext>
            </a:extLst>
          </p:cNvPr>
          <p:cNvSpPr>
            <a:spLocks xmlns:a="http://schemas.openxmlformats.org/drawingml/2006/main" noGrp="1"/>
          </p:cNvSpPr>
          <p:nvPr/>
        </p:nvSpPr>
        <p:spPr>
          <a:xfrm xmlns:a="http://schemas.openxmlformats.org/drawingml/2006/main">
            <a:off x="8763000" y="3105150"/>
            <a:ext cx="285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183D32"/>
                </a:solidFill>
                <a:latin typeface="Helvetica Neue"/>
                <a:ea typeface="Helvetica Neue"/>
                <a:cs typeface="Helvetica Neue"/>
              </a:defRPr>
            </a:pPr>
            <a:r>
              <a:rPr sz="6450" b="1">
                <a:solidFill>
                  <a:srgbClr val="183D32"/>
                </a:solidFill>
                <a:latin typeface="Helvetica Neue"/>
                <a:ea typeface="Helvetica Neue"/>
                <a:cs typeface="Helvetica Neue"/>
              </a:rPr>
              <a:t>~28×</a:t>
            </a:r>
          </a:p>
        </p:txBody>
      </p:sp>
      <p:sp>
        <p:nvSpPr>
          <p:cNvPr id="6" name="">
            <a:extLst xmlns:a="http://schemas.openxmlformats.org/drawingml/2006/main">
              <a:ext uri="{FF2B5EF4-FFF2-40B4-BE49-F238E27FC236}">
                <a16:creationId xmlns:a16="http://schemas.microsoft.com/office/drawing/2014/main" id="{E33A3848-83D4-49B2-9586-61B8B1D21919}"/>
              </a:ext>
            </a:extLst>
          </p:cNvPr>
          <p:cNvSpPr>
            <a:spLocks xmlns:a="http://schemas.openxmlformats.org/drawingml/2006/main" noGrp="1"/>
          </p:cNvSpPr>
          <p:nvPr/>
        </p:nvSpPr>
        <p:spPr>
          <a:xfrm xmlns:a="http://schemas.openxmlformats.org/drawingml/2006/main">
            <a:off x="8763000" y="43148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32"/>
                </a:solidFill>
                <a:latin typeface="Helvetica Neue"/>
                <a:ea typeface="Helvetica Neue"/>
                <a:cs typeface="Helvetica Neue"/>
              </a:defRPr>
            </a:pPr>
            <a:r>
              <a:rPr sz="3225" b="1">
                <a:solidFill>
                  <a:srgbClr val="183D32"/>
                </a:solidFill>
                <a:latin typeface="Helvetica Neue"/>
                <a:ea typeface="Helvetica Neue"/>
                <a:cs typeface="Helvetica Neue"/>
              </a:rPr>
              <a:t>faster</a:t>
            </a:r>
          </a:p>
        </p:txBody>
      </p:sp>
      <p:sp>
        <p:nvSpPr>
          <p:cNvPr id="7" name="">
            <a:extLst xmlns:a="http://schemas.openxmlformats.org/drawingml/2006/main">
              <a:ext uri="{FF2B5EF4-FFF2-40B4-BE49-F238E27FC236}">
                <a16:creationId xmlns:a16="http://schemas.microsoft.com/office/drawing/2014/main" id="{C89061F3-A0A4-4F7F-A0E1-116A5489555E}"/>
              </a:ext>
            </a:extLst>
          </p:cNvPr>
          <p:cNvSpPr>
            <a:spLocks xmlns:a="http://schemas.openxmlformats.org/drawingml/2006/main" noGrp="1"/>
          </p:cNvSpPr>
          <p:nvPr/>
        </p:nvSpPr>
        <p:spPr>
          <a:xfrm xmlns:a="http://schemas.openxmlformats.org/drawingml/2006/main">
            <a:off x="8763000" y="51816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5695F"/>
                </a:solidFill>
                <a:latin typeface="Helvetica Neue"/>
                <a:ea typeface="Helvetica Neue"/>
                <a:cs typeface="Helvetica Neue"/>
              </a:defRPr>
            </a:pPr>
            <a:r>
              <a:rPr sz="2100" b="0">
                <a:solidFill>
                  <a:srgbClr val="55695F"/>
                </a:solidFill>
                <a:latin typeface="Helvetica Neue"/>
                <a:ea typeface="Helvetica Neue"/>
                <a:cs typeface="Helvetica Neue"/>
              </a:rPr>
              <a:t>Same answer</a:t>
            </a:r>
          </a:p>
        </p:txBody>
      </p:sp>
      <p:sp>
        <p:nvSpPr>
          <p:cNvPr id="8" name="">
            <a:extLst xmlns:a="http://schemas.openxmlformats.org/drawingml/2006/main">
              <a:ext uri="{FF2B5EF4-FFF2-40B4-BE49-F238E27FC236}">
                <a16:creationId xmlns:a16="http://schemas.microsoft.com/office/drawing/2014/main" id="{8186E221-D4D0-4232-A68D-C845DAE8B53A}"/>
              </a:ext>
            </a:extLst>
          </p:cNvPr>
          <p:cNvSpPr>
            <a:spLocks xmlns:a="http://schemas.openxmlformats.org/drawingml/2006/main" noGrp="1"/>
          </p:cNvSpPr>
          <p:nvPr/>
        </p:nvSpPr>
        <p:spPr>
          <a:xfrm xmlns:a="http://schemas.openxmlformats.org/drawingml/2006/main">
            <a:off x="609600" y="61055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One query on our computer. Both queries use ClickHouse.</a:t>
            </a:r>
          </a:p>
        </p:txBody>
      </p:sp>
      <p:sp>
        <p:nvSpPr>
          <p:cNvPr id="9" name="">
            <a:extLst xmlns:a="http://schemas.openxmlformats.org/drawingml/2006/main">
              <a:ext uri="{FF2B5EF4-FFF2-40B4-BE49-F238E27FC236}">
                <a16:creationId xmlns:a16="http://schemas.microsoft.com/office/drawing/2014/main" id="{17DE3EDC-ECF3-4D9E-9048-98B7B8715E71}"/>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05</a:t>
            </a:r>
          </a:p>
        </p:txBody>
      </p:sp>
    </p:spTree>
    <p:extLst>
      <p:ext uri="{BB962C8B-B14F-4D97-AF65-F5344CB8AC3E}">
        <p14:creationId xmlns:p14="http://schemas.microsoft.com/office/powerpoint/2010/main" val="1755705636"/>
      </p:ext>
    </p:extLst>
  </p:cSld>
</p:sld>
</file>

<file path=ppt/slides/slide6.xml><?xml version="1.0" encoding="utf-8"?>
<p:sld xmlns:p="http://schemas.openxmlformats.org/presentationml/2006/main">
  <p:cSld>
    <p:bg>
      <p:bgPr>
        <a:solidFill xmlns:a="http://schemas.openxmlformats.org/drawingml/2006/main">
          <a:srgbClr val="183D3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406075-5305-47CB-80D5-8467C9D44915}"/>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Current progress and next steps</a:t>
            </a:r>
          </a:p>
        </p:txBody>
      </p:sp>
      <p:sp>
        <p:nvSpPr>
          <p:cNvPr id="2" name="">
            <a:extLst xmlns:a="http://schemas.openxmlformats.org/drawingml/2006/main">
              <a:ext uri="{FF2B5EF4-FFF2-40B4-BE49-F238E27FC236}">
                <a16:creationId xmlns:a16="http://schemas.microsoft.com/office/drawing/2014/main" id="{21C67C70-3267-4FF9-AAF2-46B42B0252C5}"/>
              </a:ext>
            </a:extLst>
          </p:cNvPr>
          <p:cNvSpPr>
            <a:spLocks xmlns:a="http://schemas.openxmlformats.org/drawingml/2006/main" noGrp="1"/>
          </p:cNvSpPr>
          <p:nvPr/>
        </p:nvSpPr>
        <p:spPr>
          <a:xfrm xmlns:a="http://schemas.openxmlformats.org/drawingml/2006/main">
            <a:off x="609600" y="15525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DE8DB"/>
                </a:solidFill>
                <a:latin typeface="Helvetica Neue"/>
                <a:ea typeface="Helvetica Neue"/>
                <a:cs typeface="Helvetica Neue"/>
              </a:defRPr>
            </a:pPr>
            <a:r>
              <a:rPr sz="2025" b="1">
                <a:solidFill>
                  <a:srgbClr val="DDE8DB"/>
                </a:solidFill>
                <a:latin typeface="Helvetica Neue"/>
                <a:ea typeface="Helvetica Neue"/>
                <a:cs typeface="Helvetica Neue"/>
              </a:rPr>
              <a:t>WORKING TODAY</a:t>
            </a:r>
          </a:p>
        </p:txBody>
      </p:sp>
      <p:sp>
        <p:nvSpPr>
          <p:cNvPr id="3" name="">
            <a:extLst xmlns:a="http://schemas.openxmlformats.org/drawingml/2006/main">
              <a:ext uri="{FF2B5EF4-FFF2-40B4-BE49-F238E27FC236}">
                <a16:creationId xmlns:a16="http://schemas.microsoft.com/office/drawing/2014/main" id="{446170E2-A694-482B-8E15-C35BFD0A22E2}"/>
              </a:ext>
            </a:extLst>
          </p:cNvPr>
          <p:cNvSpPr>
            <a:spLocks xmlns:a="http://schemas.openxmlformats.org/drawingml/2006/main" noGrp="1"/>
          </p:cNvSpPr>
          <p:nvPr/>
        </p:nvSpPr>
        <p:spPr>
          <a:xfrm xmlns:a="http://schemas.openxmlformats.org/drawingml/2006/main">
            <a:off x="6286500" y="15525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DE8DB"/>
                </a:solidFill>
                <a:latin typeface="Helvetica Neue"/>
                <a:ea typeface="Helvetica Neue"/>
                <a:cs typeface="Helvetica Neue"/>
              </a:defRPr>
            </a:pPr>
            <a:r>
              <a:rPr sz="2025" b="1">
                <a:solidFill>
                  <a:srgbClr val="DDE8DB"/>
                </a:solidFill>
                <a:latin typeface="Helvetica Neue"/>
                <a:ea typeface="Helvetica Neue"/>
                <a:cs typeface="Helvetica Neue"/>
              </a:rPr>
              <a:t>NEXT STEPS</a:t>
            </a:r>
          </a:p>
        </p:txBody>
      </p:sp>
      <p:sp>
        <p:nvSpPr>
          <p:cNvPr id="4" name="">
            <a:extLst xmlns:a="http://schemas.openxmlformats.org/drawingml/2006/main">
              <a:ext uri="{FF2B5EF4-FFF2-40B4-BE49-F238E27FC236}">
                <a16:creationId xmlns:a16="http://schemas.microsoft.com/office/drawing/2014/main" id="{AE8275ED-5E2B-4487-89F9-6363063741D3}"/>
              </a:ext>
            </a:extLst>
          </p:cNvPr>
          <p:cNvSpPr>
            <a:spLocks xmlns:a="http://schemas.openxmlformats.org/drawingml/2006/main" noGrp="1"/>
          </p:cNvSpPr>
          <p:nvPr/>
        </p:nvSpPr>
        <p:spPr>
          <a:xfrm xmlns:a="http://schemas.openxmlformats.org/drawingml/2006/main">
            <a:off x="609600" y="2333625"/>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ClickHouse running</a:t>
            </a:r>
          </a:p>
          <a:p xmlns:a="http://schemas.openxmlformats.org/drawingml/2006/main">
            <a:r>
              <a:t/>
            </a:r>
          </a:p>
          <a:p xmlns:a="http://schemas.openxmlformats.org/drawingml/2006/main">
            <a:pPr>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Public datasets loaded</a:t>
            </a:r>
          </a:p>
          <a:p xmlns:a="http://schemas.openxmlformats.org/drawingml/2006/main">
            <a:r>
              <a:t/>
            </a:r>
          </a:p>
          <a:p xmlns:a="http://schemas.openxmlformats.org/drawingml/2006/main">
            <a:pPr>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Dashboard available</a:t>
            </a:r>
          </a:p>
        </p:txBody>
      </p:sp>
      <p:sp>
        <p:nvSpPr>
          <p:cNvPr id="5" name="">
            <a:extLst xmlns:a="http://schemas.openxmlformats.org/drawingml/2006/main">
              <a:ext uri="{FF2B5EF4-FFF2-40B4-BE49-F238E27FC236}">
                <a16:creationId xmlns:a16="http://schemas.microsoft.com/office/drawing/2014/main" id="{74A9A783-5502-4977-9960-E39B7F814C6B}"/>
              </a:ext>
            </a:extLst>
          </p:cNvPr>
          <p:cNvSpPr>
            <a:spLocks xmlns:a="http://schemas.openxmlformats.org/drawingml/2006/main" noGrp="1"/>
          </p:cNvSpPr>
          <p:nvPr/>
        </p:nvSpPr>
        <p:spPr>
          <a:xfrm xmlns:a="http://schemas.openxmlformats.org/drawingml/2006/main">
            <a:off x="6286500" y="2333625"/>
            <a:ext cx="5238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Connect the delivery mini app</a:t>
            </a:r>
          </a:p>
          <a:p xmlns:a="http://schemas.openxmlformats.org/drawingml/2006/main">
            <a:r>
              <a:t/>
            </a:r>
          </a:p>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Generate simulated actions</a:t>
            </a:r>
          </a:p>
          <a:p xmlns:a="http://schemas.openxmlformats.org/drawingml/2006/main">
            <a:r>
              <a:t/>
            </a:r>
          </a:p>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Test repeated requests and load</a:t>
            </a:r>
          </a:p>
        </p:txBody>
      </p:sp>
      <p:sp>
        <p:nvSpPr>
          <p:cNvPr id="6" name="">
            <a:extLst xmlns:a="http://schemas.openxmlformats.org/drawingml/2006/main">
              <a:ext uri="{FF2B5EF4-FFF2-40B4-BE49-F238E27FC236}">
                <a16:creationId xmlns:a16="http://schemas.microsoft.com/office/drawing/2014/main" id="{ACDA92D8-F2A2-40EC-9B3A-2CF8984935BB}"/>
              </a:ext>
            </a:extLst>
          </p:cNvPr>
          <p:cNvSpPr>
            <a:spLocks xmlns:a="http://schemas.openxmlformats.org/drawingml/2006/main" noGrp="1"/>
          </p:cNvSpPr>
          <p:nvPr/>
        </p:nvSpPr>
        <p:spPr>
          <a:xfrm xmlns:a="http://schemas.openxmlformats.org/drawingml/2006/main">
            <a:off x="609600" y="56673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A user action should appear in the dashboard and count once.</a:t>
            </a:r>
          </a:p>
        </p:txBody>
      </p:sp>
      <p:sp>
        <p:nvSpPr>
          <p:cNvPr id="7" name="">
            <a:extLst xmlns:a="http://schemas.openxmlformats.org/drawingml/2006/main">
              <a:ext uri="{FF2B5EF4-FFF2-40B4-BE49-F238E27FC236}">
                <a16:creationId xmlns:a16="http://schemas.microsoft.com/office/drawing/2014/main" id="{33DE4CFF-44D8-465F-85EB-D3134F9931AE}"/>
              </a:ext>
            </a:extLst>
          </p:cNvPr>
          <p:cNvSpPr>
            <a:spLocks xmlns:a="http://schemas.openxmlformats.org/drawingml/2006/main" noGrp="1"/>
          </p:cNvSpPr>
          <p:nvPr/>
        </p:nvSpPr>
        <p:spPr>
          <a:xfrm xmlns:a="http://schemas.openxmlformats.org/drawingml/2006/main">
            <a:off x="609600" y="638175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DE8DB"/>
                </a:solidFill>
                <a:latin typeface="Helvetica Neue"/>
                <a:ea typeface="Helvetica Neue"/>
                <a:cs typeface="Helvetica Neue"/>
              </a:defRPr>
            </a:pPr>
            <a:r>
              <a:rPr sz="1575" b="0">
                <a:solidFill>
                  <a:srgbClr val="DDE8DB"/>
                </a:solidFill>
                <a:latin typeface="Helvetica Neue"/>
                <a:ea typeface="Helvetica Neue"/>
                <a:cs typeface="Helvetica Neue"/>
              </a:rPr>
              <a:t>Current setup: one node. Failure recovery still needs testing.</a:t>
            </a:r>
          </a:p>
        </p:txBody>
      </p:sp>
      <p:sp>
        <p:nvSpPr>
          <p:cNvPr id="8" name="">
            <a:extLst xmlns:a="http://schemas.openxmlformats.org/drawingml/2006/main">
              <a:ext uri="{FF2B5EF4-FFF2-40B4-BE49-F238E27FC236}">
                <a16:creationId xmlns:a16="http://schemas.microsoft.com/office/drawing/2014/main" id="{25623AB5-B0F4-42C2-8A51-D84DF2EBA6B5}"/>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DE8DB"/>
                </a:solidFill>
                <a:latin typeface="Helvetica Neue"/>
                <a:ea typeface="Helvetica Neue"/>
                <a:cs typeface="Helvetica Neue"/>
              </a:defRPr>
            </a:pPr>
            <a:r>
              <a:rPr sz="1350" b="0">
                <a:solidFill>
                  <a:srgbClr val="DDE8DB"/>
                </a:solidFill>
                <a:latin typeface="Helvetica Neue"/>
                <a:ea typeface="Helvetica Neue"/>
                <a:cs typeface="Helvetica Neue"/>
              </a:rPr>
              <a:t>06</a:t>
            </a:r>
          </a:p>
        </p:txBody>
      </p:sp>
    </p:spTree>
    <p:extLst>
      <p:ext uri="{BB962C8B-B14F-4D97-AF65-F5344CB8AC3E}">
        <p14:creationId xmlns:p14="http://schemas.microsoft.com/office/powerpoint/2010/main" val="4743927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2026-10-05T14:57:51.7310000Z</dcterms:created>
  <dcterms:modified xsi:type="dcterms:W3CDTF">2026-10-05T14:57:51.7310000Z</dcterms:modified>
</coreProperties>
</file>