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cda115aac5424b" /><Relationship Type="http://schemas.openxmlformats.org/officeDocument/2006/relationships/extended-properties" Target="/docProps/app.xml" Id="Ra19dfb4780af4ef1" /><Relationship Type="http://schemas.openxmlformats.org/officeDocument/2006/relationships/officeDocument" Target="/ppt/presentation.xml" Id="R88242c544be54340" /></Relationships>
</file>

<file path=ppt/presentation.xml><?xml version="1.0" encoding="utf-8"?>
<p:presentation xmlns:p="http://schemas.openxmlformats.org/presentationml/2006/main">
  <p:sldMasterIdLst>
    <p:sldMasterId xmlns:r="http://schemas.openxmlformats.org/officeDocument/2006/relationships" id="2147483648" r:id="R3d6584caaa9c40d0"/>
  </p:sldMasterIdLst>
  <p:notesMasterIdLst>
    <p:notesMasterId xmlns:r="http://schemas.openxmlformats.org/officeDocument/2006/relationships" r:id="Rb9087a5ef5534778"/>
  </p:notesMasterIdLst>
  <p:sldIdLst>
    <p:sldId xmlns:r="http://schemas.openxmlformats.org/officeDocument/2006/relationships" id="256" r:id="Re9fc070008bd4758"/>
    <p:sldId xmlns:r="http://schemas.openxmlformats.org/officeDocument/2006/relationships" id="257" r:id="Ra84a7148199a481d"/>
    <p:sldId xmlns:r="http://schemas.openxmlformats.org/officeDocument/2006/relationships" id="258" r:id="R17f982c5ac03407a"/>
    <p:sldId xmlns:r="http://schemas.openxmlformats.org/officeDocument/2006/relationships" id="259" r:id="Rf934148a5f7e4618"/>
    <p:sldId xmlns:r="http://schemas.openxmlformats.org/officeDocument/2006/relationships" id="260" r:id="R3adf9ea730ab4fe7"/>
    <p:sldId xmlns:r="http://schemas.openxmlformats.org/officeDocument/2006/relationships" id="261" r:id="R4dcff313f44c41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f3ad914fae4807" /><Relationship Type="http://schemas.openxmlformats.org/officeDocument/2006/relationships/slideMaster" Target="/ppt/slideMasters/slideMaster1.xml" Id="R3d6584caaa9c40d0" /><Relationship Type="http://schemas.openxmlformats.org/officeDocument/2006/relationships/notesMaster" Target="/ppt/notesMasters/notesMaster1.xml" Id="Rb9087a5ef5534778" /><Relationship Type="http://schemas.openxmlformats.org/officeDocument/2006/relationships/presProps" Target="/ppt/presProps.xml" Id="Re2fd5f6d6d87421c" /><Relationship Type="http://schemas.openxmlformats.org/officeDocument/2006/relationships/tableStyles" Target="/ppt/tableStyles.xml" Id="R434576edd311462f" /><Relationship Type="http://schemas.openxmlformats.org/officeDocument/2006/relationships/slide" Target="/ppt/slides/slide1.xml" Id="Re9fc070008bd4758" /><Relationship Type="http://schemas.openxmlformats.org/officeDocument/2006/relationships/slide" Target="/ppt/slides/slide2.xml" Id="Ra84a7148199a481d" /><Relationship Type="http://schemas.openxmlformats.org/officeDocument/2006/relationships/slide" Target="/ppt/slides/slide3.xml" Id="R17f982c5ac03407a" /><Relationship Type="http://schemas.openxmlformats.org/officeDocument/2006/relationships/slide" Target="/ppt/slides/slide4.xml" Id="Rf934148a5f7e4618" /><Relationship Type="http://schemas.openxmlformats.org/officeDocument/2006/relationships/slide" Target="/ppt/slides/slide5.xml" Id="R3adf9ea730ab4fe7" /><Relationship Type="http://schemas.openxmlformats.org/officeDocument/2006/relationships/slide" Target="/ppt/slides/slide6.xml" Id="R4dcff313f44c41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97cb9866a44f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562d7e8e5b43f5" /><Relationship Type="http://schemas.openxmlformats.org/officeDocument/2006/relationships/notesMaster" Target="/ppt/notesMasters/notesMaster1.xml" Id="Rf8d19857606e40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44186281e74dad" /><Relationship Type="http://schemas.openxmlformats.org/officeDocument/2006/relationships/notesMaster" Target="/ppt/notesMasters/notesMaster1.xml" Id="Rf7e6e1568ecf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bf6b12b0064f35" /><Relationship Type="http://schemas.openxmlformats.org/officeDocument/2006/relationships/notesMaster" Target="/ppt/notesMasters/notesMaster1.xml" Id="R6313ae0cc7b046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69be8ed16f4317" /><Relationship Type="http://schemas.openxmlformats.org/officeDocument/2006/relationships/notesMaster" Target="/ppt/notesMasters/notesMaster1.xml" Id="R9baa27ec65ff43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8bd16dbbc4648" /><Relationship Type="http://schemas.openxmlformats.org/officeDocument/2006/relationships/notesMaster" Target="/ppt/notesMasters/notesMaster1.xml" Id="R62ab9e6afdff4e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712bd665be48c3" /><Relationship Type="http://schemas.openxmlformats.org/officeDocument/2006/relationships/notesMaster" Target="/ppt/notesMasters/notesMaster1.xml" Id="R1fac01db163640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Introduce the project and distinguish the working data lab from the proposed app.</a:t>
            </a:r>
          </a:p>
          <a:p xmlns:a="http://schemas.openxmlformats.org/drawingml/2006/main">
            <a:r>
              <a:t/>
            </a:r>
          </a:p>
          <a:p xmlns:a="http://schemas.openxmlformats.org/drawingml/2006/main">
            <a:r>
              <a:t>SAY</a:t>
            </a:r>
          </a:p>
          <a:p xmlns:a="http://schemas.openxmlformats.org/drawingml/2006/main">
            <a:r>
              <a:t>Our project is Delivery Atlas, an analytics infrastructure for a fictional food delivery app inspired by Uber Eats and Glovo. We want to collect navigation events and show them in a dashboard. We already have a working ClickHouse lab with large public datasets. The delivery app itself is our next development step.</a:t>
            </a:r>
          </a:p>
          <a:p xmlns:a="http://schemas.openxmlformats.org/drawingml/2006/main">
            <a:r>
              <a:t/>
            </a:r>
          </a:p>
          <a:p xmlns:a="http://schemas.openxmlformats.org/drawingml/2006/main">
            <a:r>
              <a:t>TRANSITION</a:t>
            </a:r>
          </a:p>
          <a:p xmlns:a="http://schemas.openxmlformats.org/drawingml/2006/main">
            <a:r>
              <a:t>First, let me show you how the current system works.</a:t>
            </a:r>
          </a:p>
          <a:p xmlns:a="http://schemas.openxmlformats.org/drawingml/2006/main">
            <a:r>
              <a:t/>
            </a:r>
          </a:p>
          <a:p xmlns:a="http://schemas.openxmlformats.org/drawingml/2006/main">
            <a:r>
              <a:t>IF ASKED</a:t>
            </a:r>
          </a:p>
          <a:p xmlns:a="http://schemas.openxmlformats.org/drawingml/2006/main">
            <a:r>
              <a:t>Are these Uber Eats data?</a:t>
            </a:r>
          </a:p>
          <a:p xmlns:a="http://schemas.openxmlformats.org/drawingml/2006/main">
            <a:r>
              <a:t/>
            </a:r>
          </a:p>
          <a:p xmlns:a="http://schemas.openxmlformats.org/drawingml/2006/main">
            <a:r>
              <a:t>No. The app is fictional. OTTO and REES46 provide historical e-commerce events. Ele.me provides food recommendation samples, and Glovo provides a catalogue.</a:t>
            </a:r>
          </a:p>
          <a:p xmlns:a="http://schemas.openxmlformats.org/drawingml/2006/main">
            <a:r>
              <a:t/>
            </a:r>
          </a:p>
          <a:p xmlns:a="http://schemas.openxmlformats.org/drawingml/2006/main">
            <a:r>
              <a:t>Target: 0:00–0:30 (30 seconds).</a:t>
            </a:r>
          </a:p>
          <a:p xmlns:a="http://schemas.openxmlformats.org/drawingml/2006/main">
            <a:r>
              <a:t/>
            </a:r>
          </a:p>
          <a:p xmlns:a="http://schemas.openxmlformats.org/drawingml/2006/main">
            <a:r>
              <a:t>Sources:</a:t>
            </a:r>
          </a:p>
          <a:p xmlns:a="http://schemas.openxmlformats.org/drawingml/2006/main">
            <a:r>
              <a:t>docs/PLATAFORMA-FICTICIA.md</a:t>
            </a:r>
          </a:p>
          <a:p xmlns:a="http://schemas.openxmlformats.org/drawingml/2006/main">
            <a:r>
              <a:t>docs/ESTADO-EQUIPO.md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Point to the table from input to daily rollup. Explain the role of each layer.</a:t>
            </a:r>
          </a:p>
          <a:p xmlns:a="http://schemas.openxmlformats.org/drawingml/2006/main">
            <a:r>
              <a:t/>
            </a:r>
          </a:p>
          <a:p xmlns:a="http://schemas.openxmlformats.org/drawingml/2006/main">
            <a:r>
              <a:t>SAY</a:t>
            </a:r>
          </a:p>
          <a:p xmlns:a="http://schemas.openxmlformats.org/drawingml/2006/main">
            <a:r>
              <a:t>The system has a web frontend, a Python API and one ClickHouse node running in Docker. Python scripts validate source files and load data in batches. The database stores detailed data in separate tables: OTTO contains events, while Ele.me contains labelled recommendation samples. We also keep daily counts in a rollup table for faster queries. The API queries ClickHouse and returns JSON to the dashboard. Our replay loads old events now, so we preserve both the original event time and the ingestion time.</a:t>
            </a:r>
          </a:p>
          <a:p xmlns:a="http://schemas.openxmlformats.org/drawingml/2006/main">
            <a:r>
              <a:t/>
            </a:r>
          </a:p>
          <a:p xmlns:a="http://schemas.openxmlformats.org/drawingml/2006/main">
            <a:r>
              <a:t>TRANSITION</a:t>
            </a:r>
          </a:p>
          <a:p xmlns:a="http://schemas.openxmlformats.org/drawingml/2006/main">
            <a:r>
              <a:t>This working lab is the basis for our proposed app event model.</a:t>
            </a:r>
          </a:p>
          <a:p xmlns:a="http://schemas.openxmlformats.org/drawingml/2006/main">
            <a:r>
              <a:t/>
            </a:r>
          </a:p>
          <a:p xmlns:a="http://schemas.openxmlformats.org/drawingml/2006/main">
            <a:r>
              <a:t>IF ASKED</a:t>
            </a:r>
          </a:p>
          <a:p xmlns:a="http://schemas.openxmlformats.org/drawingml/2006/main">
            <a:r>
              <a:t>Why keep the datasets separate?</a:t>
            </a:r>
          </a:p>
          <a:p xmlns:a="http://schemas.openxmlformats.org/drawingml/2006/main">
            <a:r>
              <a:t/>
            </a:r>
          </a:p>
          <a:p xmlns:a="http://schemas.openxmlformats.org/drawingml/2006/main">
            <a:r>
              <a:t>They represent different populations and record types. They do not share valid user or product keys, so combining them into one journey would misrepresent the data.</a:t>
            </a:r>
          </a:p>
          <a:p xmlns:a="http://schemas.openxmlformats.org/drawingml/2006/main">
            <a:r>
              <a:t/>
            </a:r>
          </a:p>
          <a:p xmlns:a="http://schemas.openxmlformats.org/drawingml/2006/main">
            <a:r>
              <a:t>Target: 0:30–1:15 (45 seconds).</a:t>
            </a:r>
          </a:p>
          <a:p xmlns:a="http://schemas.openxmlformats.org/drawingml/2006/main">
            <a:r>
              <a:t/>
            </a:r>
          </a:p>
          <a:p xmlns:a="http://schemas.openxmlformats.org/drawingml/2006/main">
            <a:r>
              <a:t>Sources:</a:t>
            </a:r>
          </a:p>
          <a:p xmlns:a="http://schemas.openxmlformats.org/drawingml/2006/main">
            <a:r>
              <a:t>recursos/01_1_Components.md</a:t>
            </a:r>
          </a:p>
          <a:p xmlns:a="http://schemas.openxmlformats.org/drawingml/2006/main">
            <a:r>
              <a:t>recursos/01_3_Docker.md</a:t>
            </a:r>
          </a:p>
          <a:p xmlns:a="http://schemas.openxmlformats.org/drawingml/2006/main">
            <a:r>
              <a:t>sql/schema.sql</a:t>
            </a:r>
          </a:p>
          <a:p xmlns:a="http://schemas.openxmlformats.org/drawingml/2006/main">
            <a:r>
              <a:t>sql/eleme.sql</a:t>
            </a:r>
          </a:p>
          <a:p xmlns:a="http://schemas.openxmlformats.org/drawingml/2006/main">
            <a:r>
              <a:t>compose.yaml</a:t>
            </a:r>
          </a:p>
          <a:p xmlns:a="http://schemas.openxmlformats.org/drawingml/2006/main">
            <a:r>
              <a:t>dashboard.py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Explain the field groups, then point to PARTITION BY and ORDER BY. Say clearly that this model is proposed.</a:t>
            </a:r>
          </a:p>
          <a:p xmlns:a="http://schemas.openxmlformats.org/drawingml/2006/main">
            <a:r>
              <a:t/>
            </a:r>
          </a:p>
          <a:p xmlns:a="http://schemas.openxmlformats.org/drawingml/2006/main">
            <a:r>
              <a:t>SAY</a:t>
            </a:r>
          </a:p>
          <a:p xmlns:a="http://schemas.openxmlformats.org/drawingml/2006/main">
            <a:r>
              <a:t>In the proposed model, each row represents one app event, such as opening a restaurant or adding a product to the cart. We store an event ID, a session ID, timestamps, the action and its context. The provenance fields distinguish simulated traffic, new demo actions and historical sources. ClickHouse stores data by columns, which suits analytical queries that read selected fields across many rows. MergeTree is the storage engine. PARTITION BY groups data by month within the node. ORDER BY sorts the data and supports a sparse primary index. We chose this order for filters by source, date, city and event type, but it still needs benchmarking. Neither the sorting key nor a UUID prevents duplicate submissions. The schema exists as SQL, but it is not deployed yet.</a:t>
            </a:r>
          </a:p>
          <a:p xmlns:a="http://schemas.openxmlformats.org/drawingml/2006/main">
            <a:r>
              <a:t/>
            </a:r>
          </a:p>
          <a:p xmlns:a="http://schemas.openxmlformats.org/drawingml/2006/main">
            <a:r>
              <a:t>TRANSITION</a:t>
            </a:r>
          </a:p>
          <a:p xmlns:a="http://schemas.openxmlformats.org/drawingml/2006/main">
            <a:r>
              <a:t>Our current lab already shows why a daily rollup can be useful.</a:t>
            </a:r>
          </a:p>
          <a:p xmlns:a="http://schemas.openxmlformats.org/drawingml/2006/main">
            <a:r>
              <a:t/>
            </a:r>
          </a:p>
          <a:p xmlns:a="http://schemas.openxmlformats.org/drawingml/2006/main">
            <a:r>
              <a:t>IF ASKED</a:t>
            </a:r>
          </a:p>
          <a:p xmlns:a="http://schemas.openxmlformats.org/drawingml/2006/main">
            <a:r>
              <a:t>Is PARTITION BY the same as sharding?</a:t>
            </a:r>
          </a:p>
          <a:p xmlns:a="http://schemas.openxmlformats.org/drawingml/2006/main">
            <a:r>
              <a:t/>
            </a:r>
          </a:p>
          <a:p xmlns:a="http://schemas.openxmlformats.org/drawingml/2006/main">
            <a:r>
              <a:t>No. These partitions group data within the current node. Sharding distributes data across nodes. ORDER BY controls physical sorting and does not enforce uniqueness.</a:t>
            </a:r>
          </a:p>
          <a:p xmlns:a="http://schemas.openxmlformats.org/drawingml/2006/main">
            <a:r>
              <a:t/>
            </a:r>
          </a:p>
          <a:p xmlns:a="http://schemas.openxmlformats.org/drawingml/2006/main">
            <a:r>
              <a:t>Target: 1:15–2:30 (75 seconds).</a:t>
            </a:r>
          </a:p>
          <a:p xmlns:a="http://schemas.openxmlformats.org/drawingml/2006/main">
            <a:r>
              <a:t/>
            </a:r>
          </a:p>
          <a:p xmlns:a="http://schemas.openxmlformats.org/drawingml/2006/main">
            <a:r>
              <a:t>Sources:</a:t>
            </a:r>
          </a:p>
          <a:p xmlns:a="http://schemas.openxmlformats.org/drawingml/2006/main">
            <a:r>
              <a:t>sql/propuesta_delivery.sql</a:t>
            </a:r>
          </a:p>
          <a:p xmlns:a="http://schemas.openxmlformats.org/drawingml/2006/main">
            <a:r>
              <a:t>docs/ESTRUCTURA-BD.md</a:t>
            </a:r>
          </a:p>
          <a:p xmlns:a="http://schemas.openxmlformats.org/drawingml/2006/main">
            <a:r>
              <a:t>recursos/01_4_Cross_cutting_concerns.md</a:t>
            </a:r>
          </a:p>
          <a:p xmlns:a="http://schemas.openxmlformats.org/drawingml/2006/main">
            <a:r>
              <a:t>https://clickhouse.com/docs/reference/engines/table-engines/mergetree-family/mergetree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Point to the two bars. Read the rounded times, then explain the method and the scope of the result.</a:t>
            </a:r>
          </a:p>
          <a:p xmlns:a="http://schemas.openxmlformats.org/drawingml/2006/main">
            <a:r>
              <a:t/>
            </a:r>
          </a:p>
          <a:p xmlns:a="http://schemas.openxmlformats.org/drawingml/2006/main">
            <a:r>
              <a:t>SAY</a:t>
            </a:r>
          </a:p>
          <a:p xmlns:a="http://schemas.openxmlformats.org/drawingml/2006/main">
            <a:r>
              <a:t>We compared two ways of answering the same question: how many OTTO events occurred each day, by event type? The historical table contains about 217 million events. Its query took about 5.89 seconds. The daily rollup returned the same answer in about 0.21 seconds, a 27.9 times speedup. It contains 87 combinations of day and event type. We used the median of three local runs with the SQL query cache disabled. This demonstrates the benefit of pre-aggregation for this query on our machine.</a:t>
            </a:r>
          </a:p>
          <a:p xmlns:a="http://schemas.openxmlformats.org/drawingml/2006/main">
            <a:r>
              <a:t/>
            </a:r>
          </a:p>
          <a:p xmlns:a="http://schemas.openxmlformats.org/drawingml/2006/main">
            <a:r>
              <a:t>TRANSITION</a:t>
            </a:r>
          </a:p>
          <a:p xmlns:a="http://schemas.openxmlformats.org/drawingml/2006/main">
            <a:r>
              <a:t>Performance is one part of the project. We also need to explain its guarantees.</a:t>
            </a:r>
          </a:p>
          <a:p xmlns:a="http://schemas.openxmlformats.org/drawingml/2006/main">
            <a:r>
              <a:t/>
            </a:r>
          </a:p>
          <a:p xmlns:a="http://schemas.openxmlformats.org/drawingml/2006/main">
            <a:r>
              <a:t>IF ASKED</a:t>
            </a:r>
          </a:p>
          <a:p xmlns:a="http://schemas.openxmlformats.org/drawingml/2006/main">
            <a:r>
              <a:t>Does this prove ClickHouse is faster than PostgreSQL?</a:t>
            </a:r>
          </a:p>
          <a:p xmlns:a="http://schemas.openxmlformats.org/drawingml/2006/main">
            <a:r>
              <a:t/>
            </a:r>
          </a:p>
          <a:p xmlns:a="http://schemas.openxmlformats.org/drawingml/2006/main">
            <a:r>
              <a:t>No. Both queries ran in ClickHouse. The experiment compares historical data and a rollup for one query. It does not compare engines or measure p99 latency.</a:t>
            </a:r>
          </a:p>
          <a:p xmlns:a="http://schemas.openxmlformats.org/drawingml/2006/main">
            <a:r>
              <a:t/>
            </a:r>
          </a:p>
          <a:p xmlns:a="http://schemas.openxmlformats.org/drawingml/2006/main">
            <a:r>
              <a:t>Target: 2:30–3:20 (50 seconds).</a:t>
            </a:r>
          </a:p>
          <a:p xmlns:a="http://schemas.openxmlformats.org/drawingml/2006/main">
            <a:r>
              <a:t/>
            </a:r>
          </a:p>
          <a:p xmlns:a="http://schemas.openxmlformats.org/drawingml/2006/main">
            <a:r>
              <a:t>Sources:</a:t>
            </a:r>
          </a:p>
          <a:p xmlns:a="http://schemas.openxmlformats.org/drawingml/2006/main">
            <a:r>
              <a:t>data/query-benchmark.json</a:t>
            </a:r>
          </a:p>
          <a:p xmlns:a="http://schemas.openxmlformats.org/drawingml/2006/main">
            <a:r>
              <a:t>docs/RESULTADOS.md</a:t>
            </a:r>
          </a:p>
          <a:p xmlns:a="http://schemas.openxmlformats.org/drawingml/2006/main">
            <a:r>
              <a:t>scripts/benchmark.py</a:t>
            </a:r>
          </a:p>
          <a:p xmlns:a="http://schemas.openxmlformats.org/drawingml/2006/main">
            <a:r>
              <a:t>recursos/01_1_Components.md</a:t>
            </a:r>
          </a:p>
          <a:p xmlns:a="http://schemas.openxmlformats.org/drawingml/2006/main">
            <a:r>
              <a:t>https://clickhouse.com/docs/reference/engines/table-engines/mergetree-family/summingmergetree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the table to explain the limitations as specific next tasks. Emphasize duplicates and recovery.</a:t>
            </a:r>
          </a:p>
          <a:p xmlns:a="http://schemas.openxmlformats.org/drawingml/2006/main">
            <a:r>
              <a:t/>
            </a:r>
          </a:p>
          <a:p xmlns:a="http://schemas.openxmlformats.org/drawingml/2006/main">
            <a:r>
              <a:t>SAY</a:t>
            </a:r>
          </a:p>
          <a:p xmlns:a="http://schemas.openxmlformats.org/drawingml/2006/main">
            <a:r>
              <a:t>The course theory helps us explain the limits of this version. We have one node and persistent storage, but no replicas or high availability. Local date partitions do not demonstrate horizontal scaling. Another issue is event delivery: retrying the current POST request can create duplicate rows. We need to test retries with a stable event ID and make sure the rollup does not count them twice. We also need to measure ingestion rate, dashboard delay and latency percentiles under load. These are the next steps for validating the infrastructure.</a:t>
            </a:r>
          </a:p>
          <a:p xmlns:a="http://schemas.openxmlformats.org/drawingml/2006/main">
            <a:r>
              <a:t/>
            </a:r>
          </a:p>
          <a:p xmlns:a="http://schemas.openxmlformats.org/drawingml/2006/main">
            <a:r>
              <a:t>TRANSITION</a:t>
            </a:r>
          </a:p>
          <a:p xmlns:a="http://schemas.openxmlformats.org/drawingml/2006/main">
            <a:r>
              <a:t>These limitations define our next milestone.</a:t>
            </a:r>
          </a:p>
          <a:p xmlns:a="http://schemas.openxmlformats.org/drawingml/2006/main">
            <a:r>
              <a:t/>
            </a:r>
          </a:p>
          <a:p xmlns:a="http://schemas.openxmlformats.org/drawingml/2006/main">
            <a:r>
              <a:t>IF ASKED</a:t>
            </a:r>
          </a:p>
          <a:p xmlns:a="http://schemas.openxmlformats.org/drawingml/2006/main">
            <a:r>
              <a:t>What does idempotent ingestion mean?</a:t>
            </a:r>
          </a:p>
          <a:p xmlns:a="http://schemas.openxmlformats.org/drawingml/2006/main">
            <a:r>
              <a:t/>
            </a:r>
          </a:p>
          <a:p xmlns:a="http://schemas.openxmlformats.org/drawingml/2006/main">
            <a:r>
              <a:t>Submitting the same logical event again should not change the result beyond the first submission. We must verify both the detailed event count and the rollup count after retries.</a:t>
            </a:r>
          </a:p>
          <a:p xmlns:a="http://schemas.openxmlformats.org/drawingml/2006/main">
            <a:r>
              <a:t/>
            </a:r>
          </a:p>
          <a:p xmlns:a="http://schemas.openxmlformats.org/drawingml/2006/main">
            <a:r>
              <a:t>Target: 3:20–4:15 (55 seconds).</a:t>
            </a:r>
          </a:p>
          <a:p xmlns:a="http://schemas.openxmlformats.org/drawingml/2006/main">
            <a:r>
              <a:t/>
            </a:r>
          </a:p>
          <a:p xmlns:a="http://schemas.openxmlformats.org/drawingml/2006/main">
            <a:r>
              <a:t>Sources:</a:t>
            </a:r>
          </a:p>
          <a:p xmlns:a="http://schemas.openxmlformats.org/drawingml/2006/main">
            <a:r>
              <a:t>docs/REVISION-TEORIA.md</a:t>
            </a:r>
          </a:p>
          <a:p xmlns:a="http://schemas.openxmlformats.org/drawingml/2006/main">
            <a:r>
              <a:t>recursos/01_2_Concepts.md</a:t>
            </a:r>
          </a:p>
          <a:p xmlns:a="http://schemas.openxmlformats.org/drawingml/2006/main">
            <a:r>
              <a:t>recursos/01_4_Cross_cutting_concerns.md</a:t>
            </a:r>
          </a:p>
          <a:p xmlns:a="http://schemas.openxmlformats.org/drawingml/2006/main">
            <a:r>
              <a:t>dashboard.py</a:t>
            </a:r>
          </a:p>
          <a:p xmlns:a="http://schemas.openxmlformats.org/drawingml/2006/main">
            <a:r>
              <a:t>https://clickhouse.com/docs/reference/engines/table-engines/mergetree-family/replication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Finish with the acceptance criteria. Do not open the dashboard during the five-minute talk unless asked.</a:t>
            </a:r>
          </a:p>
          <a:p xmlns:a="http://schemas.openxmlformats.org/drawingml/2006/main">
            <a:r>
              <a:t/>
            </a:r>
          </a:p>
          <a:p xmlns:a="http://schemas.openxmlformats.org/drawingml/2006/main">
            <a:r>
              <a:t>SAY</a:t>
            </a:r>
          </a:p>
          <a:p xmlns:a="http://schemas.openxmlformats.org/drawingml/2006/main">
            <a:r>
              <a:t>Our next milestone is to connect a small delivery app and a reproducible traffic generator to the proposed event model. We will check the complete flow: a user action produces an event, ClickHouse stores it, and the dashboard displays the aggregate. A repeated submission must not increase the count twice. We will measure the workload and reproduce the setup on another machine. The current lab already provides enough data volume to support this work.</a:t>
            </a:r>
          </a:p>
          <a:p xmlns:a="http://schemas.openxmlformats.org/drawingml/2006/main">
            <a:r>
              <a:t/>
            </a:r>
          </a:p>
          <a:p xmlns:a="http://schemas.openxmlformats.org/drawingml/2006/main">
            <a:r>
              <a:t>TRANSITION</a:t>
            </a:r>
          </a:p>
          <a:p xmlns:a="http://schemas.openxmlformats.org/drawingml/2006/main">
            <a:r>
              <a:t>Thank you. We can show the current dashboard or discuss the database design.</a:t>
            </a:r>
          </a:p>
          <a:p xmlns:a="http://schemas.openxmlformats.org/drawingml/2006/main">
            <a:r>
              <a:t/>
            </a:r>
          </a:p>
          <a:p xmlns:a="http://schemas.openxmlformats.org/drawingml/2006/main">
            <a:r>
              <a:t>IF ASKED</a:t>
            </a:r>
          </a:p>
          <a:p xmlns:a="http://schemas.openxmlformats.org/drawingml/2006/main">
            <a:r>
              <a:t>Why not add Kafka immediately?</a:t>
            </a:r>
          </a:p>
          <a:p xmlns:a="http://schemas.openxmlformats.org/drawingml/2006/main">
            <a:r>
              <a:t/>
            </a:r>
          </a:p>
          <a:p xmlns:a="http://schemas.openxmlformats.org/drawingml/2006/main">
            <a:r>
              <a:t>We first need to define and measure the ingestion requirements. A durable stream could help with replay and independent consumers, but it adds operational work and does not by itself eliminate duplicates.</a:t>
            </a:r>
          </a:p>
          <a:p xmlns:a="http://schemas.openxmlformats.org/drawingml/2006/main">
            <a:r>
              <a:t/>
            </a:r>
          </a:p>
          <a:p xmlns:a="http://schemas.openxmlformats.org/drawingml/2006/main">
            <a:r>
              <a:t>Target: 4:15–5:00 (45 seconds).</a:t>
            </a:r>
          </a:p>
          <a:p xmlns:a="http://schemas.openxmlformats.org/drawingml/2006/main">
            <a:r>
              <a:t/>
            </a:r>
          </a:p>
          <a:p xmlns:a="http://schemas.openxmlformats.org/drawingml/2006/main">
            <a:r>
              <a:t>Sources:</a:t>
            </a:r>
          </a:p>
          <a:p xmlns:a="http://schemas.openxmlformats.org/drawingml/2006/main">
            <a:r>
              <a:t>docs/REVISION-TEORIA.md</a:t>
            </a:r>
          </a:p>
          <a:p xmlns:a="http://schemas.openxmlformats.org/drawingml/2006/main">
            <a:r>
              <a:t>docs/PLATAFORMA-FICTICIA.md</a:t>
            </a:r>
          </a:p>
          <a:p xmlns:a="http://schemas.openxmlformats.org/drawingml/2006/main">
            <a:r>
              <a:t>recursos/guia_bbdda.pdf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8d6788fb3b44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02d1b1f974436a" /><Relationship Type="http://schemas.openxmlformats.org/officeDocument/2006/relationships/slideLayout" Target="/ppt/slideLayouts/slideLayout1.xml" Id="R06a4571e079b43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a4571e079b43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5994cd4b2d43d0" /><Relationship Type="http://schemas.openxmlformats.org/officeDocument/2006/relationships/image" Target="/ppt/media/image.png" Id="Rdd7f6c3ce56f4bc8" /><Relationship Type="http://schemas.openxmlformats.org/officeDocument/2006/relationships/notesSlide" Target="/ppt/notesSlides/notesSlide1.xml" Id="Rb04f4597481a47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06654c454e406b" /><Relationship Type="http://schemas.openxmlformats.org/officeDocument/2006/relationships/notesSlide" Target="/ppt/notesSlides/notesSlide2.xml" Id="R0be7df7a89df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9a8fdf0a95493c" /><Relationship Type="http://schemas.openxmlformats.org/officeDocument/2006/relationships/notesSlide" Target="/ppt/notesSlides/notesSlide3.xml" Id="R5c46fc08898647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72215e43644b59" /><Relationship Type="http://schemas.openxmlformats.org/officeDocument/2006/relationships/chart" Target="/ppt/slides/charts/chart1.xml" Id="R2005e40005a640ea" /><Relationship Type="http://schemas.openxmlformats.org/officeDocument/2006/relationships/notesSlide" Target="/ppt/notesSlides/notesSlide4.xml" Id="R505b43028f7742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f3cb78597d4f42" /><Relationship Type="http://schemas.openxmlformats.org/officeDocument/2006/relationships/notesSlide" Target="/ppt/notesSlides/notesSlide5.xml" Id="Rfa2d2787b0af49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a440706b464421" /><Relationship Type="http://schemas.openxmlformats.org/officeDocument/2006/relationships/notesSlide" Target="/ppt/notesSlides/notesSlide6.xml" Id="R609ac6ce331a492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55695F"/>
                </a:solidFill>
                <a:latin typeface="Helvetica Neue"/>
                <a:ea typeface="Helvetica Neue"/>
                <a:cs typeface="Helvetica Neue"/>
              </a:rPr>
              <a:t>Query time (seconds)</a:t>
            </a:r>
          </a:p>
        </c:rich>
      </c:tx>
      <c:overlay val="0"/>
      <c:txPr>
        <a:bodyPr xmlns:a="http://schemas.openxmlformats.org/drawingml/2006/main" anchorCtr="1"/>
        <a:lstStyle xmlns:a="http://schemas.openxmlformats.org/drawingml/2006/main"/>
        <a:p xmlns:a="http://schemas.openxmlformats.org/drawingml/2006/main">
          <a:pPr>
            <a:defRPr sz="1950">
              <a:solidFill>
                <a:srgbClr val="55695F"/>
              </a:solidFill>
              <a:latin typeface="Helvetica Neue"/>
              <a:ea typeface="Helvetica Neue"/>
              <a:cs typeface="Helvetica Neue"/>
            </a:defRPr>
          </a:pPr>
        </a:p>
      </c:txPr>
    </c:title>
    <c:plotArea>
      <c:barChart>
        <c:barDir val="bar"/>
        <c:grouping val="clustered"/>
        <c:varyColors val="0"/>
        <c:ser>
          <c:idx val="0"/>
          <c:order val="0"/>
          <c:tx>
            <c:v>Seconds</c:v>
          </c:tx>
          <c:spPr>
            <a:solidFill xmlns:a="http://schemas.openxmlformats.org/drawingml/2006/main">
              <a:srgbClr val="4C7D5E"/>
            </a:solidFill>
          </c:spPr>
          <c:cat>
            <c:strRef>
              <c:f>'Chart Data'!$A$2:$A$3</c:f>
              <c:strCache>
                <c:ptCount val="2"/>
                <c:pt idx="0">
                  <c:v>Historical</c:v>
                </c:pt>
                <c:pt idx="1">
                  <c:v>Rollup</c:v>
                </c:pt>
              </c:strCache>
            </c:strRef>
          </c:cat>
          <c:val>
            <c:numRef>
              <c:f>'Chart Data'!$B$2:$B$3</c:f>
              <c:numCache>
                <c:formatCode>0.00</c:formatCode>
                <c:ptCount val="2"/>
                <c:pt idx="0">
                  <c:v>5.8908</c:v>
                </c:pt>
                <c:pt idx="1">
                  <c:v>0.2113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183D32"/>
                </a:solidFill>
                <a:latin typeface="Helvetica Neue"/>
                <a:ea typeface="Helvetica Neue"/>
                <a:cs typeface="Helvetica Neue"/>
              </a:defRPr>
            </a:pPr>
          </a:p>
        </c:txPr>
        <c:crossAx val="48672768"/>
      </c:catAx>
      <c:valAx>
        <c:axId val="48672768"/>
        <c:scaling>
          <c:orientation val="minMax"/>
          <c:max val="6.5"/>
          <c:min val="0"/>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5695F"/>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E7FBA9-BE56-4180-91C1-E56D190BE1FB}"/>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Delivery Atlas</a:t>
            </a:r>
          </a:p>
        </p:txBody>
      </p:sp>
      <p:sp>
        <p:nvSpPr>
          <p:cNvPr id="2" name="">
            <a:extLst xmlns:a="http://schemas.openxmlformats.org/drawingml/2006/main">
              <a:ext uri="{FF2B5EF4-FFF2-40B4-BE49-F238E27FC236}">
                <a16:creationId xmlns:a16="http://schemas.microsoft.com/office/drawing/2014/main" id="{738A3CEC-8346-4F6E-AD6F-93D5EB718E13}"/>
              </a:ext>
            </a:extLst>
          </p:cNvPr>
          <p:cNvSpPr>
            <a:spLocks xmlns:a="http://schemas.openxmlformats.org/drawingml/2006/main" noGrp="1"/>
          </p:cNvSpPr>
          <p:nvPr/>
        </p:nvSpPr>
        <p:spPr>
          <a:xfrm xmlns:a="http://schemas.openxmlformats.org/drawingml/2006/main">
            <a:off x="609600" y="1790700"/>
            <a:ext cx="6286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ClickHouse event analytics</a:t>
            </a:r>
          </a:p>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for a food delivery app</a:t>
            </a:r>
          </a:p>
        </p:txBody>
      </p:sp>
      <p:sp>
        <p:nvSpPr>
          <p:cNvPr id="3" name="">
            <a:extLst xmlns:a="http://schemas.openxmlformats.org/drawingml/2006/main">
              <a:ext uri="{FF2B5EF4-FFF2-40B4-BE49-F238E27FC236}">
                <a16:creationId xmlns:a16="http://schemas.microsoft.com/office/drawing/2014/main" id="{CA62052E-ADCE-438B-A429-B8D96485E71C}"/>
              </a:ext>
            </a:extLst>
          </p:cNvPr>
          <p:cNvSpPr>
            <a:spLocks xmlns:a="http://schemas.openxmlformats.org/drawingml/2006/main" noGrp="1"/>
          </p:cNvSpPr>
          <p:nvPr/>
        </p:nvSpPr>
        <p:spPr>
          <a:xfrm xmlns:a="http://schemas.openxmlformats.org/drawingml/2006/main">
            <a:off x="609600" y="3429000"/>
            <a:ext cx="604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5F"/>
                </a:solidFill>
                <a:latin typeface="Helvetica Neue"/>
                <a:ea typeface="Helvetica Neue"/>
                <a:cs typeface="Helvetica Neue"/>
              </a:defRPr>
            </a:pPr>
            <a:r>
              <a:rPr sz="2025" b="0">
                <a:solidFill>
                  <a:srgbClr val="55695F"/>
                </a:solidFill>
                <a:latin typeface="Helvetica Neue"/>
                <a:ea typeface="Helvetica Neue"/>
                <a:cs typeface="Helvetica Neue"/>
              </a:rPr>
              <a:t>Fictional platform inspired by Uber Eats and Glovo</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d7f6c3ce56f4bc8"/>
          <a:stretch xmlns:a="http://schemas.openxmlformats.org/drawingml/2006/main"/>
        </p:blipFill>
        <p:spPr>
          <a:xfrm xmlns:a="http://schemas.openxmlformats.org/drawingml/2006/main">
            <a:off x="6953250" y="904875"/>
            <a:ext cx="4667250" cy="466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2F6534F-B4CE-4886-B4D1-159DD5F5C031}"/>
              </a:ext>
            </a:extLst>
          </p:cNvPr>
          <p:cNvSpPr>
            <a:spLocks xmlns:a="http://schemas.openxmlformats.org/drawingml/2006/main" noGrp="1"/>
          </p:cNvSpPr>
          <p:nvPr/>
        </p:nvSpPr>
        <p:spPr>
          <a:xfrm xmlns:a="http://schemas.openxmlformats.org/drawingml/2006/main">
            <a:off x="609600" y="47625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WORKING TODAY</a:t>
            </a:r>
          </a:p>
        </p:txBody>
      </p:sp>
      <p:sp>
        <p:nvSpPr>
          <p:cNvPr id="6" name="">
            <a:extLst xmlns:a="http://schemas.openxmlformats.org/drawingml/2006/main">
              <a:ext uri="{FF2B5EF4-FFF2-40B4-BE49-F238E27FC236}">
                <a16:creationId xmlns:a16="http://schemas.microsoft.com/office/drawing/2014/main" id="{11E0D5B7-7821-47CC-9C32-17842189138F}"/>
              </a:ext>
            </a:extLst>
          </p:cNvPr>
          <p:cNvSpPr>
            <a:spLocks xmlns:a="http://schemas.openxmlformats.org/drawingml/2006/main" noGrp="1"/>
          </p:cNvSpPr>
          <p:nvPr/>
        </p:nvSpPr>
        <p:spPr>
          <a:xfrm xmlns:a="http://schemas.openxmlformats.org/drawingml/2006/main">
            <a:off x="609600" y="51816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ClickHouse data lab</a:t>
            </a:r>
          </a:p>
        </p:txBody>
      </p:sp>
      <p:sp>
        <p:nvSpPr>
          <p:cNvPr id="7" name="">
            <a:extLst xmlns:a="http://schemas.openxmlformats.org/drawingml/2006/main">
              <a:ext uri="{FF2B5EF4-FFF2-40B4-BE49-F238E27FC236}">
                <a16:creationId xmlns:a16="http://schemas.microsoft.com/office/drawing/2014/main" id="{88B2051D-1503-4C3D-BDD3-03579733FF99}"/>
              </a:ext>
            </a:extLst>
          </p:cNvPr>
          <p:cNvSpPr>
            <a:spLocks xmlns:a="http://schemas.openxmlformats.org/drawingml/2006/main" noGrp="1"/>
          </p:cNvSpPr>
          <p:nvPr/>
        </p:nvSpPr>
        <p:spPr>
          <a:xfrm xmlns:a="http://schemas.openxmlformats.org/drawingml/2006/main">
            <a:off x="6191250" y="4762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NEXT DEVELOPMENT STEP</a:t>
            </a:r>
          </a:p>
        </p:txBody>
      </p:sp>
      <p:sp>
        <p:nvSpPr>
          <p:cNvPr id="8" name="">
            <a:extLst xmlns:a="http://schemas.openxmlformats.org/drawingml/2006/main">
              <a:ext uri="{FF2B5EF4-FFF2-40B4-BE49-F238E27FC236}">
                <a16:creationId xmlns:a16="http://schemas.microsoft.com/office/drawing/2014/main" id="{B9B416B4-99B8-4B75-8B82-77198389E590}"/>
              </a:ext>
            </a:extLst>
          </p:cNvPr>
          <p:cNvSpPr>
            <a:spLocks xmlns:a="http://schemas.openxmlformats.org/drawingml/2006/main" noGrp="1"/>
          </p:cNvSpPr>
          <p:nvPr/>
        </p:nvSpPr>
        <p:spPr>
          <a:xfrm xmlns:a="http://schemas.openxmlformats.org/drawingml/2006/main">
            <a:off x="6191250" y="51816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D32"/>
                </a:solidFill>
                <a:latin typeface="Helvetica Neue"/>
                <a:ea typeface="Helvetica Neue"/>
                <a:cs typeface="Helvetica Neue"/>
              </a:defRPr>
            </a:pPr>
            <a:r>
              <a:rPr sz="2400" b="1">
                <a:solidFill>
                  <a:srgbClr val="183D32"/>
                </a:solidFill>
                <a:latin typeface="Helvetica Neue"/>
                <a:ea typeface="Helvetica Neue"/>
                <a:cs typeface="Helvetica Neue"/>
              </a:rPr>
              <a:t>Delivery mini app</a:t>
            </a:r>
          </a:p>
        </p:txBody>
      </p:sp>
      <p:sp>
        <p:nvSpPr>
          <p:cNvPr id="9" name="">
            <a:extLst xmlns:a="http://schemas.openxmlformats.org/drawingml/2006/main">
              <a:ext uri="{FF2B5EF4-FFF2-40B4-BE49-F238E27FC236}">
                <a16:creationId xmlns:a16="http://schemas.microsoft.com/office/drawing/2014/main" id="{9A1E799B-71BC-4C82-AE29-FF9D5BF57523}"/>
              </a:ext>
            </a:extLst>
          </p:cNvPr>
          <p:cNvSpPr>
            <a:spLocks xmlns:a="http://schemas.openxmlformats.org/drawingml/2006/main" noGrp="1"/>
          </p:cNvSpPr>
          <p:nvPr/>
        </p:nvSpPr>
        <p:spPr>
          <a:xfrm xmlns:a="http://schemas.openxmlformats.org/drawingml/2006/main">
            <a:off x="609600" y="6048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95F"/>
                </a:solidFill>
                <a:latin typeface="Helvetica Neue"/>
                <a:ea typeface="Helvetica Neue"/>
                <a:cs typeface="Helvetica Neue"/>
              </a:defRPr>
            </a:pPr>
            <a:r>
              <a:rPr sz="1650" b="0">
                <a:solidFill>
                  <a:srgbClr val="55695F"/>
                </a:solidFill>
                <a:latin typeface="Helvetica Neue"/>
                <a:ea typeface="Helvetica Neue"/>
                <a:cs typeface="Helvetica Neue"/>
              </a:rPr>
              <a:t>BD2 · Five-minute progress update · 5 October 2026</a:t>
            </a:r>
          </a:p>
        </p:txBody>
      </p:sp>
      <p:sp>
        <p:nvSpPr>
          <p:cNvPr id="10" name="">
            <a:extLst xmlns:a="http://schemas.openxmlformats.org/drawingml/2006/main">
              <a:ext uri="{FF2B5EF4-FFF2-40B4-BE49-F238E27FC236}">
                <a16:creationId xmlns:a16="http://schemas.microsoft.com/office/drawing/2014/main" id="{53A1E24B-276F-454C-8F23-9BDF89CEE859}"/>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01</a:t>
            </a:r>
          </a:p>
        </p:txBody>
      </p:sp>
    </p:spTree>
    <p:extLst>
      <p:ext uri="{BB962C8B-B14F-4D97-AF65-F5344CB8AC3E}">
        <p14:creationId xmlns:p14="http://schemas.microsoft.com/office/powerpoint/2010/main" val="1687200875"/>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C2FB5BE-D249-45C2-8E7A-87C159ED4AFC}"/>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Current architecture and tables</a:t>
            </a:r>
          </a:p>
        </p:txBody>
      </p:sp>
      <p:sp>
        <p:nvSpPr>
          <p:cNvPr id="2" name="">
            <a:extLst xmlns:a="http://schemas.openxmlformats.org/drawingml/2006/main">
              <a:ext uri="{FF2B5EF4-FFF2-40B4-BE49-F238E27FC236}">
                <a16:creationId xmlns:a16="http://schemas.microsoft.com/office/drawing/2014/main" id="{CCFB0750-A35A-457C-9E1A-9EE85F61B7E5}"/>
              </a:ext>
            </a:extLst>
          </p:cNvPr>
          <p:cNvSpPr>
            <a:spLocks xmlns:a="http://schemas.openxmlformats.org/drawingml/2006/main" noGrp="1"/>
          </p:cNvSpPr>
          <p:nvPr/>
        </p:nvSpPr>
        <p:spPr>
          <a:xfrm xmlns:a="http://schemas.openxmlformats.org/drawingml/2006/main">
            <a:off x="609600" y="1362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INGESTION</a:t>
            </a:r>
          </a:p>
        </p:txBody>
      </p:sp>
      <p:sp>
        <p:nvSpPr>
          <p:cNvPr id="3" name="Diagram: Source files&#10;+ web actions">
            <a:extLst xmlns:a="http://schemas.openxmlformats.org/drawingml/2006/main">
              <a:ext uri="{FF2B5EF4-FFF2-40B4-BE49-F238E27FC236}">
                <a16:creationId xmlns:a16="http://schemas.microsoft.com/office/drawing/2014/main" id="{36F665A1-C3DA-47A6-8609-F074F18A8B27}"/>
              </a:ext>
            </a:extLst>
          </p:cNvPr>
          <p:cNvSpPr>
            <a:spLocks xmlns:a="http://schemas.openxmlformats.org/drawingml/2006/main" noGrp="1"/>
          </p:cNvSpPr>
          <p:nvPr/>
        </p:nvSpPr>
        <p:spPr>
          <a:xfrm xmlns:a="http://schemas.openxmlformats.org/drawingml/2006/main">
            <a:off x="609600" y="1857375"/>
            <a:ext cx="2619375" cy="1000125"/>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4" name="">
            <a:extLst xmlns:a="http://schemas.openxmlformats.org/drawingml/2006/main">
              <a:ext uri="{FF2B5EF4-FFF2-40B4-BE49-F238E27FC236}">
                <a16:creationId xmlns:a16="http://schemas.microsoft.com/office/drawing/2014/main" id="{AAF20372-F95D-4124-A3B2-099E3B548E88}"/>
              </a:ext>
            </a:extLst>
          </p:cNvPr>
          <p:cNvSpPr>
            <a:spLocks xmlns:a="http://schemas.openxmlformats.org/drawingml/2006/main" noGrp="1"/>
          </p:cNvSpPr>
          <p:nvPr/>
        </p:nvSpPr>
        <p:spPr>
          <a:xfrm xmlns:a="http://schemas.openxmlformats.org/drawingml/2006/main">
            <a:off x="781050" y="2019300"/>
            <a:ext cx="22764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Source files</a:t>
            </a:r>
          </a:p>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 web actions</a:t>
            </a:r>
          </a:p>
        </p:txBody>
      </p:sp>
      <p:sp>
        <p:nvSpPr>
          <p:cNvPr id="5" name="Diagram: Python scripts&#10;+ event API">
            <a:extLst xmlns:a="http://schemas.openxmlformats.org/drawingml/2006/main">
              <a:ext uri="{FF2B5EF4-FFF2-40B4-BE49-F238E27FC236}">
                <a16:creationId xmlns:a16="http://schemas.microsoft.com/office/drawing/2014/main" id="{D73F2513-BA88-4E1C-A34A-BBF9979D19BE}"/>
              </a:ext>
            </a:extLst>
          </p:cNvPr>
          <p:cNvSpPr>
            <a:spLocks xmlns:a="http://schemas.openxmlformats.org/drawingml/2006/main" noGrp="1"/>
          </p:cNvSpPr>
          <p:nvPr/>
        </p:nvSpPr>
        <p:spPr>
          <a:xfrm xmlns:a="http://schemas.openxmlformats.org/drawingml/2006/main">
            <a:off x="4333875" y="1857375"/>
            <a:ext cx="2714625" cy="1000125"/>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6" name="">
            <a:extLst xmlns:a="http://schemas.openxmlformats.org/drawingml/2006/main">
              <a:ext uri="{FF2B5EF4-FFF2-40B4-BE49-F238E27FC236}">
                <a16:creationId xmlns:a16="http://schemas.microsoft.com/office/drawing/2014/main" id="{B76BC994-FC29-4218-B837-50B1AEDB3616}"/>
              </a:ext>
            </a:extLst>
          </p:cNvPr>
          <p:cNvSpPr>
            <a:spLocks xmlns:a="http://schemas.openxmlformats.org/drawingml/2006/main" noGrp="1"/>
          </p:cNvSpPr>
          <p:nvPr/>
        </p:nvSpPr>
        <p:spPr>
          <a:xfrm xmlns:a="http://schemas.openxmlformats.org/drawingml/2006/main">
            <a:off x="4505325" y="2019300"/>
            <a:ext cx="2371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Python scripts</a:t>
            </a:r>
          </a:p>
          <a:p xmlns:a="http://schemas.openxmlformats.org/drawingml/2006/main">
            <a:pPr>
              <a:defRPr sz="2100" b="1">
                <a:solidFill>
                  <a:srgbClr val="183D32"/>
                </a:solidFill>
                <a:latin typeface="Helvetica Neue"/>
                <a:ea typeface="Helvetica Neue"/>
                <a:cs typeface="Helvetica Neue"/>
              </a:defRPr>
            </a:pPr>
            <a:r>
              <a:rPr sz="2100" b="1">
                <a:solidFill>
                  <a:srgbClr val="183D32"/>
                </a:solidFill>
                <a:latin typeface="Helvetica Neue"/>
                <a:ea typeface="Helvetica Neue"/>
                <a:cs typeface="Helvetica Neue"/>
              </a:rPr>
              <a:t>+ event API</a:t>
            </a:r>
          </a:p>
        </p:txBody>
      </p:sp>
      <p:sp>
        <p:nvSpPr>
          <p:cNvPr id="7" name="Diagram: ClickHouse&#10;Docker node">
            <a:extLst xmlns:a="http://schemas.openxmlformats.org/drawingml/2006/main">
              <a:ext uri="{FF2B5EF4-FFF2-40B4-BE49-F238E27FC236}">
                <a16:creationId xmlns:a16="http://schemas.microsoft.com/office/drawing/2014/main" id="{CC161C38-01F1-47B3-AADC-5E131127B6B7}"/>
              </a:ext>
            </a:extLst>
          </p:cNvPr>
          <p:cNvSpPr>
            <a:spLocks xmlns:a="http://schemas.openxmlformats.org/drawingml/2006/main" noGrp="1"/>
          </p:cNvSpPr>
          <p:nvPr/>
        </p:nvSpPr>
        <p:spPr>
          <a:xfrm xmlns:a="http://schemas.openxmlformats.org/drawingml/2006/main">
            <a:off x="8143875" y="1857375"/>
            <a:ext cx="3333750" cy="1000125"/>
          </a:xfrm>
          <a:prstGeom xmlns:a="http://schemas.openxmlformats.org/drawingml/2006/main" prst="rect">
            <a:avLst/>
          </a:prstGeom>
          <a:solidFill xmlns:a="http://schemas.openxmlformats.org/drawingml/2006/main">
            <a:srgbClr val="183D32"/>
          </a:solidFill>
          <a:ln xmlns:a="http://schemas.openxmlformats.org/drawingml/2006/main" w="12383">
            <a:solidFill>
              <a:srgbClr val="183D32"/>
            </a:solidFill>
          </a:ln>
        </p:spPr>
      </p:sp>
      <p:sp>
        <p:nvSpPr>
          <p:cNvPr id="8" name="">
            <a:extLst xmlns:a="http://schemas.openxmlformats.org/drawingml/2006/main">
              <a:ext uri="{FF2B5EF4-FFF2-40B4-BE49-F238E27FC236}">
                <a16:creationId xmlns:a16="http://schemas.microsoft.com/office/drawing/2014/main" id="{E868D974-4C68-4B7A-88DC-A5FDBA251A14}"/>
              </a:ext>
            </a:extLst>
          </p:cNvPr>
          <p:cNvSpPr>
            <a:spLocks xmlns:a="http://schemas.openxmlformats.org/drawingml/2006/main" noGrp="1"/>
          </p:cNvSpPr>
          <p:nvPr/>
        </p:nvSpPr>
        <p:spPr>
          <a:xfrm xmlns:a="http://schemas.openxmlformats.org/drawingml/2006/main">
            <a:off x="8315325" y="2019300"/>
            <a:ext cx="299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ClickHouse</a:t>
            </a:r>
          </a:p>
          <a:p xmlns:a="http://schemas.openxmlformats.org/drawingml/2006/main">
            <a:pP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Docker node</a:t>
            </a:r>
          </a:p>
        </p:txBody>
      </p:sp>
      <p:cxnSp>
        <p:nvCxnSpPr>
          <p:cNvPr id="33" name=""/>
          <p:cNvCxnSpPr>
            <a:stCxn xmlns:a="http://schemas.openxmlformats.org/drawingml/2006/main" id="3" idx="3"/>
            <a:endCxn xmlns:a="http://schemas.openxmlformats.org/drawingml/2006/main" id="5" idx="1"/>
          </p:cNvCxnSpPr>
          <p:nvPr/>
        </p:nvCxnSpPr>
        <p:spPr>
          <a:xfrm xmlns:a="http://schemas.openxmlformats.org/drawingml/2006/main">
            <a:off x="3228975" y="2357438"/>
            <a:ext cx="1104900" cy="0"/>
          </a:xfrm>
          <a:prstGeom xmlns:a="http://schemas.openxmlformats.org/drawingml/2006/main" prst="straightConnector1">
            <a:avLst/>
          </a:prstGeom>
          <a:ln xmlns:a="http://schemas.openxmlformats.org/drawingml/2006/main" w="28575">
            <a:solidFill>
              <a:srgbClr val="4C7D5E"/>
            </a:solidFill>
            <a:tailEnd type="arrow" w="med" len="med"/>
          </a:ln>
        </p:spPr>
      </p:cxnSp>
      <p:cxnSp>
        <p:nvCxnSpPr>
          <p:cNvPr id="34" name=""/>
          <p:cNvCxnSpPr>
            <a:stCxn xmlns:a="http://schemas.openxmlformats.org/drawingml/2006/main" id="5" idx="3"/>
            <a:endCxn xmlns:a="http://schemas.openxmlformats.org/drawingml/2006/main" id="7" idx="1"/>
          </p:cNvCxnSpPr>
          <p:nvPr/>
        </p:nvCxnSpPr>
        <p:spPr>
          <a:xfrm xmlns:a="http://schemas.openxmlformats.org/drawingml/2006/main">
            <a:off x="7048500" y="2357438"/>
            <a:ext cx="1095375" cy="0"/>
          </a:xfrm>
          <a:prstGeom xmlns:a="http://schemas.openxmlformats.org/drawingml/2006/main" prst="straightConnector1">
            <a:avLst/>
          </a:prstGeom>
          <a:ln xmlns:a="http://schemas.openxmlformats.org/drawingml/2006/main" w="28575">
            <a:solidFill>
              <a:srgbClr val="4C7D5E"/>
            </a:solidFill>
            <a:tailEnd type="arrow" w="med" len="med"/>
          </a:ln>
        </p:spPr>
      </p:cxnSp>
      <p:graphicFrame>
        <p:nvGraphicFramePr>
          <p:cNvPr id="35" name=""/>
          <p:cNvGraphicFramePr/>
          <p:nvPr/>
        </p:nvGraphicFramePr>
        <p:xfrm>
          <a:off xmlns:a="http://schemas.openxmlformats.org/drawingml/2006/main" x="4333875" y="3190875"/>
          <a:ext xmlns:a="http://schemas.openxmlformats.org/drawingml/2006/main" cx="7143750" cy="1143000"/>
        </p:xfrm>
        <a:graphic xmlns:a="http://schemas.openxmlformats.org/drawingml/2006/main">
          <a:graphicData uri="http://schemas.openxmlformats.org/drawingml/2006/table">
            <a:tbl>
              <a:tblPr firstRow="0" bandRow="0"/>
              <a:tblGrid>
                <a:gridCol w="3810000"/>
                <a:gridCol w="3333750"/>
              </a:tblGrid>
              <a:tr h="571500">
                <a:tc>
                  <a:txBody>
                    <a:bodyPr>
                      <a:noAutofit/>
                    </a:bodyPr>
                    <a:lstStyle/>
                    <a:p>
                      <a:r>
                        <a:rPr sz="1875" b="1">
                          <a:solidFill>
                            <a:srgbClr val="FFFFFF"/>
                          </a:solidFill>
                          <a:latin typeface="Helvetica Neue"/>
                          <a:ea typeface="Helvetica Neue"/>
                          <a:cs typeface="Helvetica Neue"/>
                        </a:rPr>
                        <a:t>Detailed data</a:t>
                      </a:r>
                    </a:p>
                  </a:txBody>
                  <a:tcPr marL="133350" marR="133350" marT="123825" marB="123825">
                    <a:solidFill>
                      <a:srgbClr val="183D32"/>
                    </a:solidFill>
                  </a:tcPr>
                </a:tc>
                <a:tc>
                  <a:txBody>
                    <a:bodyPr>
                      <a:noAutofit/>
                    </a:bodyPr>
                    <a:lstStyle/>
                    <a:p>
                      <a:r>
                        <a:rPr sz="1875" b="1">
                          <a:solidFill>
                            <a:srgbClr val="FFFFFF"/>
                          </a:solidFill>
                          <a:latin typeface="Helvetica Neue"/>
                          <a:ea typeface="Helvetica Neue"/>
                          <a:cs typeface="Helvetica Neue"/>
                        </a:rPr>
                        <a:t>Daily rollup</a:t>
                      </a:r>
                    </a:p>
                  </a:txBody>
                  <a:tcPr marL="133350" marR="133350" marT="123825" marB="123825">
                    <a:solidFill>
                      <a:srgbClr val="183D32"/>
                    </a:solidFill>
                  </a:tcPr>
                </a:tc>
              </a:tr>
              <a:tr h="571500">
                <a:tc>
                  <a:txBody>
                    <a:bodyPr>
                      <a:noAutofit/>
                    </a:bodyPr>
                    <a:lstStyle/>
                    <a:p>
                      <a:r>
                        <a:rPr sz="1875" b="0">
                          <a:solidFill>
                            <a:srgbClr val="183D32"/>
                          </a:solidFill>
                          <a:latin typeface="Helvetica Neue"/>
                          <a:ea typeface="Helvetica Neue"/>
                          <a:cs typeface="Helvetica Neue"/>
                        </a:rPr>
                        <a:t>otto_archive</a:t>
                      </a:r>
                    </a:p>
                    <a:p>
                      <a:r>
                        <a:rPr sz="1875" b="0">
                          <a:solidFill>
                            <a:srgbClr val="183D32"/>
                          </a:solidFill>
                          <a:latin typeface="Helvetica Neue"/>
                          <a:ea typeface="Helvetica Neue"/>
                          <a:cs typeface="Helvetica Neue"/>
                        </a:rPr>
                        <a:t>eleme_samples</a:t>
                      </a:r>
                    </a:p>
                  </a:txBody>
                  <a:tcPr marL="133350" marR="133350" marT="123825" marB="123825">
                    <a:solidFill>
                      <a:srgbClr val="FFFFFF"/>
                    </a:solidFill>
                  </a:tcPr>
                </a:tc>
                <a:tc>
                  <a:txBody>
                    <a:bodyPr>
                      <a:noAutofit/>
                    </a:bodyPr>
                    <a:lstStyle/>
                    <a:p>
                      <a:r>
                        <a:rPr sz="1875" b="0">
                          <a:solidFill>
                            <a:srgbClr val="183D32"/>
                          </a:solidFill>
                          <a:latin typeface="Helvetica Neue"/>
                          <a:ea typeface="Helvetica Neue"/>
                          <a:cs typeface="Helvetica Neue"/>
                        </a:rPr>
                        <a:t>otto_daily_rollup</a:t>
                      </a:r>
                    </a:p>
                  </a:txBody>
                  <a:tcPr marL="133350" marR="133350" marT="123825" marB="123825">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B7F147AD-1049-496C-B372-AE63242F2AAA}"/>
              </a:ext>
            </a:extLst>
          </p:cNvPr>
          <p:cNvSpPr>
            <a:spLocks xmlns:a="http://schemas.openxmlformats.org/drawingml/2006/main" noGrp="1"/>
          </p:cNvSpPr>
          <p:nvPr/>
        </p:nvSpPr>
        <p:spPr>
          <a:xfrm xmlns:a="http://schemas.openxmlformats.org/drawingml/2006/main">
            <a:off x="609600" y="46386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C7D5E"/>
                </a:solidFill>
                <a:latin typeface="Helvetica Neue"/>
                <a:ea typeface="Helvetica Neue"/>
                <a:cs typeface="Helvetica Neue"/>
              </a:defRPr>
            </a:pPr>
            <a:r>
              <a:rPr sz="1650" b="1">
                <a:solidFill>
                  <a:srgbClr val="4C7D5E"/>
                </a:solidFill>
                <a:latin typeface="Helvetica Neue"/>
                <a:ea typeface="Helvetica Neue"/>
                <a:cs typeface="Helvetica Neue"/>
              </a:rPr>
              <a:t>QUERYING</a:t>
            </a:r>
          </a:p>
        </p:txBody>
      </p:sp>
      <p:sp>
        <p:nvSpPr>
          <p:cNvPr id="13" name="Diagram: Dashboard">
            <a:extLst xmlns:a="http://schemas.openxmlformats.org/drawingml/2006/main">
              <a:ext uri="{FF2B5EF4-FFF2-40B4-BE49-F238E27FC236}">
                <a16:creationId xmlns:a16="http://schemas.microsoft.com/office/drawing/2014/main" id="{D0B91A0A-37DB-4CD5-BB62-433425943F8E}"/>
              </a:ext>
            </a:extLst>
          </p:cNvPr>
          <p:cNvSpPr>
            <a:spLocks xmlns:a="http://schemas.openxmlformats.org/drawingml/2006/main" noGrp="1"/>
          </p:cNvSpPr>
          <p:nvPr/>
        </p:nvSpPr>
        <p:spPr>
          <a:xfrm xmlns:a="http://schemas.openxmlformats.org/drawingml/2006/main">
            <a:off x="609600" y="5133975"/>
            <a:ext cx="2619375" cy="66675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14" name="">
            <a:extLst xmlns:a="http://schemas.openxmlformats.org/drawingml/2006/main">
              <a:ext uri="{FF2B5EF4-FFF2-40B4-BE49-F238E27FC236}">
                <a16:creationId xmlns:a16="http://schemas.microsoft.com/office/drawing/2014/main" id="{DCC29308-3C4C-4ECF-90AC-326B2DD352BC}"/>
              </a:ext>
            </a:extLst>
          </p:cNvPr>
          <p:cNvSpPr>
            <a:spLocks xmlns:a="http://schemas.openxmlformats.org/drawingml/2006/main" noGrp="1"/>
          </p:cNvSpPr>
          <p:nvPr/>
        </p:nvSpPr>
        <p:spPr>
          <a:xfrm xmlns:a="http://schemas.openxmlformats.org/drawingml/2006/main">
            <a:off x="781050" y="5295900"/>
            <a:ext cx="2276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Dashboard</a:t>
            </a:r>
          </a:p>
        </p:txBody>
      </p:sp>
      <p:sp>
        <p:nvSpPr>
          <p:cNvPr id="15" name="Diagram: Python API">
            <a:extLst xmlns:a="http://schemas.openxmlformats.org/drawingml/2006/main">
              <a:ext uri="{FF2B5EF4-FFF2-40B4-BE49-F238E27FC236}">
                <a16:creationId xmlns:a16="http://schemas.microsoft.com/office/drawing/2014/main" id="{9C001C9D-3376-4245-825A-02482EBB9F11}"/>
              </a:ext>
            </a:extLst>
          </p:cNvPr>
          <p:cNvSpPr>
            <a:spLocks xmlns:a="http://schemas.openxmlformats.org/drawingml/2006/main" noGrp="1"/>
          </p:cNvSpPr>
          <p:nvPr/>
        </p:nvSpPr>
        <p:spPr>
          <a:xfrm xmlns:a="http://schemas.openxmlformats.org/drawingml/2006/main">
            <a:off x="4333875" y="5133975"/>
            <a:ext cx="2714625" cy="66675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16" name="">
            <a:extLst xmlns:a="http://schemas.openxmlformats.org/drawingml/2006/main">
              <a:ext uri="{FF2B5EF4-FFF2-40B4-BE49-F238E27FC236}">
                <a16:creationId xmlns:a16="http://schemas.microsoft.com/office/drawing/2014/main" id="{2B8C4C95-897C-4C33-817B-3849777EFA5B}"/>
              </a:ext>
            </a:extLst>
          </p:cNvPr>
          <p:cNvSpPr>
            <a:spLocks xmlns:a="http://schemas.openxmlformats.org/drawingml/2006/main" noGrp="1"/>
          </p:cNvSpPr>
          <p:nvPr/>
        </p:nvSpPr>
        <p:spPr>
          <a:xfrm xmlns:a="http://schemas.openxmlformats.org/drawingml/2006/main">
            <a:off x="4505325" y="5295900"/>
            <a:ext cx="2371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Python API</a:t>
            </a:r>
          </a:p>
        </p:txBody>
      </p:sp>
      <p:sp>
        <p:nvSpPr>
          <p:cNvPr id="17" name="Diagram: ClickHouse">
            <a:extLst xmlns:a="http://schemas.openxmlformats.org/drawingml/2006/main">
              <a:ext uri="{FF2B5EF4-FFF2-40B4-BE49-F238E27FC236}">
                <a16:creationId xmlns:a16="http://schemas.microsoft.com/office/drawing/2014/main" id="{BD51143F-C93F-41E2-A15A-0085318FE765}"/>
              </a:ext>
            </a:extLst>
          </p:cNvPr>
          <p:cNvSpPr>
            <a:spLocks xmlns:a="http://schemas.openxmlformats.org/drawingml/2006/main" noGrp="1"/>
          </p:cNvSpPr>
          <p:nvPr/>
        </p:nvSpPr>
        <p:spPr>
          <a:xfrm xmlns:a="http://schemas.openxmlformats.org/drawingml/2006/main">
            <a:off x="8143875" y="5133975"/>
            <a:ext cx="3333750" cy="666750"/>
          </a:xfrm>
          <a:prstGeom xmlns:a="http://schemas.openxmlformats.org/drawingml/2006/main" prst="rect">
            <a:avLst/>
          </a:prstGeom>
          <a:solidFill xmlns:a="http://schemas.openxmlformats.org/drawingml/2006/main">
            <a:srgbClr val="183D32"/>
          </a:solidFill>
          <a:ln xmlns:a="http://schemas.openxmlformats.org/drawingml/2006/main" w="12383">
            <a:solidFill>
              <a:srgbClr val="183D32"/>
            </a:solidFill>
          </a:ln>
        </p:spPr>
      </p:sp>
      <p:sp>
        <p:nvSpPr>
          <p:cNvPr id="18" name="">
            <a:extLst xmlns:a="http://schemas.openxmlformats.org/drawingml/2006/main">
              <a:ext uri="{FF2B5EF4-FFF2-40B4-BE49-F238E27FC236}">
                <a16:creationId xmlns:a16="http://schemas.microsoft.com/office/drawing/2014/main" id="{67878EC7-EF17-4061-A4C4-327B4F98A774}"/>
              </a:ext>
            </a:extLst>
          </p:cNvPr>
          <p:cNvSpPr>
            <a:spLocks xmlns:a="http://schemas.openxmlformats.org/drawingml/2006/main" noGrp="1"/>
          </p:cNvSpPr>
          <p:nvPr/>
        </p:nvSpPr>
        <p:spPr>
          <a:xfrm xmlns:a="http://schemas.openxmlformats.org/drawingml/2006/main">
            <a:off x="8315325" y="5295900"/>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ClickHouse</a:t>
            </a:r>
          </a:p>
        </p:txBody>
      </p:sp>
      <p:cxnSp>
        <p:nvCxnSpPr>
          <p:cNvPr id="43" name=""/>
          <p:cNvCxnSpPr>
            <a:stCxn xmlns:a="http://schemas.openxmlformats.org/drawingml/2006/main" id="13" idx="3"/>
            <a:endCxn xmlns:a="http://schemas.openxmlformats.org/drawingml/2006/main" id="15" idx="1"/>
          </p:cNvCxnSpPr>
          <p:nvPr/>
        </p:nvCxnSpPr>
        <p:spPr>
          <a:xfrm xmlns:a="http://schemas.openxmlformats.org/drawingml/2006/main">
            <a:off x="3228975" y="5467350"/>
            <a:ext cx="1104900" cy="0"/>
          </a:xfrm>
          <a:prstGeom xmlns:a="http://schemas.openxmlformats.org/drawingml/2006/main" prst="straightConnector1">
            <a:avLst/>
          </a:prstGeom>
          <a:ln xmlns:a="http://schemas.openxmlformats.org/drawingml/2006/main" w="28575">
            <a:solidFill>
              <a:srgbClr val="4C7D5E"/>
            </a:solidFill>
            <a:headEnd type="arrow" w="med" len="med"/>
            <a:tailEnd type="arrow" w="med" len="med"/>
          </a:ln>
        </p:spPr>
      </p:cxnSp>
      <p:cxnSp>
        <p:nvCxnSpPr>
          <p:cNvPr id="44" name=""/>
          <p:cNvCxnSpPr>
            <a:stCxn xmlns:a="http://schemas.openxmlformats.org/drawingml/2006/main" id="15" idx="3"/>
            <a:endCxn xmlns:a="http://schemas.openxmlformats.org/drawingml/2006/main" id="17" idx="1"/>
          </p:cNvCxnSpPr>
          <p:nvPr/>
        </p:nvCxnSpPr>
        <p:spPr>
          <a:xfrm xmlns:a="http://schemas.openxmlformats.org/drawingml/2006/main">
            <a:off x="7048500" y="5467350"/>
            <a:ext cx="1095375" cy="0"/>
          </a:xfrm>
          <a:prstGeom xmlns:a="http://schemas.openxmlformats.org/drawingml/2006/main" prst="straightConnector1">
            <a:avLst/>
          </a:prstGeom>
          <a:ln xmlns:a="http://schemas.openxmlformats.org/drawingml/2006/main" w="28575">
            <a:solidFill>
              <a:srgbClr val="4C7D5E"/>
            </a:solidFill>
            <a:headEnd type="arrow" w="med" len="med"/>
            <a:tailEnd type="arrow" w="med" len="med"/>
          </a:ln>
        </p:spPr>
      </p:cxnSp>
      <p:sp>
        <p:nvSpPr>
          <p:cNvPr id="21" name="">
            <a:extLst xmlns:a="http://schemas.openxmlformats.org/drawingml/2006/main">
              <a:ext uri="{FF2B5EF4-FFF2-40B4-BE49-F238E27FC236}">
                <a16:creationId xmlns:a16="http://schemas.microsoft.com/office/drawing/2014/main" id="{B0B963B6-2A32-4889-A43F-72D95A570EF5}"/>
              </a:ext>
            </a:extLst>
          </p:cNvPr>
          <p:cNvSpPr>
            <a:spLocks xmlns:a="http://schemas.openxmlformats.org/drawingml/2006/main" noGrp="1"/>
          </p:cNvSpPr>
          <p:nvPr/>
        </p:nvSpPr>
        <p:spPr>
          <a:xfrm xmlns:a="http://schemas.openxmlformats.org/drawingml/2006/main">
            <a:off x="3286125" y="47625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JSON</a:t>
            </a:r>
          </a:p>
        </p:txBody>
      </p:sp>
      <p:sp>
        <p:nvSpPr>
          <p:cNvPr id="22" name="">
            <a:extLst xmlns:a="http://schemas.openxmlformats.org/drawingml/2006/main">
              <a:ext uri="{FF2B5EF4-FFF2-40B4-BE49-F238E27FC236}">
                <a16:creationId xmlns:a16="http://schemas.microsoft.com/office/drawing/2014/main" id="{8FBBFB05-166D-403A-AFF7-7AB578CBC300}"/>
              </a:ext>
            </a:extLst>
          </p:cNvPr>
          <p:cNvSpPr>
            <a:spLocks xmlns:a="http://schemas.openxmlformats.org/drawingml/2006/main" noGrp="1"/>
          </p:cNvSpPr>
          <p:nvPr/>
        </p:nvSpPr>
        <p:spPr>
          <a:xfrm xmlns:a="http://schemas.openxmlformats.org/drawingml/2006/main">
            <a:off x="7096125" y="4762500"/>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SQL / HTTP</a:t>
            </a:r>
          </a:p>
        </p:txBody>
      </p:sp>
      <p:sp>
        <p:nvSpPr>
          <p:cNvPr id="23" name="">
            <a:extLst xmlns:a="http://schemas.openxmlformats.org/drawingml/2006/main">
              <a:ext uri="{FF2B5EF4-FFF2-40B4-BE49-F238E27FC236}">
                <a16:creationId xmlns:a16="http://schemas.microsoft.com/office/drawing/2014/main" id="{629A74D6-C4D3-45CA-915D-3AEEAE743267}"/>
              </a:ext>
            </a:extLst>
          </p:cNvPr>
          <p:cNvSpPr>
            <a:spLocks xmlns:a="http://schemas.openxmlformats.org/drawingml/2006/main" noGrp="1"/>
          </p:cNvSpPr>
          <p:nvPr/>
        </p:nvSpPr>
        <p:spPr>
          <a:xfrm xmlns:a="http://schemas.openxmlformats.org/drawingml/2006/main">
            <a:off x="609600" y="61245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695F"/>
                </a:solidFill>
                <a:latin typeface="Helvetica Neue"/>
                <a:ea typeface="Helvetica Neue"/>
                <a:cs typeface="Helvetica Neue"/>
              </a:defRPr>
            </a:pPr>
            <a:r>
              <a:rPr sz="1725" b="0">
                <a:solidFill>
                  <a:srgbClr val="55695F"/>
                </a:solidFill>
                <a:latin typeface="Helvetica Neue"/>
                <a:ea typeface="Helvetica Neue"/>
                <a:cs typeface="Helvetica Neue"/>
              </a:rPr>
              <a:t>Replay: original event time + ingestion time. One node with persistent storage.</a:t>
            </a:r>
          </a:p>
        </p:txBody>
      </p:sp>
      <p:sp>
        <p:nvSpPr>
          <p:cNvPr id="24" name="">
            <a:extLst xmlns:a="http://schemas.openxmlformats.org/drawingml/2006/main">
              <a:ext uri="{FF2B5EF4-FFF2-40B4-BE49-F238E27FC236}">
                <a16:creationId xmlns:a16="http://schemas.microsoft.com/office/drawing/2014/main" id="{5F729BBB-4E2F-4E2A-9537-C0A25DF1EFCB}"/>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02</a:t>
            </a:r>
          </a:p>
        </p:txBody>
      </p:sp>
    </p:spTree>
    <p:extLst>
      <p:ext uri="{BB962C8B-B14F-4D97-AF65-F5344CB8AC3E}">
        <p14:creationId xmlns:p14="http://schemas.microsoft.com/office/powerpoint/2010/main" val="202367692"/>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19D24D-FB57-44DB-9FE8-9844BE7907ED}"/>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Proposed platform event model</a:t>
            </a:r>
          </a:p>
        </p:txBody>
      </p:sp>
      <p:sp>
        <p:nvSpPr>
          <p:cNvPr id="2" name="">
            <a:extLst xmlns:a="http://schemas.openxmlformats.org/drawingml/2006/main">
              <a:ext uri="{FF2B5EF4-FFF2-40B4-BE49-F238E27FC236}">
                <a16:creationId xmlns:a16="http://schemas.microsoft.com/office/drawing/2014/main" id="{27BE18BC-9923-4906-92F9-946C8C94692B}"/>
              </a:ext>
            </a:extLst>
          </p:cNvPr>
          <p:cNvSpPr>
            <a:spLocks xmlns:a="http://schemas.openxmlformats.org/drawingml/2006/main" noGrp="1"/>
          </p:cNvSpPr>
          <p:nvPr/>
        </p:nvSpPr>
        <p:spPr>
          <a:xfrm xmlns:a="http://schemas.openxmlformats.org/drawingml/2006/main">
            <a:off x="609600" y="13906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4C7D5E"/>
                </a:solidFill>
                <a:latin typeface="Helvetica Neue"/>
                <a:ea typeface="Helvetica Neue"/>
                <a:cs typeface="Helvetica Neue"/>
              </a:defRPr>
            </a:pPr>
            <a:r>
              <a:rPr sz="1800" b="1">
                <a:solidFill>
                  <a:srgbClr val="4C7D5E"/>
                </a:solidFill>
                <a:latin typeface="Helvetica Neue"/>
                <a:ea typeface="Helvetica Neue"/>
                <a:cs typeface="Helvetica Neue"/>
              </a:rPr>
              <a:t>ONE APP EVENT</a:t>
            </a:r>
          </a:p>
        </p:txBody>
      </p:sp>
      <p:sp>
        <p:nvSpPr>
          <p:cNvPr id="3" name="">
            <a:extLst xmlns:a="http://schemas.openxmlformats.org/drawingml/2006/main">
              <a:ext uri="{FF2B5EF4-FFF2-40B4-BE49-F238E27FC236}">
                <a16:creationId xmlns:a16="http://schemas.microsoft.com/office/drawing/2014/main" id="{89C21FB0-F4EE-40EA-A599-9FA6E6E6E85F}"/>
              </a:ext>
            </a:extLst>
          </p:cNvPr>
          <p:cNvSpPr>
            <a:spLocks xmlns:a="http://schemas.openxmlformats.org/drawingml/2006/main" noGrp="1"/>
          </p:cNvSpPr>
          <p:nvPr/>
        </p:nvSpPr>
        <p:spPr>
          <a:xfrm xmlns:a="http://schemas.openxmlformats.org/drawingml/2006/main">
            <a:off x="7143750" y="13906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Proposed schema. Not yet deployed.</a:t>
            </a:r>
          </a:p>
        </p:txBody>
      </p:sp>
      <p:graphicFrame>
        <p:nvGraphicFramePr>
          <p:cNvPr id="14" name=""/>
          <p:cNvGraphicFramePr/>
          <p:nvPr/>
        </p:nvGraphicFramePr>
        <p:xfrm>
          <a:off xmlns:a="http://schemas.openxmlformats.org/drawingml/2006/main" x="609600" y="1952625"/>
          <a:ext xmlns:a="http://schemas.openxmlformats.org/drawingml/2006/main" cx="10858500" cy="1809750"/>
        </p:xfrm>
        <a:graphic xmlns:a="http://schemas.openxmlformats.org/drawingml/2006/main">
          <a:graphicData uri="http://schemas.openxmlformats.org/drawingml/2006/table">
            <a:tbl>
              <a:tblPr firstRow="0" bandRow="0"/>
              <a:tblGrid>
                <a:gridCol w="1981200"/>
                <a:gridCol w="2057400"/>
                <a:gridCol w="2000250"/>
                <a:gridCol w="2343150"/>
                <a:gridCol w="2476500"/>
              </a:tblGrid>
              <a:tr h="904875">
                <a:tc>
                  <a:txBody>
                    <a:bodyPr>
                      <a:noAutofit/>
                    </a:bodyPr>
                    <a:lstStyle/>
                    <a:p>
                      <a:r>
                        <a:rPr sz="1950" b="1">
                          <a:solidFill>
                            <a:srgbClr val="FFFFFF"/>
                          </a:solidFill>
                          <a:latin typeface="Helvetica Neue"/>
                          <a:ea typeface="Helvetica Neue"/>
                          <a:cs typeface="Helvetica Neue"/>
                        </a:rPr>
                        <a:t>Identity</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Time</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Action</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Context</a:t>
                      </a:r>
                    </a:p>
                  </a:txBody>
                  <a:tcPr marL="133350" marR="133350" marT="123825" marB="123825">
                    <a:solidFill>
                      <a:srgbClr val="183D32"/>
                    </a:solidFill>
                  </a:tcPr>
                </a:tc>
                <a:tc>
                  <a:txBody>
                    <a:bodyPr>
                      <a:noAutofit/>
                    </a:bodyPr>
                    <a:lstStyle/>
                    <a:p>
                      <a:r>
                        <a:rPr sz="1950" b="1">
                          <a:solidFill>
                            <a:srgbClr val="FFFFFF"/>
                          </a:solidFill>
                          <a:latin typeface="Helvetica Neue"/>
                          <a:ea typeface="Helvetica Neue"/>
                          <a:cs typeface="Helvetica Neue"/>
                        </a:rPr>
                        <a:t>Provenance</a:t>
                      </a:r>
                    </a:p>
                  </a:txBody>
                  <a:tcPr marL="133350" marR="133350" marT="123825" marB="123825">
                    <a:solidFill>
                      <a:srgbClr val="183D32"/>
                    </a:solidFill>
                  </a:tcPr>
                </a:tc>
              </a:tr>
              <a:tr h="904875">
                <a:tc>
                  <a:txBody>
                    <a:bodyPr>
                      <a:noAutofit/>
                    </a:bodyPr>
                    <a:lstStyle/>
                    <a:p>
                      <a:r>
                        <a:rPr sz="1800" b="0">
                          <a:solidFill>
                            <a:srgbClr val="183D32"/>
                          </a:solidFill>
                          <a:latin typeface="Helvetica Neue"/>
                          <a:ea typeface="Helvetica Neue"/>
                          <a:cs typeface="Helvetica Neue"/>
                        </a:rPr>
                        <a:t>event_id</a:t>
                      </a:r>
                    </a:p>
                    <a:p>
                      <a:r>
                        <a:rPr sz="1800" b="0">
                          <a:solidFill>
                            <a:srgbClr val="183D32"/>
                          </a:solidFill>
                          <a:latin typeface="Helvetica Neue"/>
                          <a:ea typeface="Helvetica Neue"/>
                          <a:cs typeface="Helvetica Neue"/>
                        </a:rPr>
                        <a:t>session_id</a:t>
                      </a:r>
                    </a:p>
                  </a:txBody>
                  <a:tcPr marL="133350" marR="133350" marT="123825" marB="123825">
                    <a:solidFill>
                      <a:srgbClr val="E5EBDF"/>
                    </a:solidFill>
                  </a:tcPr>
                </a:tc>
                <a:tc>
                  <a:txBody>
                    <a:bodyPr>
                      <a:noAutofit/>
                    </a:bodyPr>
                    <a:lstStyle/>
                    <a:p>
                      <a:r>
                        <a:rPr sz="1800" b="0">
                          <a:solidFill>
                            <a:srgbClr val="183D32"/>
                          </a:solidFill>
                          <a:latin typeface="Helvetica Neue"/>
                          <a:ea typeface="Helvetica Neue"/>
                          <a:cs typeface="Helvetica Neue"/>
                        </a:rPr>
                        <a:t>event_time</a:t>
                      </a:r>
                    </a:p>
                    <a:p>
                      <a:r>
                        <a:rPr sz="1800" b="0">
                          <a:solidFill>
                            <a:srgbClr val="183D32"/>
                          </a:solidFill>
                          <a:latin typeface="Helvetica Neue"/>
                          <a:ea typeface="Helvetica Neue"/>
                          <a:cs typeface="Helvetica Neue"/>
                        </a:rPr>
                        <a:t>ingested_at</a:t>
                      </a:r>
                    </a:p>
                  </a:txBody>
                  <a:tcPr marL="133350" marR="133350" marT="123825" marB="123825">
                    <a:solidFill>
                      <a:srgbClr val="E5EBDF"/>
                    </a:solidFill>
                  </a:tcPr>
                </a:tc>
                <a:tc>
                  <a:txBody>
                    <a:bodyPr>
                      <a:noAutofit/>
                    </a:bodyPr>
                    <a:lstStyle/>
                    <a:p>
                      <a:r>
                        <a:rPr sz="1800" b="0">
                          <a:solidFill>
                            <a:srgbClr val="183D32"/>
                          </a:solidFill>
                          <a:latin typeface="Helvetica Neue"/>
                          <a:ea typeface="Helvetica Neue"/>
                          <a:cs typeface="Helvetica Neue"/>
                        </a:rPr>
                        <a:t>event_type</a:t>
                      </a:r>
                    </a:p>
                    <a:p>
                      <a:r>
                        <a:rPr sz="1800" b="0">
                          <a:solidFill>
                            <a:srgbClr val="183D32"/>
                          </a:solidFill>
                          <a:latin typeface="Helvetica Neue"/>
                          <a:ea typeface="Helvetica Neue"/>
                          <a:cs typeface="Helvetica Neue"/>
                        </a:rPr>
                        <a:t>section</a:t>
                      </a:r>
                    </a:p>
                  </a:txBody>
                  <a:tcPr marL="133350" marR="133350" marT="123825" marB="123825">
                    <a:solidFill>
                      <a:srgbClr val="E5EBDF"/>
                    </a:solidFill>
                  </a:tcPr>
                </a:tc>
                <a:tc>
                  <a:txBody>
                    <a:bodyPr>
                      <a:noAutofit/>
                    </a:bodyPr>
                    <a:lstStyle/>
                    <a:p>
                      <a:r>
                        <a:rPr sz="1800" b="0">
                          <a:solidFill>
                            <a:srgbClr val="183D32"/>
                          </a:solidFill>
                          <a:latin typeface="Helvetica Neue"/>
                          <a:ea typeface="Helvetica Neue"/>
                          <a:cs typeface="Helvetica Neue"/>
                        </a:rPr>
                        <a:t>city_id</a:t>
                      </a:r>
                    </a:p>
                    <a:p>
                      <a:r>
                        <a:rPr sz="1800" b="0">
                          <a:solidFill>
                            <a:srgbClr val="183D32"/>
                          </a:solidFill>
                          <a:latin typeface="Helvetica Neue"/>
                          <a:ea typeface="Helvetica Neue"/>
                          <a:cs typeface="Helvetica Neue"/>
                        </a:rPr>
                        <a:t>restaurant_id</a:t>
                      </a:r>
                    </a:p>
                    <a:p>
                      <a:r>
                        <a:rPr sz="1800" b="0">
                          <a:solidFill>
                            <a:srgbClr val="183D32"/>
                          </a:solidFill>
                          <a:latin typeface="Helvetica Neue"/>
                          <a:ea typeface="Helvetica Neue"/>
                          <a:cs typeface="Helvetica Neue"/>
                        </a:rPr>
                        <a:t>product_id</a:t>
                      </a:r>
                    </a:p>
                  </a:txBody>
                  <a:tcPr marL="133350" marR="133350" marT="123825" marB="123825">
                    <a:solidFill>
                      <a:srgbClr val="E5EBDF"/>
                    </a:solidFill>
                  </a:tcPr>
                </a:tc>
                <a:tc>
                  <a:txBody>
                    <a:bodyPr>
                      <a:noAutofit/>
                    </a:bodyPr>
                    <a:lstStyle/>
                    <a:p>
                      <a:r>
                        <a:rPr sz="1800" b="0">
                          <a:solidFill>
                            <a:srgbClr val="183D32"/>
                          </a:solidFill>
                          <a:latin typeface="Helvetica Neue"/>
                          <a:ea typeface="Helvetica Neue"/>
                          <a:cs typeface="Helvetica Neue"/>
                        </a:rPr>
                        <a:t>source_kind</a:t>
                      </a:r>
                    </a:p>
                    <a:p>
                      <a:r>
                        <a:rPr sz="1800" b="0">
                          <a:solidFill>
                            <a:srgbClr val="183D32"/>
                          </a:solidFill>
                          <a:latin typeface="Helvetica Neue"/>
                          <a:ea typeface="Helvetica Neue"/>
                          <a:cs typeface="Helvetica Neue"/>
                        </a:rPr>
                        <a:t>simulation_run_id</a:t>
                      </a:r>
                    </a:p>
                  </a:txBody>
                  <a:tcPr marL="133350" marR="133350" marT="123825" marB="123825">
                    <a:solidFill>
                      <a:srgbClr val="E5EBDF"/>
                    </a:solidFill>
                  </a:tcPr>
                </a:tc>
              </a:tr>
            </a:tbl>
          </a:graphicData>
        </a:graphic>
      </p:graphicFrame>
      <p:sp>
        <p:nvSpPr>
          <p:cNvPr id="5" name="">
            <a:extLst xmlns:a="http://schemas.openxmlformats.org/drawingml/2006/main">
              <a:ext uri="{FF2B5EF4-FFF2-40B4-BE49-F238E27FC236}">
                <a16:creationId xmlns:a16="http://schemas.microsoft.com/office/drawing/2014/main" id="{B03FACA9-685C-46F4-A81D-F0EAF351B9B1}"/>
              </a:ext>
            </a:extLst>
          </p:cNvPr>
          <p:cNvSpPr>
            <a:spLocks xmlns:a="http://schemas.openxmlformats.org/drawingml/2006/main" noGrp="1"/>
          </p:cNvSpPr>
          <p:nvPr/>
        </p:nvSpPr>
        <p:spPr>
          <a:xfrm xmlns:a="http://schemas.openxmlformats.org/drawingml/2006/main">
            <a:off x="609600" y="42576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D32"/>
                </a:solidFill>
                <a:latin typeface="Helvetica Neue"/>
                <a:ea typeface="Helvetica Neue"/>
                <a:cs typeface="Helvetica Neue"/>
              </a:defRPr>
            </a:pPr>
            <a:r>
              <a:rPr sz="2550" b="1">
                <a:solidFill>
                  <a:srgbClr val="183D32"/>
                </a:solidFill>
                <a:latin typeface="Helvetica Neue"/>
                <a:ea typeface="Helvetica Neue"/>
                <a:cs typeface="Helvetica Neue"/>
              </a:rPr>
              <a:t>Monthly partitions</a:t>
            </a:r>
          </a:p>
        </p:txBody>
      </p:sp>
      <p:sp>
        <p:nvSpPr>
          <p:cNvPr id="6" name="">
            <a:extLst xmlns:a="http://schemas.openxmlformats.org/drawingml/2006/main">
              <a:ext uri="{FF2B5EF4-FFF2-40B4-BE49-F238E27FC236}">
                <a16:creationId xmlns:a16="http://schemas.microsoft.com/office/drawing/2014/main" id="{33F1023D-FE52-464D-ADC2-2D47471F9E6F}"/>
              </a:ext>
            </a:extLst>
          </p:cNvPr>
          <p:cNvSpPr>
            <a:spLocks xmlns:a="http://schemas.openxmlformats.org/drawingml/2006/main" noGrp="1"/>
          </p:cNvSpPr>
          <p:nvPr/>
        </p:nvSpPr>
        <p:spPr>
          <a:xfrm xmlns:a="http://schemas.openxmlformats.org/drawingml/2006/main">
            <a:off x="609600" y="4810125"/>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2"/>
                </a:solidFill>
                <a:latin typeface="Helvetica Neue"/>
                <a:ea typeface="Helvetica Neue"/>
                <a:cs typeface="Helvetica Neue"/>
              </a:defRPr>
            </a:pPr>
            <a:r>
              <a:rPr sz="2025" b="0">
                <a:solidFill>
                  <a:srgbClr val="183D32"/>
                </a:solidFill>
                <a:latin typeface="Helvetica Neue"/>
                <a:ea typeface="Helvetica Neue"/>
                <a:cs typeface="Helvetica Neue"/>
              </a:rPr>
              <a:t>PARTITION BY</a:t>
            </a:r>
          </a:p>
          <a:p xmlns:a="http://schemas.openxmlformats.org/drawingml/2006/main">
            <a:pPr>
              <a:defRPr sz="2025" b="0">
                <a:solidFill>
                  <a:srgbClr val="183D32"/>
                </a:solidFill>
                <a:latin typeface="Helvetica Neue"/>
                <a:ea typeface="Helvetica Neue"/>
                <a:cs typeface="Helvetica Neue"/>
              </a:defRPr>
            </a:pPr>
            <a:r>
              <a:rPr sz="2025" b="0">
                <a:solidFill>
                  <a:srgbClr val="183D32"/>
                </a:solidFill>
                <a:latin typeface="Helvetica Neue"/>
                <a:ea typeface="Helvetica Neue"/>
                <a:cs typeface="Helvetica Neue"/>
              </a:rPr>
              <a:t>toYYYYMM(event_date)</a:t>
            </a:r>
          </a:p>
        </p:txBody>
      </p:sp>
      <p:sp>
        <p:nvSpPr>
          <p:cNvPr id="7" name="">
            <a:extLst xmlns:a="http://schemas.openxmlformats.org/drawingml/2006/main">
              <a:ext uri="{FF2B5EF4-FFF2-40B4-BE49-F238E27FC236}">
                <a16:creationId xmlns:a16="http://schemas.microsoft.com/office/drawing/2014/main" id="{B8EA4E84-5411-43E4-9040-6B1284134FA4}"/>
              </a:ext>
            </a:extLst>
          </p:cNvPr>
          <p:cNvSpPr>
            <a:spLocks xmlns:a="http://schemas.openxmlformats.org/drawingml/2006/main" noGrp="1"/>
          </p:cNvSpPr>
          <p:nvPr/>
        </p:nvSpPr>
        <p:spPr>
          <a:xfrm xmlns:a="http://schemas.openxmlformats.org/drawingml/2006/main">
            <a:off x="6096000" y="42576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D32"/>
                </a:solidFill>
                <a:latin typeface="Helvetica Neue"/>
                <a:ea typeface="Helvetica Neue"/>
                <a:cs typeface="Helvetica Neue"/>
              </a:defRPr>
            </a:pPr>
            <a:r>
              <a:rPr sz="2550" b="1">
                <a:solidFill>
                  <a:srgbClr val="183D32"/>
                </a:solidFill>
                <a:latin typeface="Helvetica Neue"/>
                <a:ea typeface="Helvetica Neue"/>
                <a:cs typeface="Helvetica Neue"/>
              </a:rPr>
              <a:t>Physical sorting</a:t>
            </a:r>
          </a:p>
        </p:txBody>
      </p:sp>
      <p:sp>
        <p:nvSpPr>
          <p:cNvPr id="8" name="">
            <a:extLst xmlns:a="http://schemas.openxmlformats.org/drawingml/2006/main">
              <a:ext uri="{FF2B5EF4-FFF2-40B4-BE49-F238E27FC236}">
                <a16:creationId xmlns:a16="http://schemas.microsoft.com/office/drawing/2014/main" id="{28D9E1F8-E120-4193-BD38-9576E08253E4}"/>
              </a:ext>
            </a:extLst>
          </p:cNvPr>
          <p:cNvSpPr>
            <a:spLocks xmlns:a="http://schemas.openxmlformats.org/drawingml/2006/main" noGrp="1"/>
          </p:cNvSpPr>
          <p:nvPr/>
        </p:nvSpPr>
        <p:spPr>
          <a:xfrm xmlns:a="http://schemas.openxmlformats.org/drawingml/2006/main">
            <a:off x="6096000" y="4810125"/>
            <a:ext cx="5391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D32"/>
                </a:solidFill>
                <a:latin typeface="Helvetica Neue"/>
                <a:ea typeface="Helvetica Neue"/>
                <a:cs typeface="Helvetica Neue"/>
              </a:defRPr>
            </a:pPr>
            <a:r>
              <a:rPr sz="1800" b="0">
                <a:solidFill>
                  <a:srgbClr val="183D32"/>
                </a:solidFill>
                <a:latin typeface="Helvetica Neue"/>
                <a:ea typeface="Helvetica Neue"/>
                <a:cs typeface="Helvetica Neue"/>
              </a:rPr>
              <a:t>ORDER BY (source_kind, event_date,</a:t>
            </a:r>
          </a:p>
          <a:p xmlns:a="http://schemas.openxmlformats.org/drawingml/2006/main">
            <a:pPr>
              <a:defRPr sz="1800" b="0">
                <a:solidFill>
                  <a:srgbClr val="183D32"/>
                </a:solidFill>
                <a:latin typeface="Helvetica Neue"/>
                <a:ea typeface="Helvetica Neue"/>
                <a:cs typeface="Helvetica Neue"/>
              </a:defRPr>
            </a:pPr>
            <a:r>
              <a:rPr sz="1800" b="0">
                <a:solidFill>
                  <a:srgbClr val="183D32"/>
                </a:solidFill>
                <a:latin typeface="Helvetica Neue"/>
                <a:ea typeface="Helvetica Neue"/>
                <a:cs typeface="Helvetica Neue"/>
              </a:rPr>
              <a:t>city_id, event_type, event_time, session_id)</a:t>
            </a:r>
          </a:p>
        </p:txBody>
      </p:sp>
      <p:sp>
        <p:nvSpPr>
          <p:cNvPr id="9" name="">
            <a:extLst xmlns:a="http://schemas.openxmlformats.org/drawingml/2006/main">
              <a:ext uri="{FF2B5EF4-FFF2-40B4-BE49-F238E27FC236}">
                <a16:creationId xmlns:a16="http://schemas.microsoft.com/office/drawing/2014/main" id="{A80F6DE4-5A2E-4473-8F41-72F3310E045F}"/>
              </a:ext>
            </a:extLst>
          </p:cNvPr>
          <p:cNvSpPr>
            <a:spLocks xmlns:a="http://schemas.openxmlformats.org/drawingml/2006/main" noGrp="1"/>
          </p:cNvSpPr>
          <p:nvPr/>
        </p:nvSpPr>
        <p:spPr>
          <a:xfrm xmlns:a="http://schemas.openxmlformats.org/drawingml/2006/main">
            <a:off x="609600" y="61341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695F"/>
                </a:solidFill>
                <a:latin typeface="Helvetica Neue"/>
                <a:ea typeface="Helvetica Neue"/>
                <a:cs typeface="Helvetica Neue"/>
              </a:defRPr>
            </a:pPr>
            <a:r>
              <a:rPr sz="1725" b="0">
                <a:solidFill>
                  <a:srgbClr val="55695F"/>
                </a:solidFill>
                <a:latin typeface="Helvetica Neue"/>
                <a:ea typeface="Helvetica Neue"/>
                <a:cs typeface="Helvetica Neue"/>
              </a:rPr>
              <a:t>Columnar MergeTree. Sparse primary index. Sorting does not enforce uniqueness.</a:t>
            </a:r>
          </a:p>
        </p:txBody>
      </p:sp>
      <p:sp>
        <p:nvSpPr>
          <p:cNvPr id="10" name="">
            <a:extLst xmlns:a="http://schemas.openxmlformats.org/drawingml/2006/main">
              <a:ext uri="{FF2B5EF4-FFF2-40B4-BE49-F238E27FC236}">
                <a16:creationId xmlns:a16="http://schemas.microsoft.com/office/drawing/2014/main" id="{58C8BDF1-B4D0-4780-8FB3-3A8AB3BD20DA}"/>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03</a:t>
            </a:r>
          </a:p>
        </p:txBody>
      </p:sp>
    </p:spTree>
    <p:extLst>
      <p:ext uri="{BB962C8B-B14F-4D97-AF65-F5344CB8AC3E}">
        <p14:creationId xmlns:p14="http://schemas.microsoft.com/office/powerpoint/2010/main" val="303812084"/>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AE9E39-AE06-40EB-889B-CDF75494234A}"/>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Historical data vs daily rollup</a:t>
            </a:r>
          </a:p>
        </p:txBody>
      </p:sp>
      <p:sp>
        <p:nvSpPr>
          <p:cNvPr id="2" name="">
            <a:extLst xmlns:a="http://schemas.openxmlformats.org/drawingml/2006/main">
              <a:ext uri="{FF2B5EF4-FFF2-40B4-BE49-F238E27FC236}">
                <a16:creationId xmlns:a16="http://schemas.microsoft.com/office/drawing/2014/main" id="{5E3A0920-0844-4A33-B9EC-7D24F43E4A79}"/>
              </a:ext>
            </a:extLst>
          </p:cNvPr>
          <p:cNvSpPr>
            <a:spLocks xmlns:a="http://schemas.openxmlformats.org/drawingml/2006/main" noGrp="1"/>
          </p:cNvSpPr>
          <p:nvPr/>
        </p:nvSpPr>
        <p:spPr>
          <a:xfrm xmlns:a="http://schemas.openxmlformats.org/drawingml/2006/main">
            <a:off x="609600" y="136207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83D32"/>
                </a:solidFill>
                <a:latin typeface="Helvetica Neue"/>
                <a:ea typeface="Helvetica Neue"/>
                <a:cs typeface="Helvetica Neue"/>
              </a:defRPr>
            </a:pPr>
            <a:r>
              <a:rPr sz="5250" b="1">
                <a:solidFill>
                  <a:srgbClr val="183D32"/>
                </a:solidFill>
                <a:latin typeface="Helvetica Neue"/>
                <a:ea typeface="Helvetica Neue"/>
                <a:cs typeface="Helvetica Neue"/>
              </a:rPr>
              <a:t>216,716,096</a:t>
            </a:r>
          </a:p>
        </p:txBody>
      </p:sp>
      <p:sp>
        <p:nvSpPr>
          <p:cNvPr id="3" name="">
            <a:extLst xmlns:a="http://schemas.openxmlformats.org/drawingml/2006/main">
              <a:ext uri="{FF2B5EF4-FFF2-40B4-BE49-F238E27FC236}">
                <a16:creationId xmlns:a16="http://schemas.microsoft.com/office/drawing/2014/main" id="{2A162681-B958-43E9-98A4-BDC34D96637D}"/>
              </a:ext>
            </a:extLst>
          </p:cNvPr>
          <p:cNvSpPr>
            <a:spLocks xmlns:a="http://schemas.openxmlformats.org/drawingml/2006/main" noGrp="1"/>
          </p:cNvSpPr>
          <p:nvPr/>
        </p:nvSpPr>
        <p:spPr>
          <a:xfrm xmlns:a="http://schemas.openxmlformats.org/drawingml/2006/main">
            <a:off x="609600" y="227647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695F"/>
                </a:solidFill>
                <a:latin typeface="Helvetica Neue"/>
                <a:ea typeface="Helvetica Neue"/>
                <a:cs typeface="Helvetica Neue"/>
              </a:defRPr>
            </a:pPr>
            <a:r>
              <a:rPr sz="2100" b="0">
                <a:solidFill>
                  <a:srgbClr val="55695F"/>
                </a:solidFill>
                <a:latin typeface="Helvetica Neue"/>
                <a:ea typeface="Helvetica Neue"/>
                <a:cs typeface="Helvetica Neue"/>
              </a:rPr>
              <a:t>Historical events</a:t>
            </a:r>
          </a:p>
        </p:txBody>
      </p:sp>
      <p:sp>
        <p:nvSpPr>
          <p:cNvPr id="4" name="">
            <a:extLst xmlns:a="http://schemas.openxmlformats.org/drawingml/2006/main">
              <a:ext uri="{FF2B5EF4-FFF2-40B4-BE49-F238E27FC236}">
                <a16:creationId xmlns:a16="http://schemas.microsoft.com/office/drawing/2014/main" id="{3E9A2403-B467-4518-8363-8BAD257A788A}"/>
              </a:ext>
            </a:extLst>
          </p:cNvPr>
          <p:cNvSpPr>
            <a:spLocks xmlns:a="http://schemas.openxmlformats.org/drawingml/2006/main" noGrp="1"/>
          </p:cNvSpPr>
          <p:nvPr/>
        </p:nvSpPr>
        <p:spPr>
          <a:xfrm xmlns:a="http://schemas.openxmlformats.org/drawingml/2006/main">
            <a:off x="8620125" y="12858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75" b="1">
                <a:solidFill>
                  <a:srgbClr val="183D32"/>
                </a:solidFill>
                <a:latin typeface="Helvetica Neue"/>
                <a:ea typeface="Helvetica Neue"/>
                <a:cs typeface="Helvetica Neue"/>
              </a:defRPr>
            </a:pPr>
            <a:r>
              <a:rPr sz="6975" b="1">
                <a:solidFill>
                  <a:srgbClr val="183D3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E3391891-9B0E-4A17-A559-806AC7635F8C}"/>
              </a:ext>
            </a:extLst>
          </p:cNvPr>
          <p:cNvSpPr>
            <a:spLocks xmlns:a="http://schemas.openxmlformats.org/drawingml/2006/main" noGrp="1"/>
          </p:cNvSpPr>
          <p:nvPr/>
        </p:nvSpPr>
        <p:spPr>
          <a:xfrm xmlns:a="http://schemas.openxmlformats.org/drawingml/2006/main">
            <a:off x="8620125" y="233362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5F"/>
                </a:solidFill>
                <a:latin typeface="Helvetica Neue"/>
                <a:ea typeface="Helvetica Neue"/>
                <a:cs typeface="Helvetica Neue"/>
              </a:defRPr>
            </a:pPr>
            <a:r>
              <a:rPr sz="2025" b="0">
                <a:solidFill>
                  <a:srgbClr val="55695F"/>
                </a:solidFill>
                <a:latin typeface="Helvetica Neue"/>
                <a:ea typeface="Helvetica Neue"/>
                <a:cs typeface="Helvetica Neue"/>
              </a:rPr>
              <a:t>Day / event type groups</a:t>
            </a:r>
          </a:p>
        </p:txBody>
      </p:sp>
      <p:cxnSp>
        <p:nvCxnSpPr>
          <p:cNvPr id="18" name=""/>
          <p:cNvCxnSpPr>
            <a:stCxn xmlns:a="http://schemas.openxmlformats.org/drawingml/2006/main" id="2" idx="3"/>
            <a:endCxn xmlns:a="http://schemas.openxmlformats.org/drawingml/2006/main" id="4" idx="1"/>
          </p:cNvCxnSpPr>
          <p:nvPr/>
        </p:nvCxnSpPr>
        <p:spPr>
          <a:xfrm xmlns:a="http://schemas.openxmlformats.org/drawingml/2006/main" flipV="1">
            <a:off x="6515100" y="1833563"/>
            <a:ext cx="2105025" cy="4763"/>
          </a:xfrm>
          <a:prstGeom xmlns:a="http://schemas.openxmlformats.org/drawingml/2006/main" prst="straightConnector1">
            <a:avLst/>
          </a:prstGeom>
          <a:ln xmlns:a="http://schemas.openxmlformats.org/drawingml/2006/main" w="28575">
            <a:solidFill>
              <a:srgbClr val="4C7D5E"/>
            </a:solidFill>
            <a:tailEnd type="arrow" w="med" len="med"/>
          </a:ln>
        </p:spPr>
      </p:cxnSp>
      <p:graphicFrame>
        <p:nvGraphicFramePr>
          <p:cNvPr id="19" name="Chart"/>
          <p:cNvGraphicFramePr/>
          <p:nvPr/>
        </p:nvGraphicFramePr>
        <p:xfrm>
          <a:off xmlns:a="http://schemas.openxmlformats.org/drawingml/2006/main" x="609600" y="3190875"/>
          <a:ext xmlns:a="http://schemas.openxmlformats.org/drawingml/2006/main" cx="7429500" cy="2571750"/>
        </p:xfrm>
        <a:graphic xmlns:a="http://schemas.openxmlformats.org/drawingml/2006/main">
          <a:graphicData uri="http://schemas.openxmlformats.org/drawingml/2006/chart">
            <c:chart xmlns:r="http://schemas.openxmlformats.org/officeDocument/2006/relationships" xmlns:c="http://schemas.openxmlformats.org/drawingml/2006/chart" r:id="R2005e40005a640ea"/>
          </a:graphicData>
        </a:graphic>
      </p:graphicFrame>
      <p:sp>
        <p:nvSpPr>
          <p:cNvPr id="8" name="">
            <a:extLst xmlns:a="http://schemas.openxmlformats.org/drawingml/2006/main">
              <a:ext uri="{FF2B5EF4-FFF2-40B4-BE49-F238E27FC236}">
                <a16:creationId xmlns:a16="http://schemas.microsoft.com/office/drawing/2014/main" id="{7E0FB1BD-1D22-43E8-8153-D6044E4571C3}"/>
              </a:ext>
            </a:extLst>
          </p:cNvPr>
          <p:cNvSpPr>
            <a:spLocks xmlns:a="http://schemas.openxmlformats.org/drawingml/2006/main" noGrp="1"/>
          </p:cNvSpPr>
          <p:nvPr/>
        </p:nvSpPr>
        <p:spPr>
          <a:xfrm xmlns:a="http://schemas.openxmlformats.org/drawingml/2006/main">
            <a:off x="8620125" y="3324225"/>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183D32"/>
                </a:solidFill>
                <a:latin typeface="Helvetica Neue"/>
                <a:ea typeface="Helvetica Neue"/>
                <a:cs typeface="Helvetica Neue"/>
              </a:defRPr>
            </a:pPr>
            <a:r>
              <a:rPr sz="6750" b="1">
                <a:solidFill>
                  <a:srgbClr val="183D32"/>
                </a:solidFill>
                <a:latin typeface="Helvetica Neue"/>
                <a:ea typeface="Helvetica Neue"/>
                <a:cs typeface="Helvetica Neue"/>
              </a:rPr>
              <a:t>27.9×</a:t>
            </a:r>
          </a:p>
        </p:txBody>
      </p:sp>
      <p:sp>
        <p:nvSpPr>
          <p:cNvPr id="9" name="">
            <a:extLst xmlns:a="http://schemas.openxmlformats.org/drawingml/2006/main">
              <a:ext uri="{FF2B5EF4-FFF2-40B4-BE49-F238E27FC236}">
                <a16:creationId xmlns:a16="http://schemas.microsoft.com/office/drawing/2014/main" id="{08DEC4D4-362D-4B0E-8B86-BDFCFD3367E2}"/>
              </a:ext>
            </a:extLst>
          </p:cNvPr>
          <p:cNvSpPr>
            <a:spLocks xmlns:a="http://schemas.openxmlformats.org/drawingml/2006/main" noGrp="1"/>
          </p:cNvSpPr>
          <p:nvPr/>
        </p:nvSpPr>
        <p:spPr>
          <a:xfrm xmlns:a="http://schemas.openxmlformats.org/drawingml/2006/main">
            <a:off x="8620125" y="45434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D32"/>
                </a:solidFill>
                <a:latin typeface="Helvetica Neue"/>
                <a:ea typeface="Helvetica Neue"/>
                <a:cs typeface="Helvetica Neue"/>
              </a:defRPr>
            </a:pPr>
            <a:r>
              <a:rPr sz="3000" b="1">
                <a:solidFill>
                  <a:srgbClr val="183D32"/>
                </a:solidFill>
                <a:latin typeface="Helvetica Neue"/>
                <a:ea typeface="Helvetica Neue"/>
                <a:cs typeface="Helvetica Neue"/>
              </a:rPr>
              <a:t>speedup</a:t>
            </a:r>
          </a:p>
        </p:txBody>
      </p:sp>
      <p:sp>
        <p:nvSpPr>
          <p:cNvPr id="10" name="">
            <a:extLst xmlns:a="http://schemas.openxmlformats.org/drawingml/2006/main">
              <a:ext uri="{FF2B5EF4-FFF2-40B4-BE49-F238E27FC236}">
                <a16:creationId xmlns:a16="http://schemas.microsoft.com/office/drawing/2014/main" id="{237EECC9-0042-48C8-B33E-0C78FF6E7B9F}"/>
              </a:ext>
            </a:extLst>
          </p:cNvPr>
          <p:cNvSpPr>
            <a:spLocks xmlns:a="http://schemas.openxmlformats.org/drawingml/2006/main" noGrp="1"/>
          </p:cNvSpPr>
          <p:nvPr/>
        </p:nvSpPr>
        <p:spPr>
          <a:xfrm xmlns:a="http://schemas.openxmlformats.org/drawingml/2006/main">
            <a:off x="8620125" y="5219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5F"/>
                </a:solidFill>
                <a:latin typeface="Helvetica Neue"/>
                <a:ea typeface="Helvetica Neue"/>
                <a:cs typeface="Helvetica Neue"/>
              </a:defRPr>
            </a:pPr>
            <a:r>
              <a:rPr sz="2025" b="0">
                <a:solidFill>
                  <a:srgbClr val="55695F"/>
                </a:solidFill>
                <a:latin typeface="Helvetica Neue"/>
                <a:ea typeface="Helvetica Neue"/>
                <a:cs typeface="Helvetica Neue"/>
              </a:rPr>
              <a:t>Same result</a:t>
            </a:r>
          </a:p>
        </p:txBody>
      </p:sp>
      <p:sp>
        <p:nvSpPr>
          <p:cNvPr id="11" name="">
            <a:extLst xmlns:a="http://schemas.openxmlformats.org/drawingml/2006/main">
              <a:ext uri="{FF2B5EF4-FFF2-40B4-BE49-F238E27FC236}">
                <a16:creationId xmlns:a16="http://schemas.microsoft.com/office/drawing/2014/main" id="{00AAAF21-2F52-41E0-B30B-2F107E1082B2}"/>
              </a:ext>
            </a:extLst>
          </p:cNvPr>
          <p:cNvSpPr>
            <a:spLocks xmlns:a="http://schemas.openxmlformats.org/drawingml/2006/main" noGrp="1"/>
          </p:cNvSpPr>
          <p:nvPr/>
        </p:nvSpPr>
        <p:spPr>
          <a:xfrm xmlns:a="http://schemas.openxmlformats.org/drawingml/2006/main">
            <a:off x="609600" y="6143625"/>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695F"/>
                </a:solidFill>
                <a:latin typeface="Helvetica Neue"/>
                <a:ea typeface="Helvetica Neue"/>
                <a:cs typeface="Helvetica Neue"/>
              </a:defRPr>
            </a:pPr>
            <a:r>
              <a:rPr sz="1725" b="0">
                <a:solidFill>
                  <a:srgbClr val="55695F"/>
                </a:solidFill>
                <a:latin typeface="Helvetica Neue"/>
                <a:ea typeface="Helvetica Neue"/>
                <a:cs typeface="Helvetica Neue"/>
              </a:rPr>
              <a:t>Median of 3 local runs. SQL query cache disabled. This measures one query.</a:t>
            </a:r>
          </a:p>
        </p:txBody>
      </p:sp>
      <p:sp>
        <p:nvSpPr>
          <p:cNvPr id="12" name="">
            <a:extLst xmlns:a="http://schemas.openxmlformats.org/drawingml/2006/main">
              <a:ext uri="{FF2B5EF4-FFF2-40B4-BE49-F238E27FC236}">
                <a16:creationId xmlns:a16="http://schemas.microsoft.com/office/drawing/2014/main" id="{87618146-D8AE-4371-9B4F-356545F80D85}"/>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04</a:t>
            </a:r>
          </a:p>
        </p:txBody>
      </p:sp>
    </p:spTree>
    <p:extLst>
      <p:ext uri="{BB962C8B-B14F-4D97-AF65-F5344CB8AC3E}">
        <p14:creationId xmlns:p14="http://schemas.microsoft.com/office/powerpoint/2010/main" val="1039417159"/>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952913-BBA5-454F-91DB-A3A2FF6E5371}"/>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Current guarantees and limitations</a:t>
            </a:r>
          </a:p>
        </p:txBody>
      </p:sp>
      <p:graphicFrame>
        <p:nvGraphicFramePr>
          <p:cNvPr id="6" name=""/>
          <p:cNvGraphicFramePr/>
          <p:nvPr/>
        </p:nvGraphicFramePr>
        <p:xfrm>
          <a:off xmlns:a="http://schemas.openxmlformats.org/drawingml/2006/main" x="609600" y="1685925"/>
          <a:ext xmlns:a="http://schemas.openxmlformats.org/drawingml/2006/main" cx="10858500" cy="3810000"/>
        </p:xfrm>
        <a:graphic xmlns:a="http://schemas.openxmlformats.org/drawingml/2006/main">
          <a:graphicData uri="http://schemas.openxmlformats.org/drawingml/2006/table">
            <a:tbl>
              <a:tblPr firstRow="0" bandRow="0"/>
              <a:tblGrid>
                <a:gridCol w="2286000"/>
                <a:gridCol w="4286250"/>
                <a:gridCol w="4286250"/>
              </a:tblGrid>
              <a:tr h="762000">
                <a:tc>
                  <a:txBody>
                    <a:bodyPr>
                      <a:noAutofit/>
                    </a:bodyPr>
                    <a:lstStyle/>
                    <a:p>
                      <a:r>
                        <a:rPr sz="2250" b="1">
                          <a:solidFill>
                            <a:srgbClr val="FFFFFF"/>
                          </a:solidFill>
                          <a:latin typeface="Helvetica Neue"/>
                          <a:ea typeface="Helvetica Neue"/>
                          <a:cs typeface="Helvetica Neue"/>
                        </a:rPr>
                        <a:t>Property</a:t>
                      </a:r>
                    </a:p>
                  </a:txBody>
                  <a:tcPr marL="133350" marR="133350" marT="123825" marB="123825">
                    <a:solidFill>
                      <a:srgbClr val="183D32"/>
                    </a:solidFill>
                  </a:tcPr>
                </a:tc>
                <a:tc>
                  <a:txBody>
                    <a:bodyPr>
                      <a:noAutofit/>
                    </a:bodyPr>
                    <a:lstStyle/>
                    <a:p>
                      <a:r>
                        <a:rPr sz="2250" b="1">
                          <a:solidFill>
                            <a:srgbClr val="FFFFFF"/>
                          </a:solidFill>
                          <a:latin typeface="Helvetica Neue"/>
                          <a:ea typeface="Helvetica Neue"/>
                          <a:cs typeface="Helvetica Neue"/>
                        </a:rPr>
                        <a:t>Today</a:t>
                      </a:r>
                    </a:p>
                  </a:txBody>
                  <a:tcPr marL="133350" marR="133350" marT="123825" marB="123825">
                    <a:solidFill>
                      <a:srgbClr val="183D32"/>
                    </a:solidFill>
                  </a:tcPr>
                </a:tc>
                <a:tc>
                  <a:txBody>
                    <a:bodyPr>
                      <a:noAutofit/>
                    </a:bodyPr>
                    <a:lstStyle/>
                    <a:p>
                      <a:r>
                        <a:rPr sz="2250" b="1">
                          <a:solidFill>
                            <a:srgbClr val="FFFFFF"/>
                          </a:solidFill>
                          <a:latin typeface="Helvetica Neue"/>
                          <a:ea typeface="Helvetica Neue"/>
                          <a:cs typeface="Helvetica Neue"/>
                        </a:rPr>
                        <a:t>Next test</a:t>
                      </a:r>
                    </a:p>
                  </a:txBody>
                  <a:tcPr marL="133350" marR="133350" marT="123825" marB="123825">
                    <a:solidFill>
                      <a:srgbClr val="183D32"/>
                    </a:solidFill>
                  </a:tcPr>
                </a:tc>
              </a:tr>
              <a:tr h="762000">
                <a:tc>
                  <a:txBody>
                    <a:bodyPr>
                      <a:noAutofit/>
                    </a:bodyPr>
                    <a:lstStyle/>
                    <a:p>
                      <a:r>
                        <a:rPr sz="2100" b="0">
                          <a:solidFill>
                            <a:srgbClr val="183D32"/>
                          </a:solidFill>
                          <a:latin typeface="Helvetica Neue"/>
                          <a:ea typeface="Helvetica Neue"/>
                          <a:cs typeface="Helvetica Neue"/>
                        </a:rPr>
                        <a:t>Availability</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One node</a:t>
                      </a:r>
                    </a:p>
                    <a:p>
                      <a:r>
                        <a:rPr sz="2100" b="0">
                          <a:solidFill>
                            <a:srgbClr val="183D32"/>
                          </a:solidFill>
                          <a:latin typeface="Helvetica Neue"/>
                          <a:ea typeface="Helvetica Neue"/>
                          <a:cs typeface="Helvetica Neue"/>
                        </a:rPr>
                        <a:t>Persistent volume</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Failure and recovery</a:t>
                      </a:r>
                    </a:p>
                  </a:txBody>
                  <a:tcPr marL="133350" marR="133350" marT="123825" marB="123825">
                    <a:solidFill>
                      <a:srgbClr val="E5EBDF"/>
                    </a:solidFill>
                  </a:tcPr>
                </a:tc>
              </a:tr>
              <a:tr h="762000">
                <a:tc>
                  <a:txBody>
                    <a:bodyPr>
                      <a:noAutofit/>
                    </a:bodyPr>
                    <a:lstStyle/>
                    <a:p>
                      <a:r>
                        <a:rPr sz="2100" b="0">
                          <a:solidFill>
                            <a:srgbClr val="183D32"/>
                          </a:solidFill>
                          <a:latin typeface="Helvetica Neue"/>
                          <a:ea typeface="Helvetica Neue"/>
                          <a:cs typeface="Helvetica Neue"/>
                        </a:rPr>
                        <a:t>Scalability</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Local date partitions</a:t>
                      </a:r>
                    </a:p>
                    <a:p>
                      <a:r>
                        <a:rPr sz="2100" b="0">
                          <a:solidFill>
                            <a:srgbClr val="183D32"/>
                          </a:solidFill>
                          <a:latin typeface="Helvetica Neue"/>
                          <a:ea typeface="Helvetica Neue"/>
                          <a:cs typeface="Helvetica Neue"/>
                        </a:rPr>
                        <a:t>No replicas</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Sharding and replication</a:t>
                      </a:r>
                    </a:p>
                  </a:txBody>
                  <a:tcPr marL="133350" marR="133350" marT="123825" marB="123825">
                    <a:solidFill>
                      <a:srgbClr val="E5EBDF"/>
                    </a:solidFill>
                  </a:tcPr>
                </a:tc>
              </a:tr>
              <a:tr h="762000">
                <a:tc>
                  <a:txBody>
                    <a:bodyPr>
                      <a:noAutofit/>
                    </a:bodyPr>
                    <a:lstStyle/>
                    <a:p>
                      <a:r>
                        <a:rPr sz="2100" b="0">
                          <a:solidFill>
                            <a:srgbClr val="183D32"/>
                          </a:solidFill>
                          <a:latin typeface="Helvetica Neue"/>
                          <a:ea typeface="Helvetica Neue"/>
                          <a:cs typeface="Helvetica Neue"/>
                        </a:rPr>
                        <a:t>Event delivery</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POST may duplicate rows</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Stable ID and safe retries</a:t>
                      </a:r>
                    </a:p>
                  </a:txBody>
                  <a:tcPr marL="133350" marR="133350" marT="123825" marB="123825">
                    <a:solidFill>
                      <a:srgbClr val="E5EBDF"/>
                    </a:solidFill>
                  </a:tcPr>
                </a:tc>
              </a:tr>
              <a:tr h="762000">
                <a:tc>
                  <a:txBody>
                    <a:bodyPr>
                      <a:noAutofit/>
                    </a:bodyPr>
                    <a:lstStyle/>
                    <a:p>
                      <a:r>
                        <a:rPr sz="2100" b="0">
                          <a:solidFill>
                            <a:srgbClr val="183D32"/>
                          </a:solidFill>
                          <a:latin typeface="Helvetica Neue"/>
                          <a:ea typeface="Helvetica Neue"/>
                          <a:cs typeface="Helvetica Neue"/>
                        </a:rPr>
                        <a:t>Measurement</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Query timings</a:t>
                      </a:r>
                    </a:p>
                  </a:txBody>
                  <a:tcPr marL="133350" marR="133350" marT="123825" marB="123825">
                    <a:solidFill>
                      <a:srgbClr val="E5EBDF"/>
                    </a:solidFill>
                  </a:tcPr>
                </a:tc>
                <a:tc>
                  <a:txBody>
                    <a:bodyPr>
                      <a:noAutofit/>
                    </a:bodyPr>
                    <a:lstStyle/>
                    <a:p>
                      <a:r>
                        <a:rPr sz="2100" b="0">
                          <a:solidFill>
                            <a:srgbClr val="183D32"/>
                          </a:solidFill>
                          <a:latin typeface="Helvetica Neue"/>
                          <a:ea typeface="Helvetica Neue"/>
                          <a:cs typeface="Helvetica Neue"/>
                        </a:rPr>
                        <a:t>Ingestion, lag and p95/p99</a:t>
                      </a:r>
                    </a:p>
                  </a:txBody>
                  <a:tcPr marL="133350" marR="133350" marT="123825" marB="123825">
                    <a:solidFill>
                      <a:srgbClr val="E5EBDF"/>
                    </a:solidFill>
                  </a:tcPr>
                </a:tc>
              </a:tr>
            </a:tbl>
          </a:graphicData>
        </a:graphic>
      </p:graphicFrame>
      <p:sp>
        <p:nvSpPr>
          <p:cNvPr id="3" name="">
            <a:extLst xmlns:a="http://schemas.openxmlformats.org/drawingml/2006/main">
              <a:ext uri="{FF2B5EF4-FFF2-40B4-BE49-F238E27FC236}">
                <a16:creationId xmlns:a16="http://schemas.microsoft.com/office/drawing/2014/main" id="{F9101625-FD6B-431D-8823-60992B2C6212}"/>
              </a:ext>
            </a:extLst>
          </p:cNvPr>
          <p:cNvSpPr>
            <a:spLocks xmlns:a="http://schemas.openxmlformats.org/drawingml/2006/main" noGrp="1"/>
          </p:cNvSpPr>
          <p:nvPr/>
        </p:nvSpPr>
        <p:spPr>
          <a:xfrm xmlns:a="http://schemas.openxmlformats.org/drawingml/2006/main">
            <a:off x="609600" y="58864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5695F"/>
                </a:solidFill>
                <a:latin typeface="Helvetica Neue"/>
                <a:ea typeface="Helvetica Neue"/>
                <a:cs typeface="Helvetica Neue"/>
              </a:defRPr>
            </a:pPr>
            <a:r>
              <a:rPr sz="2025" b="0">
                <a:solidFill>
                  <a:srgbClr val="55695F"/>
                </a:solidFill>
                <a:latin typeface="Helvetica Neue"/>
                <a:ea typeface="Helvetica Neue"/>
                <a:cs typeface="Helvetica Neue"/>
              </a:rPr>
              <a:t>CAP behaviour depends on topology and configuration.</a:t>
            </a:r>
          </a:p>
        </p:txBody>
      </p:sp>
      <p:sp>
        <p:nvSpPr>
          <p:cNvPr id="4" name="">
            <a:extLst xmlns:a="http://schemas.openxmlformats.org/drawingml/2006/main">
              <a:ext uri="{FF2B5EF4-FFF2-40B4-BE49-F238E27FC236}">
                <a16:creationId xmlns:a16="http://schemas.microsoft.com/office/drawing/2014/main" id="{D7A7F416-403A-4624-891C-6CA66F1613AF}"/>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05</a:t>
            </a:r>
          </a:p>
        </p:txBody>
      </p:sp>
    </p:spTree>
    <p:extLst>
      <p:ext uri="{BB962C8B-B14F-4D97-AF65-F5344CB8AC3E}">
        <p14:creationId xmlns:p14="http://schemas.microsoft.com/office/powerpoint/2010/main" val="24531037"/>
      </p:ext>
    </p:extLst>
  </p:cSld>
</p:sld>
</file>

<file path=ppt/slides/slide6.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6BFBCFC-0632-48C6-B3B7-7730929503A3}"/>
              </a:ext>
            </a:extLst>
          </p:cNvPr>
          <p:cNvSpPr>
            <a:spLocks xmlns:a="http://schemas.openxmlformats.org/drawingml/2006/main" noGrp="1"/>
          </p:cNvSpPr>
          <p:nvPr/>
        </p:nvSpPr>
        <p:spPr>
          <a:xfrm xmlns:a="http://schemas.openxmlformats.org/drawingml/2006/main">
            <a:off x="609600" y="40957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milestone</a:t>
            </a:r>
          </a:p>
        </p:txBody>
      </p:sp>
      <p:sp>
        <p:nvSpPr>
          <p:cNvPr id="2" name="">
            <a:extLst xmlns:a="http://schemas.openxmlformats.org/drawingml/2006/main">
              <a:ext uri="{FF2B5EF4-FFF2-40B4-BE49-F238E27FC236}">
                <a16:creationId xmlns:a16="http://schemas.microsoft.com/office/drawing/2014/main" id="{31B2BD25-14AF-42DB-BB69-9D746B374AB3}"/>
              </a:ext>
            </a:extLst>
          </p:cNvPr>
          <p:cNvSpPr>
            <a:spLocks xmlns:a="http://schemas.openxmlformats.org/drawingml/2006/main" noGrp="1"/>
          </p:cNvSpPr>
          <p:nvPr/>
        </p:nvSpPr>
        <p:spPr>
          <a:xfrm xmlns:a="http://schemas.openxmlformats.org/drawingml/2006/main">
            <a:off x="609600" y="13620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DE8DB"/>
                </a:solidFill>
                <a:latin typeface="Helvetica Neue"/>
                <a:ea typeface="Helvetica Neue"/>
                <a:cs typeface="Helvetica Neue"/>
              </a:defRPr>
            </a:pPr>
            <a:r>
              <a:rPr sz="2100" b="0">
                <a:solidFill>
                  <a:srgbClr val="DDE8DB"/>
                </a:solidFill>
                <a:latin typeface="Helvetica Neue"/>
                <a:ea typeface="Helvetica Neue"/>
                <a:cs typeface="Helvetica Neue"/>
              </a:rPr>
              <a:t>Proposed end-to-end flow</a:t>
            </a:r>
          </a:p>
        </p:txBody>
      </p:sp>
      <p:sp>
        <p:nvSpPr>
          <p:cNvPr id="3" name="Diagram: Mini app&#10;+ generator">
            <a:extLst xmlns:a="http://schemas.openxmlformats.org/drawingml/2006/main">
              <a:ext uri="{FF2B5EF4-FFF2-40B4-BE49-F238E27FC236}">
                <a16:creationId xmlns:a16="http://schemas.microsoft.com/office/drawing/2014/main" id="{C69AFD99-726D-4BF7-BC73-0E70E3C51498}"/>
              </a:ext>
            </a:extLst>
          </p:cNvPr>
          <p:cNvSpPr>
            <a:spLocks xmlns:a="http://schemas.openxmlformats.org/drawingml/2006/main" noGrp="1"/>
          </p:cNvSpPr>
          <p:nvPr/>
        </p:nvSpPr>
        <p:spPr>
          <a:xfrm xmlns:a="http://schemas.openxmlformats.org/drawingml/2006/main">
            <a:off x="609600" y="2247900"/>
            <a:ext cx="2286000" cy="114300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4" name="">
            <a:extLst xmlns:a="http://schemas.openxmlformats.org/drawingml/2006/main">
              <a:ext uri="{FF2B5EF4-FFF2-40B4-BE49-F238E27FC236}">
                <a16:creationId xmlns:a16="http://schemas.microsoft.com/office/drawing/2014/main" id="{06C298C8-0FCA-4687-A6C1-3F397DC67BF5}"/>
              </a:ext>
            </a:extLst>
          </p:cNvPr>
          <p:cNvSpPr>
            <a:spLocks xmlns:a="http://schemas.openxmlformats.org/drawingml/2006/main" noGrp="1"/>
          </p:cNvSpPr>
          <p:nvPr/>
        </p:nvSpPr>
        <p:spPr>
          <a:xfrm xmlns:a="http://schemas.openxmlformats.org/drawingml/2006/main">
            <a:off x="781050" y="2409825"/>
            <a:ext cx="1943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Mini app</a:t>
            </a:r>
          </a:p>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 generator</a:t>
            </a:r>
          </a:p>
        </p:txBody>
      </p:sp>
      <p:sp>
        <p:nvSpPr>
          <p:cNvPr id="5" name="Diagram: Python&#10;ingestion">
            <a:extLst xmlns:a="http://schemas.openxmlformats.org/drawingml/2006/main">
              <a:ext uri="{FF2B5EF4-FFF2-40B4-BE49-F238E27FC236}">
                <a16:creationId xmlns:a16="http://schemas.microsoft.com/office/drawing/2014/main" id="{FD3B33BE-66BE-4486-BA0B-7829622613F9}"/>
              </a:ext>
            </a:extLst>
          </p:cNvPr>
          <p:cNvSpPr>
            <a:spLocks xmlns:a="http://schemas.openxmlformats.org/drawingml/2006/main" noGrp="1"/>
          </p:cNvSpPr>
          <p:nvPr/>
        </p:nvSpPr>
        <p:spPr>
          <a:xfrm xmlns:a="http://schemas.openxmlformats.org/drawingml/2006/main">
            <a:off x="3448050" y="2247900"/>
            <a:ext cx="2286000" cy="114300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6" name="">
            <a:extLst xmlns:a="http://schemas.openxmlformats.org/drawingml/2006/main">
              <a:ext uri="{FF2B5EF4-FFF2-40B4-BE49-F238E27FC236}">
                <a16:creationId xmlns:a16="http://schemas.microsoft.com/office/drawing/2014/main" id="{F54906DA-7787-40AC-B341-7C81AE9C7089}"/>
              </a:ext>
            </a:extLst>
          </p:cNvPr>
          <p:cNvSpPr>
            <a:spLocks xmlns:a="http://schemas.openxmlformats.org/drawingml/2006/main" noGrp="1"/>
          </p:cNvSpPr>
          <p:nvPr/>
        </p:nvSpPr>
        <p:spPr>
          <a:xfrm xmlns:a="http://schemas.openxmlformats.org/drawingml/2006/main">
            <a:off x="3619500" y="2409825"/>
            <a:ext cx="1943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Python</a:t>
            </a:r>
          </a:p>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ingestion</a:t>
            </a:r>
          </a:p>
        </p:txBody>
      </p:sp>
      <p:sp>
        <p:nvSpPr>
          <p:cNvPr id="7" name="Diagram: app_events&#10;ClickHouse">
            <a:extLst xmlns:a="http://schemas.openxmlformats.org/drawingml/2006/main">
              <a:ext uri="{FF2B5EF4-FFF2-40B4-BE49-F238E27FC236}">
                <a16:creationId xmlns:a16="http://schemas.microsoft.com/office/drawing/2014/main" id="{CEE48152-1D7A-4E71-98CF-8FC70A8B9AE3}"/>
              </a:ext>
            </a:extLst>
          </p:cNvPr>
          <p:cNvSpPr>
            <a:spLocks xmlns:a="http://schemas.openxmlformats.org/drawingml/2006/main" noGrp="1"/>
          </p:cNvSpPr>
          <p:nvPr/>
        </p:nvSpPr>
        <p:spPr>
          <a:xfrm xmlns:a="http://schemas.openxmlformats.org/drawingml/2006/main">
            <a:off x="6286500" y="2247900"/>
            <a:ext cx="2286000" cy="114300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8" name="">
            <a:extLst xmlns:a="http://schemas.openxmlformats.org/drawingml/2006/main">
              <a:ext uri="{FF2B5EF4-FFF2-40B4-BE49-F238E27FC236}">
                <a16:creationId xmlns:a16="http://schemas.microsoft.com/office/drawing/2014/main" id="{2357446C-03DA-4E5B-91FD-2C96C4D802B8}"/>
              </a:ext>
            </a:extLst>
          </p:cNvPr>
          <p:cNvSpPr>
            <a:spLocks xmlns:a="http://schemas.openxmlformats.org/drawingml/2006/main" noGrp="1"/>
          </p:cNvSpPr>
          <p:nvPr/>
        </p:nvSpPr>
        <p:spPr>
          <a:xfrm xmlns:a="http://schemas.openxmlformats.org/drawingml/2006/main">
            <a:off x="6457950" y="2409825"/>
            <a:ext cx="1943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app_events</a:t>
            </a:r>
          </a:p>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ClickHouse</a:t>
            </a:r>
          </a:p>
        </p:txBody>
      </p:sp>
      <p:sp>
        <p:nvSpPr>
          <p:cNvPr id="9" name="Diagram: Dashboard&#10;Daily rollup">
            <a:extLst xmlns:a="http://schemas.openxmlformats.org/drawingml/2006/main">
              <a:ext uri="{FF2B5EF4-FFF2-40B4-BE49-F238E27FC236}">
                <a16:creationId xmlns:a16="http://schemas.microsoft.com/office/drawing/2014/main" id="{3D189106-A9CC-4FE9-95F7-96C7E97A40A7}"/>
              </a:ext>
            </a:extLst>
          </p:cNvPr>
          <p:cNvSpPr>
            <a:spLocks xmlns:a="http://schemas.openxmlformats.org/drawingml/2006/main" noGrp="1"/>
          </p:cNvSpPr>
          <p:nvPr/>
        </p:nvSpPr>
        <p:spPr>
          <a:xfrm xmlns:a="http://schemas.openxmlformats.org/drawingml/2006/main">
            <a:off x="9124950" y="2247900"/>
            <a:ext cx="2352675" cy="1143000"/>
          </a:xfrm>
          <a:prstGeom xmlns:a="http://schemas.openxmlformats.org/drawingml/2006/main" prst="rect">
            <a:avLst/>
          </a:prstGeom>
          <a:solidFill xmlns:a="http://schemas.openxmlformats.org/drawingml/2006/main">
            <a:srgbClr val="E5EBDF"/>
          </a:solidFill>
          <a:ln xmlns:a="http://schemas.openxmlformats.org/drawingml/2006/main" w="12383">
            <a:solidFill>
              <a:srgbClr val="C7D2C5"/>
            </a:solidFill>
          </a:ln>
        </p:spPr>
      </p:sp>
      <p:sp>
        <p:nvSpPr>
          <p:cNvPr id="10" name="">
            <a:extLst xmlns:a="http://schemas.openxmlformats.org/drawingml/2006/main">
              <a:ext uri="{FF2B5EF4-FFF2-40B4-BE49-F238E27FC236}">
                <a16:creationId xmlns:a16="http://schemas.microsoft.com/office/drawing/2014/main" id="{6EDD7B8B-E4D7-4867-92A6-EF402BC873F5}"/>
              </a:ext>
            </a:extLst>
          </p:cNvPr>
          <p:cNvSpPr>
            <a:spLocks xmlns:a="http://schemas.openxmlformats.org/drawingml/2006/main" noGrp="1"/>
          </p:cNvSpPr>
          <p:nvPr/>
        </p:nvSpPr>
        <p:spPr>
          <a:xfrm xmlns:a="http://schemas.openxmlformats.org/drawingml/2006/main">
            <a:off x="9296400" y="2409825"/>
            <a:ext cx="20097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Dashboard</a:t>
            </a:r>
          </a:p>
          <a:p xmlns:a="http://schemas.openxmlformats.org/drawingml/2006/main">
            <a:pPr>
              <a:defRPr sz="2025" b="1">
                <a:solidFill>
                  <a:srgbClr val="183D32"/>
                </a:solidFill>
                <a:latin typeface="Helvetica Neue"/>
                <a:ea typeface="Helvetica Neue"/>
                <a:cs typeface="Helvetica Neue"/>
              </a:defRPr>
            </a:pPr>
            <a:r>
              <a:rPr sz="2025" b="1">
                <a:solidFill>
                  <a:srgbClr val="183D32"/>
                </a:solidFill>
                <a:latin typeface="Helvetica Neue"/>
                <a:ea typeface="Helvetica Neue"/>
                <a:cs typeface="Helvetica Neue"/>
              </a:rPr>
              <a:t>Daily rollup</a:t>
            </a:r>
          </a:p>
        </p:txBody>
      </p:sp>
      <p:cxnSp>
        <p:nvCxnSpPr>
          <p:cNvPr id="30" name=""/>
          <p:cNvCxnSpPr>
            <a:stCxn xmlns:a="http://schemas.openxmlformats.org/drawingml/2006/main" id="3" idx="3"/>
            <a:endCxn xmlns:a="http://schemas.openxmlformats.org/drawingml/2006/main" id="5" idx="1"/>
          </p:cNvCxnSpPr>
          <p:nvPr/>
        </p:nvCxnSpPr>
        <p:spPr>
          <a:xfrm xmlns:a="http://schemas.openxmlformats.org/drawingml/2006/main">
            <a:off x="2895600" y="2819400"/>
            <a:ext cx="552450" cy="0"/>
          </a:xfrm>
          <a:prstGeom xmlns:a="http://schemas.openxmlformats.org/drawingml/2006/main" prst="straightConnector1">
            <a:avLst/>
          </a:prstGeom>
          <a:ln xmlns:a="http://schemas.openxmlformats.org/drawingml/2006/main" w="28575">
            <a:solidFill>
              <a:srgbClr val="BFD4C5"/>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5734050" y="2819400"/>
            <a:ext cx="552450" cy="0"/>
          </a:xfrm>
          <a:prstGeom xmlns:a="http://schemas.openxmlformats.org/drawingml/2006/main" prst="straightConnector1">
            <a:avLst/>
          </a:prstGeom>
          <a:ln xmlns:a="http://schemas.openxmlformats.org/drawingml/2006/main" w="28575">
            <a:solidFill>
              <a:srgbClr val="BFD4C5"/>
            </a:solidFill>
            <a:tailEnd type="arrow" w="med" len="med"/>
          </a:ln>
        </p:spPr>
      </p:cxnSp>
      <p:cxnSp>
        <p:nvCxnSpPr>
          <p:cNvPr id="32" name=""/>
          <p:cNvCxnSpPr>
            <a:stCxn xmlns:a="http://schemas.openxmlformats.org/drawingml/2006/main" id="7" idx="3"/>
            <a:endCxn xmlns:a="http://schemas.openxmlformats.org/drawingml/2006/main" id="9" idx="1"/>
          </p:cNvCxnSpPr>
          <p:nvPr/>
        </p:nvCxnSpPr>
        <p:spPr>
          <a:xfrm xmlns:a="http://schemas.openxmlformats.org/drawingml/2006/main">
            <a:off x="8572500" y="2819400"/>
            <a:ext cx="552450" cy="0"/>
          </a:xfrm>
          <a:prstGeom xmlns:a="http://schemas.openxmlformats.org/drawingml/2006/main" prst="straightConnector1">
            <a:avLst/>
          </a:prstGeom>
          <a:ln xmlns:a="http://schemas.openxmlformats.org/drawingml/2006/main" w="28575">
            <a:solidFill>
              <a:srgbClr val="BFD4C5"/>
            </a:solidFill>
            <a:tailEnd type="arrow" w="med" len="med"/>
          </a:ln>
        </p:spPr>
      </p:cxnSp>
      <p:sp>
        <p:nvSpPr>
          <p:cNvPr id="14" name="">
            <a:extLst xmlns:a="http://schemas.openxmlformats.org/drawingml/2006/main">
              <a:ext uri="{FF2B5EF4-FFF2-40B4-BE49-F238E27FC236}">
                <a16:creationId xmlns:a16="http://schemas.microsoft.com/office/drawing/2014/main" id="{07123A1C-7410-43D2-9D00-5B86FFD2FB4E}"/>
              </a:ext>
            </a:extLst>
          </p:cNvPr>
          <p:cNvSpPr>
            <a:spLocks xmlns:a="http://schemas.openxmlformats.org/drawingml/2006/main" noGrp="1"/>
          </p:cNvSpPr>
          <p:nvPr/>
        </p:nvSpPr>
        <p:spPr>
          <a:xfrm xmlns:a="http://schemas.openxmlformats.org/drawingml/2006/main">
            <a:off x="609600" y="4152900"/>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DDE8DB"/>
                </a:solidFill>
                <a:latin typeface="Helvetica Neue"/>
                <a:ea typeface="Helvetica Neue"/>
                <a:cs typeface="Helvetica Neue"/>
              </a:defRPr>
            </a:pPr>
            <a:r>
              <a:rPr sz="3600" b="1">
                <a:solidFill>
                  <a:srgbClr val="DDE8DB"/>
                </a:solidFill>
                <a:latin typeface="Helvetica Neue"/>
                <a:ea typeface="Helvetica Neue"/>
                <a:cs typeface="Helvetica Neue"/>
              </a:rPr>
              <a:t>1</a:t>
            </a:r>
          </a:p>
        </p:txBody>
      </p:sp>
      <p:sp>
        <p:nvSpPr>
          <p:cNvPr id="15" name="">
            <a:extLst xmlns:a="http://schemas.openxmlformats.org/drawingml/2006/main">
              <a:ext uri="{FF2B5EF4-FFF2-40B4-BE49-F238E27FC236}">
                <a16:creationId xmlns:a16="http://schemas.microsoft.com/office/drawing/2014/main" id="{1DA64B85-0061-491F-962C-A8A0198C7475}"/>
              </a:ext>
            </a:extLst>
          </p:cNvPr>
          <p:cNvSpPr>
            <a:spLocks xmlns:a="http://schemas.openxmlformats.org/drawingml/2006/main" noGrp="1"/>
          </p:cNvSpPr>
          <p:nvPr/>
        </p:nvSpPr>
        <p:spPr>
          <a:xfrm xmlns:a="http://schemas.openxmlformats.org/drawingml/2006/main">
            <a:off x="1381125" y="41719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A repeated submission counts once</a:t>
            </a:r>
          </a:p>
        </p:txBody>
      </p:sp>
      <p:sp>
        <p:nvSpPr>
          <p:cNvPr id="16" name="">
            <a:extLst xmlns:a="http://schemas.openxmlformats.org/drawingml/2006/main">
              <a:ext uri="{FF2B5EF4-FFF2-40B4-BE49-F238E27FC236}">
                <a16:creationId xmlns:a16="http://schemas.microsoft.com/office/drawing/2014/main" id="{372AD6D3-3B27-4EC7-8C18-3302D34A18E3}"/>
              </a:ext>
            </a:extLst>
          </p:cNvPr>
          <p:cNvSpPr>
            <a:spLocks xmlns:a="http://schemas.openxmlformats.org/drawingml/2006/main" noGrp="1"/>
          </p:cNvSpPr>
          <p:nvPr/>
        </p:nvSpPr>
        <p:spPr>
          <a:xfrm xmlns:a="http://schemas.openxmlformats.org/drawingml/2006/main">
            <a:off x="609600" y="5162550"/>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DDE8DB"/>
                </a:solidFill>
                <a:latin typeface="Helvetica Neue"/>
                <a:ea typeface="Helvetica Neue"/>
                <a:cs typeface="Helvetica Neue"/>
              </a:defRPr>
            </a:pPr>
            <a:r>
              <a:rPr sz="3600" b="1">
                <a:solidFill>
                  <a:srgbClr val="DDE8DB"/>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30E6F516-3404-4AD8-A88F-A8DE70065F5B}"/>
              </a:ext>
            </a:extLst>
          </p:cNvPr>
          <p:cNvSpPr>
            <a:spLocks xmlns:a="http://schemas.openxmlformats.org/drawingml/2006/main" noGrp="1"/>
          </p:cNvSpPr>
          <p:nvPr/>
        </p:nvSpPr>
        <p:spPr>
          <a:xfrm xmlns:a="http://schemas.openxmlformats.org/drawingml/2006/main">
            <a:off x="1381125" y="5172075"/>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Helvetica Neue"/>
                <a:ea typeface="Helvetica Neue"/>
                <a:cs typeface="Helvetica Neue"/>
              </a:defRPr>
            </a:pPr>
            <a:r>
              <a:rPr sz="2475" b="1">
                <a:solidFill>
                  <a:srgbClr val="FFFFFF"/>
                </a:solidFill>
                <a:latin typeface="Helvetica Neue"/>
                <a:ea typeface="Helvetica Neue"/>
                <a:cs typeface="Helvetica Neue"/>
              </a:rPr>
              <a:t>Measure the workload and reproduce the setup</a:t>
            </a:r>
          </a:p>
        </p:txBody>
      </p:sp>
      <p:sp>
        <p:nvSpPr>
          <p:cNvPr id="18" name="">
            <a:extLst xmlns:a="http://schemas.openxmlformats.org/drawingml/2006/main">
              <a:ext uri="{FF2B5EF4-FFF2-40B4-BE49-F238E27FC236}">
                <a16:creationId xmlns:a16="http://schemas.microsoft.com/office/drawing/2014/main" id="{31F2B4A9-B180-4BB2-BCCA-8D020350A556}"/>
              </a:ext>
            </a:extLst>
          </p:cNvPr>
          <p:cNvSpPr>
            <a:spLocks xmlns:a="http://schemas.openxmlformats.org/drawingml/2006/main" noGrp="1"/>
          </p:cNvSpPr>
          <p:nvPr/>
        </p:nvSpPr>
        <p:spPr>
          <a:xfrm xmlns:a="http://schemas.openxmlformats.org/drawingml/2006/main">
            <a:off x="609600" y="61341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DE8DB"/>
                </a:solidFill>
                <a:latin typeface="Helvetica Neue"/>
                <a:ea typeface="Helvetica Neue"/>
                <a:cs typeface="Helvetica Neue"/>
              </a:defRPr>
            </a:pPr>
            <a:r>
              <a:rPr sz="1725" b="0">
                <a:solidFill>
                  <a:srgbClr val="DDE8DB"/>
                </a:solidFill>
                <a:latin typeface="Helvetica Neue"/>
                <a:ea typeface="Helvetica Neue"/>
                <a:cs typeface="Helvetica Neue"/>
              </a:rPr>
              <a:t>The lab has enough data volume. The integrated app is the next milestone.</a:t>
            </a:r>
          </a:p>
        </p:txBody>
      </p:sp>
      <p:sp>
        <p:nvSpPr>
          <p:cNvPr id="19" name="">
            <a:extLst xmlns:a="http://schemas.openxmlformats.org/drawingml/2006/main">
              <a:ext uri="{FF2B5EF4-FFF2-40B4-BE49-F238E27FC236}">
                <a16:creationId xmlns:a16="http://schemas.microsoft.com/office/drawing/2014/main" id="{9800AE94-950A-48E1-8169-B08346BE0744}"/>
              </a:ext>
            </a:extLst>
          </p:cNvPr>
          <p:cNvSpPr>
            <a:spLocks xmlns:a="http://schemas.openxmlformats.org/drawingml/2006/main" noGrp="1"/>
          </p:cNvSpPr>
          <p:nvPr/>
        </p:nvSpPr>
        <p:spPr>
          <a:xfrm xmlns:a="http://schemas.openxmlformats.org/drawingml/2006/main">
            <a:off x="10991850" y="64389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DE8DB"/>
                </a:solidFill>
                <a:latin typeface="Helvetica Neue"/>
                <a:ea typeface="Helvetica Neue"/>
                <a:cs typeface="Helvetica Neue"/>
              </a:defRPr>
            </a:pPr>
            <a:r>
              <a:rPr sz="1350" b="0">
                <a:solidFill>
                  <a:srgbClr val="DDE8DB"/>
                </a:solidFill>
                <a:latin typeface="Helvetica Neue"/>
                <a:ea typeface="Helvetica Neue"/>
                <a:cs typeface="Helvetica Neue"/>
              </a:rPr>
              <a:t>06</a:t>
            </a:r>
          </a:p>
        </p:txBody>
      </p:sp>
    </p:spTree>
    <p:extLst>
      <p:ext uri="{BB962C8B-B14F-4D97-AF65-F5344CB8AC3E}">
        <p14:creationId xmlns:p14="http://schemas.microsoft.com/office/powerpoint/2010/main" val="1436633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2026-10-05T14:41:52.8310000Z</dcterms:created>
  <dcterms:modified xsi:type="dcterms:W3CDTF">2026-10-05T14:41:52.8310000Z</dcterms:modified>
</coreProperties>
</file>